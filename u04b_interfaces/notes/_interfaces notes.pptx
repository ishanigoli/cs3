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4"/>
  </p:notesMasterIdLst>
  <p:handoutMasterIdLst>
    <p:handoutMasterId r:id="rId75"/>
  </p:handoutMasterIdLst>
  <p:sldIdLst>
    <p:sldId id="264" r:id="rId2"/>
    <p:sldId id="664" r:id="rId3"/>
    <p:sldId id="665" r:id="rId4"/>
    <p:sldId id="334" r:id="rId5"/>
    <p:sldId id="318" r:id="rId6"/>
    <p:sldId id="319" r:id="rId7"/>
    <p:sldId id="320" r:id="rId8"/>
    <p:sldId id="321" r:id="rId9"/>
    <p:sldId id="572" r:id="rId10"/>
    <p:sldId id="508" r:id="rId11"/>
    <p:sldId id="509" r:id="rId12"/>
    <p:sldId id="656" r:id="rId13"/>
    <p:sldId id="511" r:id="rId14"/>
    <p:sldId id="653" r:id="rId15"/>
    <p:sldId id="569" r:id="rId16"/>
    <p:sldId id="654" r:id="rId17"/>
    <p:sldId id="510" r:id="rId18"/>
    <p:sldId id="655" r:id="rId19"/>
    <p:sldId id="571" r:id="rId20"/>
    <p:sldId id="570" r:id="rId21"/>
    <p:sldId id="669" r:id="rId22"/>
    <p:sldId id="670" r:id="rId23"/>
    <p:sldId id="671" r:id="rId24"/>
    <p:sldId id="672" r:id="rId25"/>
    <p:sldId id="673" r:id="rId26"/>
    <p:sldId id="329" r:id="rId27"/>
    <p:sldId id="310" r:id="rId28"/>
    <p:sldId id="360" r:id="rId29"/>
    <p:sldId id="361" r:id="rId30"/>
    <p:sldId id="349" r:id="rId31"/>
    <p:sldId id="357" r:id="rId32"/>
    <p:sldId id="362" r:id="rId33"/>
    <p:sldId id="363" r:id="rId34"/>
    <p:sldId id="296" r:id="rId35"/>
    <p:sldId id="364" r:id="rId36"/>
    <p:sldId id="675" r:id="rId37"/>
    <p:sldId id="312" r:id="rId38"/>
    <p:sldId id="365" r:id="rId39"/>
    <p:sldId id="368" r:id="rId40"/>
    <p:sldId id="366" r:id="rId41"/>
    <p:sldId id="367" r:id="rId42"/>
    <p:sldId id="355" r:id="rId43"/>
    <p:sldId id="348" r:id="rId44"/>
    <p:sldId id="347" r:id="rId45"/>
    <p:sldId id="331" r:id="rId46"/>
    <p:sldId id="339" r:id="rId47"/>
    <p:sldId id="356" r:id="rId48"/>
    <p:sldId id="666" r:id="rId49"/>
    <p:sldId id="325" r:id="rId50"/>
    <p:sldId id="354" r:id="rId51"/>
    <p:sldId id="340" r:id="rId52"/>
    <p:sldId id="341" r:id="rId53"/>
    <p:sldId id="342" r:id="rId54"/>
    <p:sldId id="358" r:id="rId55"/>
    <p:sldId id="343" r:id="rId56"/>
    <p:sldId id="359" r:id="rId57"/>
    <p:sldId id="345" r:id="rId58"/>
    <p:sldId id="330" r:id="rId59"/>
    <p:sldId id="322" r:id="rId60"/>
    <p:sldId id="333" r:id="rId61"/>
    <p:sldId id="290" r:id="rId62"/>
    <p:sldId id="299" r:id="rId63"/>
    <p:sldId id="657" r:id="rId64"/>
    <p:sldId id="658" r:id="rId65"/>
    <p:sldId id="659" r:id="rId66"/>
    <p:sldId id="660" r:id="rId67"/>
    <p:sldId id="661" r:id="rId68"/>
    <p:sldId id="662" r:id="rId69"/>
    <p:sldId id="674" r:id="rId70"/>
    <p:sldId id="668" r:id="rId71"/>
    <p:sldId id="663" r:id="rId72"/>
    <p:sldId id="667" r:id="rId73"/>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22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22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22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2200" kern="1200">
        <a:solidFill>
          <a:schemeClr val="tx1"/>
        </a:solidFill>
        <a:latin typeface="Tahoma" panose="020B0604030504040204" pitchFamily="34" charset="0"/>
        <a:ea typeface="+mn-ea"/>
        <a:cs typeface="+mn-cs"/>
      </a:defRPr>
    </a:lvl5pPr>
    <a:lvl6pPr marL="2286000" algn="l" defTabSz="914400" rtl="0" eaLnBrk="1" latinLnBrk="0" hangingPunct="1">
      <a:defRPr sz="2200" kern="1200">
        <a:solidFill>
          <a:schemeClr val="tx1"/>
        </a:solidFill>
        <a:latin typeface="Tahoma" panose="020B0604030504040204" pitchFamily="34" charset="0"/>
        <a:ea typeface="+mn-ea"/>
        <a:cs typeface="+mn-cs"/>
      </a:defRPr>
    </a:lvl6pPr>
    <a:lvl7pPr marL="2743200" algn="l" defTabSz="914400" rtl="0" eaLnBrk="1" latinLnBrk="0" hangingPunct="1">
      <a:defRPr sz="2200" kern="1200">
        <a:solidFill>
          <a:schemeClr val="tx1"/>
        </a:solidFill>
        <a:latin typeface="Tahoma" panose="020B0604030504040204" pitchFamily="34" charset="0"/>
        <a:ea typeface="+mn-ea"/>
        <a:cs typeface="+mn-cs"/>
      </a:defRPr>
    </a:lvl7pPr>
    <a:lvl8pPr marL="3200400" algn="l" defTabSz="914400" rtl="0" eaLnBrk="1" latinLnBrk="0" hangingPunct="1">
      <a:defRPr sz="2200" kern="1200">
        <a:solidFill>
          <a:schemeClr val="tx1"/>
        </a:solidFill>
        <a:latin typeface="Tahoma" panose="020B0604030504040204" pitchFamily="34" charset="0"/>
        <a:ea typeface="+mn-ea"/>
        <a:cs typeface="+mn-cs"/>
      </a:defRPr>
    </a:lvl8pPr>
    <a:lvl9pPr marL="3657600" algn="l" defTabSz="914400" rtl="0" eaLnBrk="1" latinLnBrk="0" hangingPunct="1">
      <a:defRPr sz="22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a:srgbClr val="0000FF"/>
    <a:srgbClr val="008000"/>
    <a:srgbClr val="00CC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246" autoAdjust="0"/>
    <p:restoredTop sz="90929"/>
  </p:normalViewPr>
  <p:slideViewPr>
    <p:cSldViewPr snapToGrid="0">
      <p:cViewPr varScale="1">
        <p:scale>
          <a:sx n="84" d="100"/>
          <a:sy n="84" d="100"/>
        </p:scale>
        <p:origin x="123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696"/>
    </p:cViewPr>
  </p:notesTextViewPr>
  <p:sorterViewPr>
    <p:cViewPr>
      <p:scale>
        <a:sx n="66" d="100"/>
        <a:sy n="66" d="100"/>
      </p:scale>
      <p:origin x="0" y="0"/>
    </p:cViewPr>
  </p:sorterViewPr>
  <p:notesViewPr>
    <p:cSldViewPr snapToGrid="0">
      <p:cViewPr varScale="1">
        <p:scale>
          <a:sx n="60" d="100"/>
          <a:sy n="60" d="100"/>
        </p:scale>
        <p:origin x="-1764"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CF815407-1E49-4376-AB7C-2D15708DFB49}"/>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Times New Roman" panose="02020603050405020304" pitchFamily="18" charset="0"/>
              </a:defRPr>
            </a:lvl1pPr>
          </a:lstStyle>
          <a:p>
            <a:endParaRPr lang="en-US" altLang="en-US"/>
          </a:p>
        </p:txBody>
      </p:sp>
      <p:sp>
        <p:nvSpPr>
          <p:cNvPr id="35843" name="Rectangle 3">
            <a:extLst>
              <a:ext uri="{FF2B5EF4-FFF2-40B4-BE49-F238E27FC236}">
                <a16:creationId xmlns:a16="http://schemas.microsoft.com/office/drawing/2014/main" id="{D376ADFC-07FE-4DE5-B8BB-06006E891A69}"/>
              </a:ext>
            </a:extLst>
          </p:cNvPr>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anose="02020603050405020304" pitchFamily="18" charset="0"/>
              </a:defRPr>
            </a:lvl1pPr>
          </a:lstStyle>
          <a:p>
            <a:endParaRPr lang="en-US" altLang="en-US"/>
          </a:p>
        </p:txBody>
      </p:sp>
      <p:sp>
        <p:nvSpPr>
          <p:cNvPr id="35844" name="Rectangle 4">
            <a:extLst>
              <a:ext uri="{FF2B5EF4-FFF2-40B4-BE49-F238E27FC236}">
                <a16:creationId xmlns:a16="http://schemas.microsoft.com/office/drawing/2014/main" id="{4CB35903-B38D-48F4-A7EF-36D7B2A910D7}"/>
              </a:ext>
            </a:extLst>
          </p:cNvPr>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Times New Roman" panose="02020603050405020304" pitchFamily="18" charset="0"/>
              </a:defRPr>
            </a:lvl1pPr>
          </a:lstStyle>
          <a:p>
            <a:endParaRPr lang="en-US" altLang="en-US"/>
          </a:p>
        </p:txBody>
      </p:sp>
      <p:sp>
        <p:nvSpPr>
          <p:cNvPr id="35845" name="Rectangle 5">
            <a:extLst>
              <a:ext uri="{FF2B5EF4-FFF2-40B4-BE49-F238E27FC236}">
                <a16:creationId xmlns:a16="http://schemas.microsoft.com/office/drawing/2014/main" id="{E19B9881-FE86-44C8-8DF4-692DE97F2429}"/>
              </a:ext>
            </a:extLst>
          </p:cNvPr>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Times New Roman" panose="02020603050405020304" pitchFamily="18" charset="0"/>
              </a:defRPr>
            </a:lvl1pPr>
          </a:lstStyle>
          <a:p>
            <a:fld id="{3AC3DC78-E5C8-414C-980B-A1B84845742D}"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03EB7A4B-F4EA-4E91-95BB-68E553458E87}"/>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Times New Roman" panose="02020603050405020304" pitchFamily="18" charset="0"/>
              </a:defRPr>
            </a:lvl1pPr>
          </a:lstStyle>
          <a:p>
            <a:endParaRPr lang="en-US" altLang="en-US"/>
          </a:p>
        </p:txBody>
      </p:sp>
      <p:sp>
        <p:nvSpPr>
          <p:cNvPr id="34819" name="Rectangle 3">
            <a:extLst>
              <a:ext uri="{FF2B5EF4-FFF2-40B4-BE49-F238E27FC236}">
                <a16:creationId xmlns:a16="http://schemas.microsoft.com/office/drawing/2014/main" id="{53A950EF-1A33-497C-B558-E69D820A5F5B}"/>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anose="02020603050405020304" pitchFamily="18" charset="0"/>
              </a:defRPr>
            </a:lvl1pPr>
          </a:lstStyle>
          <a:p>
            <a:endParaRPr lang="en-US" altLang="en-US"/>
          </a:p>
        </p:txBody>
      </p:sp>
      <p:sp>
        <p:nvSpPr>
          <p:cNvPr id="34820" name="Rectangle 4">
            <a:extLst>
              <a:ext uri="{FF2B5EF4-FFF2-40B4-BE49-F238E27FC236}">
                <a16:creationId xmlns:a16="http://schemas.microsoft.com/office/drawing/2014/main" id="{659435F0-A266-4CDA-9ED8-7DA908FA968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4821" name="Rectangle 5">
            <a:extLst>
              <a:ext uri="{FF2B5EF4-FFF2-40B4-BE49-F238E27FC236}">
                <a16:creationId xmlns:a16="http://schemas.microsoft.com/office/drawing/2014/main" id="{D03E6892-61A6-48CC-9D8C-943BEB4CE79A}"/>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4824" name="Rectangle 8">
            <a:extLst>
              <a:ext uri="{FF2B5EF4-FFF2-40B4-BE49-F238E27FC236}">
                <a16:creationId xmlns:a16="http://schemas.microsoft.com/office/drawing/2014/main" id="{0941B27F-E969-43EB-9326-DFD543DCE45F}"/>
              </a:ext>
            </a:extLst>
          </p:cNvPr>
          <p:cNvSpPr>
            <a:spLocks noChangeArrowheads="1"/>
          </p:cNvSpPr>
          <p:nvPr/>
        </p:nvSpPr>
        <p:spPr bwMode="auto">
          <a:xfrm>
            <a:off x="1371600" y="8686800"/>
            <a:ext cx="5486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b"/>
          <a:lstStyle/>
          <a:p>
            <a:pPr algn="r"/>
            <a:r>
              <a:rPr lang="en-US" altLang="en-US" sz="1200" b="1"/>
              <a:t>©A+ Computer Science     www.apluscompsci.com                 </a:t>
            </a:r>
            <a:fld id="{5D7796AD-AC2A-49DB-88C3-2A1E7C748D11}" type="slidenum">
              <a:rPr lang="en-US" altLang="en-US" sz="1200" b="1"/>
              <a:pPr algn="r"/>
              <a:t>‹#›</a:t>
            </a:fld>
            <a:endParaRPr lang="en-U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docs.oracle.com/en/java/javase/17/docs/api/java.base/java/lang/Double.html#longBitsToDouble(long)"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22C129AD-3733-406A-A792-A8827F341215}"/>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DFAB6B90-0BB9-4E46-BB90-302550AF9DD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a:extLst>
              <a:ext uri="{FF2B5EF4-FFF2-40B4-BE49-F238E27FC236}">
                <a16:creationId xmlns:a16="http://schemas.microsoft.com/office/drawing/2014/main" id="{484DCE10-F1D2-4AFA-9A18-D4822A65FD91}"/>
              </a:ext>
            </a:extLst>
          </p:cNvPr>
          <p:cNvSpPr>
            <a:spLocks noGrp="1" noRot="1" noChangeAspect="1" noChangeArrowheads="1" noTextEdit="1"/>
          </p:cNvSpPr>
          <p:nvPr>
            <p:ph type="sldImg"/>
          </p:nvPr>
        </p:nvSpPr>
        <p:spPr>
          <a:ln/>
        </p:spPr>
      </p:sp>
      <p:sp>
        <p:nvSpPr>
          <p:cNvPr id="180227" name="Rectangle 3">
            <a:extLst>
              <a:ext uri="{FF2B5EF4-FFF2-40B4-BE49-F238E27FC236}">
                <a16:creationId xmlns:a16="http://schemas.microsoft.com/office/drawing/2014/main" id="{B39E8241-1EA3-4F2D-969F-A3F184F363B2}"/>
              </a:ext>
            </a:extLst>
          </p:cNvPr>
          <p:cNvSpPr>
            <a:spLocks noGrp="1" noChangeArrowheads="1"/>
          </p:cNvSpPr>
          <p:nvPr>
            <p:ph type="body" idx="1"/>
          </p:nvPr>
        </p:nvSpPr>
        <p:spPr/>
        <p:txBody>
          <a:bodyPr/>
          <a:lstStyle/>
          <a:p>
            <a:r>
              <a:rPr lang="en-US" altLang="en-US" sz="1600"/>
              <a:t>Interfaces are used to detail what things an Object should do.</a:t>
            </a:r>
            <a:br>
              <a:rPr lang="en-US" altLang="en-US" sz="1600"/>
            </a:br>
            <a:r>
              <a:rPr lang="en-US" altLang="en-US" sz="1600"/>
              <a:t>Interfaces are used typically when the way an Object will do things is unknown.</a:t>
            </a:r>
            <a:br>
              <a:rPr lang="en-US" altLang="en-US" sz="1600"/>
            </a:br>
            <a:r>
              <a:rPr lang="en-US" altLang="en-US" sz="1600"/>
              <a:t>Comparable is a great example.  With Comparable, it is clear that each Object should be compared to another Object of the same type.  Comparable is an interface because it is not known what the Objects that implement Comparable will contain.  It is known that the Object should be compared to other Obejcts of the same type in a certain way.</a:t>
            </a:r>
          </a:p>
        </p:txBody>
      </p:sp>
    </p:spTree>
    <p:extLst>
      <p:ext uri="{BB962C8B-B14F-4D97-AF65-F5344CB8AC3E}">
        <p14:creationId xmlns:p14="http://schemas.microsoft.com/office/powerpoint/2010/main" val="41573868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CA5D5509-D63D-44C7-B321-5E2BCA20E905}"/>
              </a:ext>
            </a:extLst>
          </p:cNvPr>
          <p:cNvSpPr>
            <a:spLocks noGrp="1" noRot="1" noChangeAspect="1" noChangeArrowheads="1" noTextEdit="1"/>
          </p:cNvSpPr>
          <p:nvPr>
            <p:ph type="sldImg"/>
          </p:nvPr>
        </p:nvSpPr>
        <p:spPr>
          <a:ln/>
        </p:spPr>
      </p:sp>
      <p:sp>
        <p:nvSpPr>
          <p:cNvPr id="129027" name="Rectangle 3">
            <a:extLst>
              <a:ext uri="{FF2B5EF4-FFF2-40B4-BE49-F238E27FC236}">
                <a16:creationId xmlns:a16="http://schemas.microsoft.com/office/drawing/2014/main" id="{802964A6-56AD-41BA-97AD-7CFA6B6E8B52}"/>
              </a:ext>
            </a:extLst>
          </p:cNvPr>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36923984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4D25A715-02BF-4B29-BD4C-29D03F7D0E99}"/>
              </a:ext>
            </a:extLst>
          </p:cNvPr>
          <p:cNvSpPr>
            <a:spLocks noGrp="1" noRot="1" noChangeAspect="1" noChangeArrowheads="1" noTextEdit="1"/>
          </p:cNvSpPr>
          <p:nvPr>
            <p:ph type="sldImg"/>
          </p:nvPr>
        </p:nvSpPr>
        <p:spPr>
          <a:ln/>
        </p:spPr>
      </p:sp>
      <p:sp>
        <p:nvSpPr>
          <p:cNvPr id="131075" name="Rectangle 3">
            <a:extLst>
              <a:ext uri="{FF2B5EF4-FFF2-40B4-BE49-F238E27FC236}">
                <a16:creationId xmlns:a16="http://schemas.microsoft.com/office/drawing/2014/main" id="{7C0D6A93-4A4B-4E88-8C4E-9CB5A334578C}"/>
              </a:ext>
            </a:extLst>
          </p:cNvPr>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17655633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28798105-676B-46F0-A821-87A28863190D}"/>
              </a:ext>
            </a:extLst>
          </p:cNvPr>
          <p:cNvSpPr>
            <a:spLocks noGrp="1" noRot="1" noChangeAspect="1" noChangeArrowheads="1" noTextEdit="1"/>
          </p:cNvSpPr>
          <p:nvPr>
            <p:ph type="sldImg"/>
          </p:nvPr>
        </p:nvSpPr>
        <p:spPr>
          <a:ln/>
        </p:spPr>
      </p:sp>
      <p:sp>
        <p:nvSpPr>
          <p:cNvPr id="133123" name="Rectangle 3">
            <a:extLst>
              <a:ext uri="{FF2B5EF4-FFF2-40B4-BE49-F238E27FC236}">
                <a16:creationId xmlns:a16="http://schemas.microsoft.com/office/drawing/2014/main" id="{1B49B5C0-28B3-4E66-96D0-414A33559B3B}"/>
              </a:ext>
            </a:extLst>
          </p:cNvPr>
          <p:cNvSpPr>
            <a:spLocks noGrp="1" noChangeArrowheads="1"/>
          </p:cNvSpPr>
          <p:nvPr>
            <p:ph type="body" idx="1"/>
          </p:nvPr>
        </p:nvSpPr>
        <p:spPr>
          <a:ln/>
        </p:spPr>
        <p:txBody>
          <a:bodyPr/>
          <a:lstStyle/>
          <a:p>
            <a:endParaRPr lang="en-US" altLang="en-US"/>
          </a:p>
        </p:txBody>
      </p:sp>
    </p:spTree>
    <p:extLst>
      <p:ext uri="{BB962C8B-B14F-4D97-AF65-F5344CB8AC3E}">
        <p14:creationId xmlns:p14="http://schemas.microsoft.com/office/powerpoint/2010/main" val="20401560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C780E683-B730-48DF-8FE7-C2A7F56728F9}"/>
              </a:ext>
            </a:extLst>
          </p:cNvPr>
          <p:cNvSpPr>
            <a:spLocks noGrp="1" noRot="1" noChangeAspect="1" noChangeArrowheads="1" noTextEdit="1"/>
          </p:cNvSpPr>
          <p:nvPr>
            <p:ph type="sldImg"/>
          </p:nvPr>
        </p:nvSpPr>
        <p:spPr>
          <a:ln/>
        </p:spPr>
      </p:sp>
      <p:sp>
        <p:nvSpPr>
          <p:cNvPr id="135171" name="Rectangle 3">
            <a:extLst>
              <a:ext uri="{FF2B5EF4-FFF2-40B4-BE49-F238E27FC236}">
                <a16:creationId xmlns:a16="http://schemas.microsoft.com/office/drawing/2014/main" id="{8B68F167-8C5B-4F80-83FB-652BCFF02A69}"/>
              </a:ext>
            </a:extLst>
          </p:cNvPr>
          <p:cNvSpPr>
            <a:spLocks noGrp="1" noChangeArrowheads="1"/>
          </p:cNvSpPr>
          <p:nvPr>
            <p:ph type="body" idx="1"/>
          </p:nvPr>
        </p:nvSpPr>
        <p:spPr/>
        <p:txBody>
          <a:bodyPr/>
          <a:lstStyle/>
          <a:p>
            <a:r>
              <a:rPr lang="en-US" altLang="en-US" sz="1600"/>
              <a:t>All methods listed in an interface are public abstract.   Abstract methods have no code.</a:t>
            </a:r>
          </a:p>
          <a:p>
            <a:endParaRPr lang="en-US" altLang="en-US" sz="1600"/>
          </a:p>
          <a:p>
            <a:r>
              <a:rPr lang="en-US" altLang="en-US" sz="1600"/>
              <a:t>Each abstract method listed in an interface must be implemented in the class that implements the interface.</a:t>
            </a:r>
          </a:p>
          <a:p>
            <a:endParaRPr lang="en-US" altLang="en-US" sz="1600"/>
          </a:p>
          <a:p>
            <a:r>
              <a:rPr lang="en-US" altLang="en-US" sz="1600"/>
              <a:t>All variables listed in an interface are public static final, making them final class variables.  </a:t>
            </a:r>
          </a:p>
          <a:p>
            <a:endParaRPr lang="en-US" altLang="en-US" sz="1600"/>
          </a:p>
          <a:p>
            <a:r>
              <a:rPr lang="en-US" altLang="en-US" sz="1600"/>
              <a:t>Interfaces cannot contain implemented methods, constructors, or instance variables.</a:t>
            </a:r>
          </a:p>
          <a:p>
            <a:endParaRPr lang="en-US" altLang="en-US"/>
          </a:p>
        </p:txBody>
      </p:sp>
    </p:spTree>
    <p:extLst>
      <p:ext uri="{BB962C8B-B14F-4D97-AF65-F5344CB8AC3E}">
        <p14:creationId xmlns:p14="http://schemas.microsoft.com/office/powerpoint/2010/main" val="29465932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Rot="1" noChangeAspect="1" noChangeArrowheads="1" noTextEdit="1"/>
          </p:cNvSpPr>
          <p:nvPr>
            <p:ph type="sldImg"/>
          </p:nvPr>
        </p:nvSpPr>
        <p:spPr bwMode="auto">
          <a:xfrm>
            <a:off x="1123950" y="679450"/>
            <a:ext cx="4535488"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Rectangle 3"/>
          <p:cNvSpPr>
            <a:spLocks noGrp="1" noChangeArrowheads="1"/>
          </p:cNvSpPr>
          <p:nvPr>
            <p:ph type="body" idx="1"/>
          </p:nvPr>
        </p:nvSpPr>
        <p:spPr bwMode="auto">
          <a:xfrm>
            <a:off x="679450" y="4308475"/>
            <a:ext cx="5424488" cy="4079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0" tIns="45280" rIns="90560" bIns="45280"/>
          <a:lstStyle/>
          <a:p>
            <a:endParaRPr lang="en-US" altLang="en-US"/>
          </a:p>
        </p:txBody>
      </p:sp>
    </p:spTree>
    <p:extLst>
      <p:ext uri="{BB962C8B-B14F-4D97-AF65-F5344CB8AC3E}">
        <p14:creationId xmlns:p14="http://schemas.microsoft.com/office/powerpoint/2010/main" val="21040402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bwMode="auto">
          <a:xfrm>
            <a:off x="1123950" y="679450"/>
            <a:ext cx="4535488"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Rectangle 3"/>
          <p:cNvSpPr>
            <a:spLocks noGrp="1" noChangeArrowheads="1"/>
          </p:cNvSpPr>
          <p:nvPr>
            <p:ph type="body" idx="1"/>
          </p:nvPr>
        </p:nvSpPr>
        <p:spPr bwMode="auto">
          <a:xfrm>
            <a:off x="679450" y="4308475"/>
            <a:ext cx="5424488" cy="4079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0" tIns="45280" rIns="90560" bIns="45280"/>
          <a:lstStyle/>
          <a:p>
            <a:endParaRPr lang="en-US" altLang="en-US"/>
          </a:p>
        </p:txBody>
      </p:sp>
    </p:spTree>
    <p:extLst>
      <p:ext uri="{BB962C8B-B14F-4D97-AF65-F5344CB8AC3E}">
        <p14:creationId xmlns:p14="http://schemas.microsoft.com/office/powerpoint/2010/main" val="33316735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bwMode="auto">
          <a:xfrm>
            <a:off x="1123950" y="679450"/>
            <a:ext cx="4535488"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Rectangle 3"/>
          <p:cNvSpPr>
            <a:spLocks noGrp="1" noChangeArrowheads="1"/>
          </p:cNvSpPr>
          <p:nvPr>
            <p:ph type="body" idx="1"/>
          </p:nvPr>
        </p:nvSpPr>
        <p:spPr bwMode="auto">
          <a:xfrm>
            <a:off x="679450" y="4308475"/>
            <a:ext cx="5424488" cy="4079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0" tIns="45280" rIns="90560" bIns="45280"/>
          <a:lstStyle/>
          <a:p>
            <a:r>
              <a:rPr lang="en-US" altLang="en-US" sz="1600"/>
              <a:t>When methods or data are labeled public, they can be accessed in the super class, sub class, or any other class.   </a:t>
            </a:r>
          </a:p>
          <a:p>
            <a:r>
              <a:rPr lang="en-US" altLang="en-US" sz="1600"/>
              <a:t>When a sub class inherits public parts, those parts can be accessed directly by the sub class.</a:t>
            </a:r>
          </a:p>
        </p:txBody>
      </p:sp>
    </p:spTree>
    <p:extLst>
      <p:ext uri="{BB962C8B-B14F-4D97-AF65-F5344CB8AC3E}">
        <p14:creationId xmlns:p14="http://schemas.microsoft.com/office/powerpoint/2010/main" val="30253818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bwMode="auto">
          <a:xfrm>
            <a:off x="1123950" y="679450"/>
            <a:ext cx="4535488"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Rectangle 3"/>
          <p:cNvSpPr>
            <a:spLocks noGrp="1" noChangeArrowheads="1"/>
          </p:cNvSpPr>
          <p:nvPr>
            <p:ph type="body" idx="1"/>
          </p:nvPr>
        </p:nvSpPr>
        <p:spPr bwMode="auto">
          <a:xfrm>
            <a:off x="679450" y="4308475"/>
            <a:ext cx="5424488" cy="4079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0" tIns="45280" rIns="90560" bIns="45280"/>
          <a:lstStyle/>
          <a:p>
            <a:r>
              <a:rPr lang="en-US" altLang="en-US" sz="1600"/>
              <a:t>When methods or data are labeled private, they can be accessed in the super class.   </a:t>
            </a:r>
          </a:p>
          <a:p>
            <a:r>
              <a:rPr lang="en-US" altLang="en-US" sz="1600"/>
              <a:t>When a sub class inherits private parts, those parts cannot be accessed directly by the sub class or any other class.</a:t>
            </a:r>
          </a:p>
          <a:p>
            <a:endParaRPr lang="en-US" altLang="en-US"/>
          </a:p>
        </p:txBody>
      </p:sp>
    </p:spTree>
    <p:extLst>
      <p:ext uri="{BB962C8B-B14F-4D97-AF65-F5344CB8AC3E}">
        <p14:creationId xmlns:p14="http://schemas.microsoft.com/office/powerpoint/2010/main" val="8745166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bwMode="auto">
          <a:xfrm>
            <a:off x="1123950" y="679450"/>
            <a:ext cx="4535488"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Rectangle 3"/>
          <p:cNvSpPr>
            <a:spLocks noGrp="1" noChangeArrowheads="1"/>
          </p:cNvSpPr>
          <p:nvPr>
            <p:ph type="body" idx="1"/>
          </p:nvPr>
        </p:nvSpPr>
        <p:spPr bwMode="auto">
          <a:xfrm>
            <a:off x="679450" y="4308475"/>
            <a:ext cx="5424488" cy="4079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0" tIns="45280" rIns="90560" bIns="45280"/>
          <a:lstStyle/>
          <a:p>
            <a:r>
              <a:rPr lang="en-US" altLang="en-US" sz="1600"/>
              <a:t>When methods or data are labeled protected, they can be accessed in the super class and sub class only.   </a:t>
            </a:r>
          </a:p>
          <a:p>
            <a:r>
              <a:rPr lang="en-US" altLang="en-US" sz="1600"/>
              <a:t>When a sub class inherits protected parts, those parts can be accessed directly by the sub class.</a:t>
            </a:r>
          </a:p>
          <a:p>
            <a:endParaRPr lang="en-US" altLang="en-US"/>
          </a:p>
        </p:txBody>
      </p:sp>
    </p:spTree>
    <p:extLst>
      <p:ext uri="{BB962C8B-B14F-4D97-AF65-F5344CB8AC3E}">
        <p14:creationId xmlns:p14="http://schemas.microsoft.com/office/powerpoint/2010/main" val="26615516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bwMode="auto">
          <a:xfrm>
            <a:off x="1123950" y="679450"/>
            <a:ext cx="4535488"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Rectangle 3"/>
          <p:cNvSpPr>
            <a:spLocks noGrp="1" noChangeArrowheads="1"/>
          </p:cNvSpPr>
          <p:nvPr>
            <p:ph type="body" idx="1"/>
          </p:nvPr>
        </p:nvSpPr>
        <p:spPr bwMode="auto">
          <a:xfrm>
            <a:off x="679450" y="4308475"/>
            <a:ext cx="5424488" cy="4079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0" tIns="45280" rIns="90560" bIns="45280"/>
          <a:lstStyle/>
          <a:p>
            <a:r>
              <a:rPr lang="en-US" altLang="en-US" sz="1600"/>
              <a:t>When methods or data are labeled protected, they can be accessed in the super class and sub class only.   </a:t>
            </a:r>
          </a:p>
          <a:p>
            <a:r>
              <a:rPr lang="en-US" altLang="en-US" sz="1600"/>
              <a:t>When a sub class inherits protected parts, those parts can be accessed directly by the sub class.</a:t>
            </a:r>
          </a:p>
          <a:p>
            <a:r>
              <a:rPr lang="en-US" altLang="en-US"/>
              <a:t>?Protected is commonly referred to as package public?</a:t>
            </a:r>
          </a:p>
        </p:txBody>
      </p:sp>
    </p:spTree>
    <p:extLst>
      <p:ext uri="{BB962C8B-B14F-4D97-AF65-F5344CB8AC3E}">
        <p14:creationId xmlns:p14="http://schemas.microsoft.com/office/powerpoint/2010/main" val="2979270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bwMode="auto">
          <a:xfrm>
            <a:off x="1123950" y="679450"/>
            <a:ext cx="4535488" cy="3400425"/>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7" name="Rectangle 3"/>
          <p:cNvSpPr>
            <a:spLocks noGrp="1" noChangeArrowheads="1"/>
          </p:cNvSpPr>
          <p:nvPr>
            <p:ph type="body" idx="1"/>
          </p:nvPr>
        </p:nvSpPr>
        <p:spPr bwMode="auto">
          <a:xfrm>
            <a:off x="679450" y="4308475"/>
            <a:ext cx="5424488" cy="40798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560" tIns="45280" rIns="90560" bIns="45280"/>
          <a:lstStyle/>
          <a:p>
            <a:endParaRPr lang="en-US" altLang="en-US"/>
          </a:p>
        </p:txBody>
      </p:sp>
    </p:spTree>
    <p:extLst>
      <p:ext uri="{BB962C8B-B14F-4D97-AF65-F5344CB8AC3E}">
        <p14:creationId xmlns:p14="http://schemas.microsoft.com/office/powerpoint/2010/main" val="33579284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class, members are non-static, non-final, and package access unless declared to be otherwise using a MODIFIER.</a:t>
            </a:r>
          </a:p>
          <a:p>
            <a:r>
              <a:rPr lang="en-US" dirty="0"/>
              <a:t>Methods are concrete unless declared to be otherwise.</a:t>
            </a:r>
          </a:p>
          <a:p>
            <a:endParaRPr lang="en-US" dirty="0"/>
          </a:p>
        </p:txBody>
      </p:sp>
    </p:spTree>
    <p:extLst>
      <p:ext uri="{BB962C8B-B14F-4D97-AF65-F5344CB8AC3E}">
        <p14:creationId xmlns:p14="http://schemas.microsoft.com/office/powerpoint/2010/main" val="21379407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class, members are non-static, non-final, and package access unless declared to be otherwise using a MODIFIER.</a:t>
            </a:r>
          </a:p>
          <a:p>
            <a:r>
              <a:rPr lang="en-US" dirty="0"/>
              <a:t>Methods are concrete unless declared to be otherwise.</a:t>
            </a:r>
          </a:p>
          <a:p>
            <a:endParaRPr lang="en-US" dirty="0"/>
          </a:p>
        </p:txBody>
      </p:sp>
    </p:spTree>
    <p:extLst>
      <p:ext uri="{BB962C8B-B14F-4D97-AF65-F5344CB8AC3E}">
        <p14:creationId xmlns:p14="http://schemas.microsoft.com/office/powerpoint/2010/main" val="29662902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class, members are non-static, non-final, and package access unless declared to be otherwise using a MODIFIER.</a:t>
            </a:r>
          </a:p>
          <a:p>
            <a:r>
              <a:rPr lang="en-US" dirty="0"/>
              <a:t>Methods are concrete unless declared to be otherwise.</a:t>
            </a:r>
          </a:p>
          <a:p>
            <a:endParaRPr lang="en-US" dirty="0"/>
          </a:p>
        </p:txBody>
      </p:sp>
    </p:spTree>
    <p:extLst>
      <p:ext uri="{BB962C8B-B14F-4D97-AF65-F5344CB8AC3E}">
        <p14:creationId xmlns:p14="http://schemas.microsoft.com/office/powerpoint/2010/main" val="28578134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class, members are non-static, non-final, and package access unless declared to be otherwise using a MODIFIER.</a:t>
            </a:r>
          </a:p>
          <a:p>
            <a:r>
              <a:rPr lang="en-US" dirty="0"/>
              <a:t>Methods are concrete unless declared to be otherwise.</a:t>
            </a:r>
          </a:p>
          <a:p>
            <a:endParaRPr lang="en-US" dirty="0"/>
          </a:p>
        </p:txBody>
      </p:sp>
    </p:spTree>
    <p:extLst>
      <p:ext uri="{BB962C8B-B14F-4D97-AF65-F5344CB8AC3E}">
        <p14:creationId xmlns:p14="http://schemas.microsoft.com/office/powerpoint/2010/main" val="1356299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a:extLst>
              <a:ext uri="{FF2B5EF4-FFF2-40B4-BE49-F238E27FC236}">
                <a16:creationId xmlns:a16="http://schemas.microsoft.com/office/drawing/2014/main" id="{3B3C725A-0EE8-4E2F-BB85-C15426D52ABA}"/>
              </a:ext>
            </a:extLst>
          </p:cNvPr>
          <p:cNvSpPr>
            <a:spLocks noGrp="1" noRot="1" noChangeAspect="1" noChangeArrowheads="1" noTextEdit="1"/>
          </p:cNvSpPr>
          <p:nvPr>
            <p:ph type="sldImg"/>
          </p:nvPr>
        </p:nvSpPr>
        <p:spPr>
          <a:ln/>
        </p:spPr>
      </p:sp>
      <p:sp>
        <p:nvSpPr>
          <p:cNvPr id="154627" name="Rectangle 3">
            <a:extLst>
              <a:ext uri="{FF2B5EF4-FFF2-40B4-BE49-F238E27FC236}">
                <a16:creationId xmlns:a16="http://schemas.microsoft.com/office/drawing/2014/main" id="{CF0C1D41-ECBE-4213-9BB0-BBDE7EEDFD8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4908973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32244036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a:extLst>
              <a:ext uri="{FF2B5EF4-FFF2-40B4-BE49-F238E27FC236}">
                <a16:creationId xmlns:a16="http://schemas.microsoft.com/office/drawing/2014/main" id="{CA76B1BD-64EC-4297-B8EF-82794A73957B}"/>
              </a:ext>
            </a:extLst>
          </p:cNvPr>
          <p:cNvSpPr>
            <a:spLocks noGrp="1" noRot="1" noChangeAspect="1" noChangeArrowheads="1" noTextEdit="1"/>
          </p:cNvSpPr>
          <p:nvPr>
            <p:ph type="sldImg"/>
          </p:nvPr>
        </p:nvSpPr>
        <p:spPr>
          <a:ln/>
        </p:spPr>
      </p:sp>
      <p:sp>
        <p:nvSpPr>
          <p:cNvPr id="227331" name="Rectangle 3">
            <a:extLst>
              <a:ext uri="{FF2B5EF4-FFF2-40B4-BE49-F238E27FC236}">
                <a16:creationId xmlns:a16="http://schemas.microsoft.com/office/drawing/2014/main" id="{CC2EC234-1E41-43A1-99CF-8D726043299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a:extLst>
              <a:ext uri="{FF2B5EF4-FFF2-40B4-BE49-F238E27FC236}">
                <a16:creationId xmlns:a16="http://schemas.microsoft.com/office/drawing/2014/main" id="{CA76B1BD-64EC-4297-B8EF-82794A73957B}"/>
              </a:ext>
            </a:extLst>
          </p:cNvPr>
          <p:cNvSpPr>
            <a:spLocks noGrp="1" noRot="1" noChangeAspect="1" noChangeArrowheads="1" noTextEdit="1"/>
          </p:cNvSpPr>
          <p:nvPr>
            <p:ph type="sldImg"/>
          </p:nvPr>
        </p:nvSpPr>
        <p:spPr>
          <a:ln/>
        </p:spPr>
      </p:sp>
      <p:sp>
        <p:nvSpPr>
          <p:cNvPr id="227331" name="Rectangle 3">
            <a:extLst>
              <a:ext uri="{FF2B5EF4-FFF2-40B4-BE49-F238E27FC236}">
                <a16:creationId xmlns:a16="http://schemas.microsoft.com/office/drawing/2014/main" id="{CC2EC234-1E41-43A1-99CF-8D7260432995}"/>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524957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13966382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41137425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a:extLst>
              <a:ext uri="{FF2B5EF4-FFF2-40B4-BE49-F238E27FC236}">
                <a16:creationId xmlns:a16="http://schemas.microsoft.com/office/drawing/2014/main" id="{639C9FEB-9335-4BB7-A17E-9ED85E6B21B2}"/>
              </a:ext>
            </a:extLst>
          </p:cNvPr>
          <p:cNvSpPr>
            <a:spLocks noGrp="1" noRot="1" noChangeAspect="1" noChangeArrowheads="1" noTextEdit="1"/>
          </p:cNvSpPr>
          <p:nvPr>
            <p:ph type="sldImg"/>
          </p:nvPr>
        </p:nvSpPr>
        <p:spPr>
          <a:ln/>
        </p:spPr>
      </p:sp>
      <p:sp>
        <p:nvSpPr>
          <p:cNvPr id="161795" name="Rectangle 3">
            <a:extLst>
              <a:ext uri="{FF2B5EF4-FFF2-40B4-BE49-F238E27FC236}">
                <a16:creationId xmlns:a16="http://schemas.microsoft.com/office/drawing/2014/main" id="{4CD2CE25-D94F-4E02-9FEF-8DE7F6204851}"/>
              </a:ext>
            </a:extLst>
          </p:cNvPr>
          <p:cNvSpPr>
            <a:spLocks noGrp="1" noChangeArrowheads="1"/>
          </p:cNvSpPr>
          <p:nvPr>
            <p:ph type="body" idx="1"/>
          </p:nvPr>
        </p:nvSpPr>
        <p:spPr/>
        <p:txBody>
          <a:bodyPr/>
          <a:lstStyle/>
          <a:p>
            <a:r>
              <a:rPr lang="en-US" altLang="en-US" sz="1600"/>
              <a:t>x and y are </a:t>
            </a:r>
            <a:r>
              <a:rPr lang="en-US" altLang="en-US" sz="1600">
                <a:latin typeface="Courier New" panose="02070309020205020404" pitchFamily="49" charset="0"/>
              </a:rPr>
              <a:t>Comparable</a:t>
            </a:r>
            <a:r>
              <a:rPr lang="en-US" altLang="en-US" sz="1600"/>
              <a:t> references that can refer to any class that implements the </a:t>
            </a:r>
            <a:r>
              <a:rPr lang="en-US" altLang="en-US" sz="1600">
                <a:latin typeface="Courier New" panose="02070309020205020404" pitchFamily="49" charset="0"/>
              </a:rPr>
              <a:t>Comparable</a:t>
            </a:r>
            <a:r>
              <a:rPr lang="en-US" altLang="en-US" sz="1600"/>
              <a:t> interface.</a:t>
            </a:r>
          </a:p>
          <a:p>
            <a:endParaRPr lang="en-US" altLang="en-US" sz="1600"/>
          </a:p>
          <a:p>
            <a:r>
              <a:rPr lang="en-US" altLang="en-US" sz="1600"/>
              <a:t>54 and 67 are integers.   Java instantiates </a:t>
            </a:r>
            <a:r>
              <a:rPr lang="en-US" altLang="en-US" sz="1600">
                <a:latin typeface="Courier New" panose="02070309020205020404" pitchFamily="49" charset="0"/>
              </a:rPr>
              <a:t>Integer</a:t>
            </a:r>
            <a:r>
              <a:rPr lang="en-US" altLang="en-US" sz="1600"/>
              <a:t> objects using 54 and 67.  </a:t>
            </a:r>
          </a:p>
          <a:p>
            <a:r>
              <a:rPr lang="en-US" altLang="en-US" sz="1600">
                <a:latin typeface="Courier New" panose="02070309020205020404" pitchFamily="49" charset="0"/>
              </a:rPr>
              <a:t>x = 54</a:t>
            </a:r>
            <a:r>
              <a:rPr lang="en-US" altLang="en-US" sz="1600"/>
              <a:t> is essentially the same as </a:t>
            </a:r>
            <a:r>
              <a:rPr lang="en-US" altLang="en-US" sz="1600">
                <a:latin typeface="Courier New" panose="02070309020205020404" pitchFamily="49" charset="0"/>
              </a:rPr>
              <a:t>x = new Integer(54)</a:t>
            </a:r>
            <a:r>
              <a:rPr lang="en-US" altLang="en-US" sz="1600"/>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r>
              <a:rPr lang="en-US" sz="1200" dirty="0">
                <a:solidFill>
                  <a:srgbClr val="941EDF"/>
                </a:solidFill>
                <a:latin typeface="Courier New" panose="02070309020205020404" pitchFamily="49" charset="0"/>
              </a:rPr>
              <a:t>public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static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int</a:t>
            </a:r>
            <a:r>
              <a:rPr lang="en-US" sz="1200" dirty="0">
                <a:solidFill>
                  <a:srgbClr val="000000"/>
                </a:solidFill>
                <a:latin typeface="Courier New" panose="02070309020205020404" pitchFamily="49" charset="0"/>
              </a:rPr>
              <a:t> compare(</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d1, </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d2) {</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&lt;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smaller</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&gt;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larger</a:t>
            </a:r>
            <a:br>
              <a:rPr lang="en-US" sz="1200" dirty="0">
                <a:solidFill>
                  <a:srgbClr val="E65D00"/>
                </a:solidFill>
                <a:latin typeface="Courier New" panose="02070309020205020404" pitchFamily="49" charset="0"/>
              </a:rPr>
            </a:b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(d1);</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(d2);</a:t>
            </a:r>
            <a:br>
              <a:rPr lang="en-US" sz="1200" dirty="0">
                <a:solidFill>
                  <a:srgbClr val="000000"/>
                </a:solidFill>
                <a:latin typeface="Courier New" panose="02070309020205020404" pitchFamily="49" charset="0"/>
              </a:rPr>
            </a:b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0 : </a:t>
            </a:r>
            <a:r>
              <a:rPr lang="en-US" sz="1200" dirty="0">
                <a:solidFill>
                  <a:srgbClr val="E65D00"/>
                </a:solidFill>
                <a:latin typeface="Courier New" panose="02070309020205020404" pitchFamily="49" charset="0"/>
              </a:rPr>
              <a:t>// Values are = l</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&lt;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-1 :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endParaRPr lang="en-US" altLang="en-US" dirty="0"/>
          </a:p>
        </p:txBody>
      </p:sp>
    </p:spTree>
    <p:extLst>
      <p:ext uri="{BB962C8B-B14F-4D97-AF65-F5344CB8AC3E}">
        <p14:creationId xmlns:p14="http://schemas.microsoft.com/office/powerpoint/2010/main" val="42582151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C1A00-92E6-2EFD-515E-94F0B14618B4}"/>
            </a:ext>
          </a:extLst>
        </p:cNvPr>
        <p:cNvGrpSpPr/>
        <p:nvPr/>
      </p:nvGrpSpPr>
      <p:grpSpPr>
        <a:xfrm>
          <a:off x="0" y="0"/>
          <a:ext cx="0" cy="0"/>
          <a:chOff x="0" y="0"/>
          <a:chExt cx="0" cy="0"/>
        </a:xfrm>
      </p:grpSpPr>
      <p:sp>
        <p:nvSpPr>
          <p:cNvPr id="113666" name="Rectangle 2">
            <a:extLst>
              <a:ext uri="{FF2B5EF4-FFF2-40B4-BE49-F238E27FC236}">
                <a16:creationId xmlns:a16="http://schemas.microsoft.com/office/drawing/2014/main" id="{CB5D0091-6D5A-7ECD-F557-3D92E6190EED}"/>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C67B06C6-0639-5F95-87E6-BD87708E4F84}"/>
              </a:ext>
            </a:extLst>
          </p:cNvPr>
          <p:cNvSpPr>
            <a:spLocks noGrp="1" noChangeArrowheads="1"/>
          </p:cNvSpPr>
          <p:nvPr>
            <p:ph type="body" idx="1"/>
          </p:nvPr>
        </p:nvSpPr>
        <p:spPr/>
        <p:txBody>
          <a:bodyPr/>
          <a:lstStyle/>
          <a:p>
            <a:r>
              <a:rPr lang="en-US" sz="1200" b="0" i="0" kern="1200" dirty="0">
                <a:solidFill>
                  <a:schemeClr val="tx1"/>
                </a:solidFill>
                <a:effectLst/>
                <a:latin typeface="Times New Roman" panose="02020603050405020304" pitchFamily="18" charset="0"/>
                <a:ea typeface="+mn-ea"/>
                <a:cs typeface="+mn-cs"/>
              </a:rPr>
              <a:t>public static long </a:t>
            </a:r>
            <a:r>
              <a:rPr lang="en-US" sz="1200" b="0" i="0" kern="1200" dirty="0" err="1">
                <a:solidFill>
                  <a:schemeClr val="tx1"/>
                </a:solidFill>
                <a:effectLst/>
                <a:latin typeface="Times New Roman" panose="02020603050405020304" pitchFamily="18" charset="0"/>
                <a:ea typeface="+mn-ea"/>
                <a:cs typeface="+mn-cs"/>
              </a:rPr>
              <a:t>doubleToLongBits</a:t>
            </a:r>
            <a:r>
              <a:rPr lang="en-US" sz="1200" b="0" i="0" kern="1200" dirty="0">
                <a:solidFill>
                  <a:schemeClr val="tx1"/>
                </a:solidFill>
                <a:effectLst/>
                <a:latin typeface="Times New Roman" panose="02020603050405020304" pitchFamily="18" charset="0"/>
                <a:ea typeface="+mn-ea"/>
                <a:cs typeface="+mn-cs"/>
              </a:rPr>
              <a:t>(double value)</a:t>
            </a:r>
          </a:p>
          <a:p>
            <a:r>
              <a:rPr lang="en-US" sz="1200" b="0" i="0" kern="1200" dirty="0">
                <a:solidFill>
                  <a:schemeClr val="tx1"/>
                </a:solidFill>
                <a:effectLst/>
                <a:latin typeface="Times New Roman" panose="02020603050405020304" pitchFamily="18" charset="0"/>
                <a:ea typeface="+mn-ea"/>
                <a:cs typeface="+mn-cs"/>
              </a:rPr>
              <a:t>Returns a representation of the specified floating-point value according to the IEEE 754 floating-point "double format" bit </a:t>
            </a:r>
            <a:r>
              <a:rPr lang="en-US" sz="1200" b="0" i="0" kern="1200" dirty="0" err="1">
                <a:solidFill>
                  <a:schemeClr val="tx1"/>
                </a:solidFill>
                <a:effectLst/>
                <a:latin typeface="Times New Roman" panose="02020603050405020304" pitchFamily="18" charset="0"/>
                <a:ea typeface="+mn-ea"/>
                <a:cs typeface="+mn-cs"/>
              </a:rPr>
              <a:t>layout.Bit</a:t>
            </a:r>
            <a:r>
              <a:rPr lang="en-US" sz="1200" b="0" i="0" kern="1200" dirty="0">
                <a:solidFill>
                  <a:schemeClr val="tx1"/>
                </a:solidFill>
                <a:effectLst/>
                <a:latin typeface="Times New Roman" panose="02020603050405020304" pitchFamily="18" charset="0"/>
                <a:ea typeface="+mn-ea"/>
                <a:cs typeface="+mn-cs"/>
              </a:rPr>
              <a:t> 63 (the bit that is selected by the mask 0x8000000000000000L) represents the sign of the floating-point number. Bits 62-52 (the bits that are selected by the mask 0x7ff0000000000000L) represent the exponent. Bits 51-0 (the bits that are selected by the mask 0x000fffffffffffffL) represent the significand (sometimes called the mantissa) of the floating-point number.</a:t>
            </a:r>
          </a:p>
          <a:p>
            <a:r>
              <a:rPr lang="en-US" sz="1200" b="0" i="0" kern="1200" dirty="0">
                <a:solidFill>
                  <a:schemeClr val="tx1"/>
                </a:solidFill>
                <a:effectLst/>
                <a:latin typeface="Times New Roman" panose="02020603050405020304" pitchFamily="18" charset="0"/>
                <a:ea typeface="+mn-ea"/>
                <a:cs typeface="+mn-cs"/>
              </a:rPr>
              <a:t>If the argument is positive infinity, the result is 0x7ff0000000000000L.</a:t>
            </a:r>
          </a:p>
          <a:p>
            <a:r>
              <a:rPr lang="en-US" sz="1200" b="0" i="0" kern="1200" dirty="0">
                <a:solidFill>
                  <a:schemeClr val="tx1"/>
                </a:solidFill>
                <a:effectLst/>
                <a:latin typeface="Times New Roman" panose="02020603050405020304" pitchFamily="18" charset="0"/>
                <a:ea typeface="+mn-ea"/>
                <a:cs typeface="+mn-cs"/>
              </a:rPr>
              <a:t>If the argument is negative infinity, the result is 0xfff0000000000000L.</a:t>
            </a:r>
          </a:p>
          <a:p>
            <a:r>
              <a:rPr lang="en-US" sz="1200" b="0" i="0" kern="1200" dirty="0">
                <a:solidFill>
                  <a:schemeClr val="tx1"/>
                </a:solidFill>
                <a:effectLst/>
                <a:latin typeface="Times New Roman" panose="02020603050405020304" pitchFamily="18" charset="0"/>
                <a:ea typeface="+mn-ea"/>
                <a:cs typeface="+mn-cs"/>
              </a:rPr>
              <a:t>If the argument is </a:t>
            </a:r>
            <a:r>
              <a:rPr lang="en-US" sz="1200" b="0" i="0" kern="1200" dirty="0" err="1">
                <a:solidFill>
                  <a:schemeClr val="tx1"/>
                </a:solidFill>
                <a:effectLst/>
                <a:latin typeface="Times New Roman" panose="02020603050405020304" pitchFamily="18" charset="0"/>
                <a:ea typeface="+mn-ea"/>
                <a:cs typeface="+mn-cs"/>
              </a:rPr>
              <a:t>NaN</a:t>
            </a:r>
            <a:r>
              <a:rPr lang="en-US" sz="1200" b="0" i="0" kern="1200" dirty="0">
                <a:solidFill>
                  <a:schemeClr val="tx1"/>
                </a:solidFill>
                <a:effectLst/>
                <a:latin typeface="Times New Roman" panose="02020603050405020304" pitchFamily="18" charset="0"/>
                <a:ea typeface="+mn-ea"/>
                <a:cs typeface="+mn-cs"/>
              </a:rPr>
              <a:t>, the result is 0x7ff8000000000000L.</a:t>
            </a:r>
          </a:p>
          <a:p>
            <a:r>
              <a:rPr lang="en-US" sz="1200" b="0" i="0" kern="1200" dirty="0">
                <a:solidFill>
                  <a:schemeClr val="tx1"/>
                </a:solidFill>
                <a:effectLst/>
                <a:latin typeface="Times New Roman" panose="02020603050405020304" pitchFamily="18" charset="0"/>
                <a:ea typeface="+mn-ea"/>
                <a:cs typeface="+mn-cs"/>
              </a:rPr>
              <a:t>In all cases, the result is a long integer that, when given to the </a:t>
            </a:r>
            <a:r>
              <a:rPr lang="en-US" sz="1200" b="0" i="0" u="none" strike="noStrike" kern="1200" dirty="0" err="1">
                <a:solidFill>
                  <a:schemeClr val="tx1"/>
                </a:solidFill>
                <a:effectLst/>
                <a:latin typeface="Times New Roman" panose="02020603050405020304" pitchFamily="18" charset="0"/>
                <a:ea typeface="+mn-ea"/>
                <a:cs typeface="+mn-cs"/>
                <a:hlinkClick r:id="rId3"/>
              </a:rPr>
              <a:t>longBitsToDouble</a:t>
            </a:r>
            <a:r>
              <a:rPr lang="en-US" sz="1200" b="0" i="0" u="none" strike="noStrike" kern="1200" dirty="0">
                <a:solidFill>
                  <a:schemeClr val="tx1"/>
                </a:solidFill>
                <a:effectLst/>
                <a:latin typeface="Times New Roman" panose="02020603050405020304" pitchFamily="18" charset="0"/>
                <a:ea typeface="+mn-ea"/>
                <a:cs typeface="+mn-cs"/>
                <a:hlinkClick r:id="rId3"/>
              </a:rPr>
              <a:t>(long)</a:t>
            </a:r>
            <a:r>
              <a:rPr lang="en-US" sz="1200" b="0" i="0" kern="1200" dirty="0">
                <a:solidFill>
                  <a:schemeClr val="tx1"/>
                </a:solidFill>
                <a:effectLst/>
                <a:latin typeface="Times New Roman" panose="02020603050405020304" pitchFamily="18" charset="0"/>
                <a:ea typeface="+mn-ea"/>
                <a:cs typeface="+mn-cs"/>
              </a:rPr>
              <a:t> method, will produce a floating-point value the same as the argument to </a:t>
            </a:r>
            <a:r>
              <a:rPr lang="en-US" sz="1200" b="0" i="0" kern="1200" dirty="0" err="1">
                <a:solidFill>
                  <a:schemeClr val="tx1"/>
                </a:solidFill>
                <a:effectLst/>
                <a:latin typeface="Times New Roman" panose="02020603050405020304" pitchFamily="18" charset="0"/>
                <a:ea typeface="+mn-ea"/>
                <a:cs typeface="+mn-cs"/>
              </a:rPr>
              <a:t>doubleToLongBits</a:t>
            </a:r>
            <a:r>
              <a:rPr lang="en-US" sz="1200" b="0" i="0" kern="1200" dirty="0">
                <a:solidFill>
                  <a:schemeClr val="tx1"/>
                </a:solidFill>
                <a:effectLst/>
                <a:latin typeface="Times New Roman" panose="02020603050405020304" pitchFamily="18" charset="0"/>
                <a:ea typeface="+mn-ea"/>
                <a:cs typeface="+mn-cs"/>
              </a:rPr>
              <a:t> (except all </a:t>
            </a:r>
            <a:r>
              <a:rPr lang="en-US" sz="1200" b="0" i="0" kern="1200" dirty="0" err="1">
                <a:solidFill>
                  <a:schemeClr val="tx1"/>
                </a:solidFill>
                <a:effectLst/>
                <a:latin typeface="Times New Roman" panose="02020603050405020304" pitchFamily="18" charset="0"/>
                <a:ea typeface="+mn-ea"/>
                <a:cs typeface="+mn-cs"/>
              </a:rPr>
              <a:t>NaN</a:t>
            </a:r>
            <a:r>
              <a:rPr lang="en-US" sz="1200" b="0" i="0" kern="1200" dirty="0">
                <a:solidFill>
                  <a:schemeClr val="tx1"/>
                </a:solidFill>
                <a:effectLst/>
                <a:latin typeface="Times New Roman" panose="02020603050405020304" pitchFamily="18" charset="0"/>
                <a:ea typeface="+mn-ea"/>
                <a:cs typeface="+mn-cs"/>
              </a:rPr>
              <a:t> values are collapsed to a single "canonical" </a:t>
            </a:r>
            <a:r>
              <a:rPr lang="en-US" sz="1200" b="0" i="0" kern="1200" dirty="0" err="1">
                <a:solidFill>
                  <a:schemeClr val="tx1"/>
                </a:solidFill>
                <a:effectLst/>
                <a:latin typeface="Times New Roman" panose="02020603050405020304" pitchFamily="18" charset="0"/>
                <a:ea typeface="+mn-ea"/>
                <a:cs typeface="+mn-cs"/>
              </a:rPr>
              <a:t>NaN</a:t>
            </a:r>
            <a:r>
              <a:rPr lang="en-US" sz="1200" b="0" i="0" kern="1200">
                <a:solidFill>
                  <a:schemeClr val="tx1"/>
                </a:solidFill>
                <a:effectLst/>
                <a:latin typeface="Times New Roman" panose="02020603050405020304" pitchFamily="18" charset="0"/>
                <a:ea typeface="+mn-ea"/>
                <a:cs typeface="+mn-cs"/>
              </a:rPr>
              <a:t> value).</a:t>
            </a:r>
          </a:p>
          <a:p>
            <a:endParaRPr lang="en-US" altLang="en-US" dirty="0"/>
          </a:p>
        </p:txBody>
      </p:sp>
    </p:spTree>
    <p:extLst>
      <p:ext uri="{BB962C8B-B14F-4D97-AF65-F5344CB8AC3E}">
        <p14:creationId xmlns:p14="http://schemas.microsoft.com/office/powerpoint/2010/main" val="12152747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a:extLst>
              <a:ext uri="{FF2B5EF4-FFF2-40B4-BE49-F238E27FC236}">
                <a16:creationId xmlns:a16="http://schemas.microsoft.com/office/drawing/2014/main" id="{144A9D3D-BE4E-4F6F-9D81-AEF1D7E41ED2}"/>
              </a:ext>
            </a:extLst>
          </p:cNvPr>
          <p:cNvSpPr>
            <a:spLocks noGrp="1" noRot="1" noChangeAspect="1" noChangeArrowheads="1" noTextEdit="1"/>
          </p:cNvSpPr>
          <p:nvPr>
            <p:ph type="sldImg"/>
          </p:nvPr>
        </p:nvSpPr>
        <p:spPr>
          <a:ln/>
        </p:spPr>
      </p:sp>
      <p:sp>
        <p:nvSpPr>
          <p:cNvPr id="162819" name="Rectangle 3">
            <a:extLst>
              <a:ext uri="{FF2B5EF4-FFF2-40B4-BE49-F238E27FC236}">
                <a16:creationId xmlns:a16="http://schemas.microsoft.com/office/drawing/2014/main" id="{D1A09E8C-6AF8-49C0-8DBB-A343C122EB60}"/>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r>
              <a:rPr lang="en-US" sz="1200" dirty="0">
                <a:solidFill>
                  <a:srgbClr val="941EDF"/>
                </a:solidFill>
                <a:latin typeface="Courier New" panose="02070309020205020404" pitchFamily="49" charset="0"/>
              </a:rPr>
              <a:t>public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static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int</a:t>
            </a:r>
            <a:r>
              <a:rPr lang="en-US" sz="1200" dirty="0">
                <a:solidFill>
                  <a:srgbClr val="000000"/>
                </a:solidFill>
                <a:latin typeface="Courier New" panose="02070309020205020404" pitchFamily="49" charset="0"/>
              </a:rPr>
              <a:t> compare(</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d1, </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d2) {</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&lt;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smaller</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&gt;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larger</a:t>
            </a:r>
            <a:br>
              <a:rPr lang="en-US" sz="1200" dirty="0">
                <a:solidFill>
                  <a:srgbClr val="E65D00"/>
                </a:solidFill>
                <a:latin typeface="Courier New" panose="02070309020205020404" pitchFamily="49" charset="0"/>
              </a:rPr>
            </a:b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(d1);</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(d2);</a:t>
            </a:r>
            <a:br>
              <a:rPr lang="en-US" sz="1200" dirty="0">
                <a:solidFill>
                  <a:srgbClr val="000000"/>
                </a:solidFill>
                <a:latin typeface="Courier New" panose="02070309020205020404" pitchFamily="49" charset="0"/>
              </a:rPr>
            </a:b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0 : </a:t>
            </a:r>
            <a:r>
              <a:rPr lang="en-US" sz="1200" dirty="0">
                <a:solidFill>
                  <a:srgbClr val="E65D00"/>
                </a:solidFill>
                <a:latin typeface="Courier New" panose="02070309020205020404" pitchFamily="49" charset="0"/>
              </a:rPr>
              <a:t>// Values are = l</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&lt;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-1 :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endParaRPr lang="en-US" altLang="en-US" dirty="0"/>
          </a:p>
        </p:txBody>
      </p:sp>
    </p:spTree>
    <p:extLst>
      <p:ext uri="{BB962C8B-B14F-4D97-AF65-F5344CB8AC3E}">
        <p14:creationId xmlns:p14="http://schemas.microsoft.com/office/powerpoint/2010/main" val="8901196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r>
              <a:rPr lang="en-US" sz="1200" dirty="0">
                <a:solidFill>
                  <a:srgbClr val="941EDF"/>
                </a:solidFill>
                <a:latin typeface="Courier New" panose="02070309020205020404" pitchFamily="49" charset="0"/>
              </a:rPr>
              <a:t>public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static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int</a:t>
            </a:r>
            <a:r>
              <a:rPr lang="en-US" sz="1200" dirty="0">
                <a:solidFill>
                  <a:srgbClr val="000000"/>
                </a:solidFill>
                <a:latin typeface="Courier New" panose="02070309020205020404" pitchFamily="49" charset="0"/>
              </a:rPr>
              <a:t> compare(</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d1, </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d2) {</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&lt;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smaller</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&gt;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larger</a:t>
            </a:r>
            <a:br>
              <a:rPr lang="en-US" sz="1200" dirty="0">
                <a:solidFill>
                  <a:srgbClr val="E65D00"/>
                </a:solidFill>
                <a:latin typeface="Courier New" panose="02070309020205020404" pitchFamily="49" charset="0"/>
              </a:rPr>
            </a:b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(d1);</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(d2);</a:t>
            </a:r>
            <a:br>
              <a:rPr lang="en-US" sz="1200" dirty="0">
                <a:solidFill>
                  <a:srgbClr val="000000"/>
                </a:solidFill>
                <a:latin typeface="Courier New" panose="02070309020205020404" pitchFamily="49" charset="0"/>
              </a:rPr>
            </a:b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0 : </a:t>
            </a:r>
            <a:r>
              <a:rPr lang="en-US" sz="1200" dirty="0">
                <a:solidFill>
                  <a:srgbClr val="E65D00"/>
                </a:solidFill>
                <a:latin typeface="Courier New" panose="02070309020205020404" pitchFamily="49" charset="0"/>
              </a:rPr>
              <a:t>// Values are = l</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&lt;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-1 :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endParaRPr lang="en-US" altLang="en-US" dirty="0"/>
          </a:p>
        </p:txBody>
      </p:sp>
    </p:spTree>
    <p:extLst>
      <p:ext uri="{BB962C8B-B14F-4D97-AF65-F5344CB8AC3E}">
        <p14:creationId xmlns:p14="http://schemas.microsoft.com/office/powerpoint/2010/main" val="34155832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r>
              <a:rPr lang="en-US" sz="1200" dirty="0">
                <a:solidFill>
                  <a:srgbClr val="941EDF"/>
                </a:solidFill>
                <a:latin typeface="Courier New" panose="02070309020205020404" pitchFamily="49" charset="0"/>
              </a:rPr>
              <a:t>public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static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int</a:t>
            </a:r>
            <a:r>
              <a:rPr lang="en-US" sz="1200" dirty="0">
                <a:solidFill>
                  <a:srgbClr val="000000"/>
                </a:solidFill>
                <a:latin typeface="Courier New" panose="02070309020205020404" pitchFamily="49" charset="0"/>
              </a:rPr>
              <a:t> compare(</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d1, </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d2) {</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&lt;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smaller</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&gt;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larger</a:t>
            </a:r>
            <a:br>
              <a:rPr lang="en-US" sz="1200" dirty="0">
                <a:solidFill>
                  <a:srgbClr val="E65D00"/>
                </a:solidFill>
                <a:latin typeface="Courier New" panose="02070309020205020404" pitchFamily="49" charset="0"/>
              </a:rPr>
            </a:b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(d1);</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(d2);</a:t>
            </a:r>
            <a:br>
              <a:rPr lang="en-US" sz="1200" dirty="0">
                <a:solidFill>
                  <a:srgbClr val="000000"/>
                </a:solidFill>
                <a:latin typeface="Courier New" panose="02070309020205020404" pitchFamily="49" charset="0"/>
              </a:rPr>
            </a:b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0 : </a:t>
            </a:r>
            <a:r>
              <a:rPr lang="en-US" sz="1200" dirty="0">
                <a:solidFill>
                  <a:srgbClr val="E65D00"/>
                </a:solidFill>
                <a:latin typeface="Courier New" panose="02070309020205020404" pitchFamily="49" charset="0"/>
              </a:rPr>
              <a:t>// Values are = l</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&lt;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-1 :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endParaRPr lang="en-US" altLang="en-US" dirty="0"/>
          </a:p>
        </p:txBody>
      </p:sp>
    </p:spTree>
    <p:extLst>
      <p:ext uri="{BB962C8B-B14F-4D97-AF65-F5344CB8AC3E}">
        <p14:creationId xmlns:p14="http://schemas.microsoft.com/office/powerpoint/2010/main" val="33052028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0F2F869D-2ADA-451D-8EC2-52F82AA38C04}"/>
              </a:ext>
            </a:extLst>
          </p:cNvPr>
          <p:cNvSpPr>
            <a:spLocks noGrp="1" noRot="1" noChangeAspect="1" noChangeArrowheads="1" noTextEdit="1"/>
          </p:cNvSpPr>
          <p:nvPr>
            <p:ph type="sldImg"/>
          </p:nvPr>
        </p:nvSpPr>
        <p:spPr>
          <a:ln/>
        </p:spPr>
      </p:sp>
      <p:sp>
        <p:nvSpPr>
          <p:cNvPr id="113667" name="Rectangle 3">
            <a:extLst>
              <a:ext uri="{FF2B5EF4-FFF2-40B4-BE49-F238E27FC236}">
                <a16:creationId xmlns:a16="http://schemas.microsoft.com/office/drawing/2014/main" id="{257662D4-20A5-4480-A932-B090A1D766FD}"/>
              </a:ext>
            </a:extLst>
          </p:cNvPr>
          <p:cNvSpPr>
            <a:spLocks noGrp="1" noChangeArrowheads="1"/>
          </p:cNvSpPr>
          <p:nvPr>
            <p:ph type="body" idx="1"/>
          </p:nvPr>
        </p:nvSpPr>
        <p:spPr/>
        <p:txBody>
          <a:bodyPr/>
          <a:lstStyle/>
          <a:p>
            <a:r>
              <a:rPr lang="en-US" sz="1200" dirty="0">
                <a:solidFill>
                  <a:srgbClr val="941EDF"/>
                </a:solidFill>
                <a:latin typeface="Courier New" panose="02070309020205020404" pitchFamily="49" charset="0"/>
              </a:rPr>
              <a:t>public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static</a:t>
            </a: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int</a:t>
            </a:r>
            <a:r>
              <a:rPr lang="en-US" sz="1200" dirty="0">
                <a:solidFill>
                  <a:srgbClr val="000000"/>
                </a:solidFill>
                <a:latin typeface="Courier New" panose="02070309020205020404" pitchFamily="49" charset="0"/>
              </a:rPr>
              <a:t> compare(</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d1, </a:t>
            </a:r>
            <a:r>
              <a:rPr lang="en-US" sz="1200" dirty="0">
                <a:solidFill>
                  <a:srgbClr val="941EDF"/>
                </a:solidFill>
                <a:latin typeface="Courier New" panose="02070309020205020404" pitchFamily="49" charset="0"/>
              </a:rPr>
              <a:t>double</a:t>
            </a:r>
            <a:r>
              <a:rPr lang="en-US" sz="1200" dirty="0">
                <a:solidFill>
                  <a:srgbClr val="000000"/>
                </a:solidFill>
                <a:latin typeface="Courier New" panose="02070309020205020404" pitchFamily="49" charset="0"/>
              </a:rPr>
              <a:t> d2) {</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&lt;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smaller</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if</a:t>
            </a:r>
            <a:r>
              <a:rPr lang="en-US" sz="1200" dirty="0">
                <a:solidFill>
                  <a:srgbClr val="000000"/>
                </a:solidFill>
                <a:latin typeface="Courier New" panose="02070309020205020404" pitchFamily="49" charset="0"/>
              </a:rPr>
              <a:t> (d1 &gt; d2)</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Neither </a:t>
            </a:r>
            <a:r>
              <a:rPr lang="en-US" sz="1200" dirty="0" err="1">
                <a:solidFill>
                  <a:srgbClr val="E65D00"/>
                </a:solidFill>
                <a:latin typeface="Courier New" panose="02070309020205020404" pitchFamily="49" charset="0"/>
              </a:rPr>
              <a:t>val</a:t>
            </a:r>
            <a:r>
              <a:rPr lang="en-US" sz="1200" dirty="0">
                <a:solidFill>
                  <a:srgbClr val="E65D00"/>
                </a:solidFill>
                <a:latin typeface="Courier New" panose="02070309020205020404" pitchFamily="49" charset="0"/>
              </a:rPr>
              <a:t> is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thisVal</a:t>
            </a:r>
            <a:r>
              <a:rPr lang="en-US" sz="1200" dirty="0">
                <a:solidFill>
                  <a:srgbClr val="E65D00"/>
                </a:solidFill>
                <a:latin typeface="Courier New" panose="02070309020205020404" pitchFamily="49" charset="0"/>
              </a:rPr>
              <a:t> is larger</a:t>
            </a:r>
            <a:br>
              <a:rPr lang="en-US" sz="1200" dirty="0">
                <a:solidFill>
                  <a:srgbClr val="E65D00"/>
                </a:solidFill>
                <a:latin typeface="Courier New" panose="02070309020205020404" pitchFamily="49" charset="0"/>
              </a:rPr>
            </a:b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(d1);</a:t>
            </a: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long</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Double.doubleToLongBits</a:t>
            </a:r>
            <a:r>
              <a:rPr lang="en-US" sz="1200" dirty="0">
                <a:solidFill>
                  <a:srgbClr val="000000"/>
                </a:solidFill>
                <a:latin typeface="Courier New" panose="02070309020205020404" pitchFamily="49" charset="0"/>
              </a:rPr>
              <a:t>(d2);</a:t>
            </a:r>
            <a:br>
              <a:rPr lang="en-US" sz="1200" dirty="0">
                <a:solidFill>
                  <a:srgbClr val="000000"/>
                </a:solidFill>
                <a:latin typeface="Courier New" panose="02070309020205020404" pitchFamily="49" charset="0"/>
              </a:rPr>
            </a:br>
            <a:br>
              <a:rPr lang="en-US" sz="1200" dirty="0">
                <a:solidFill>
                  <a:srgbClr val="0000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a:solidFill>
                  <a:srgbClr val="941EDF"/>
                </a:solidFill>
                <a:latin typeface="Courier New" panose="02070309020205020404" pitchFamily="49" charset="0"/>
              </a:rPr>
              <a:t>return</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0 : </a:t>
            </a:r>
            <a:r>
              <a:rPr lang="en-US" sz="1200" dirty="0">
                <a:solidFill>
                  <a:srgbClr val="E65D00"/>
                </a:solidFill>
                <a:latin typeface="Courier New" panose="02070309020205020404" pitchFamily="49" charset="0"/>
              </a:rPr>
              <a:t>// Values are = l</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thisBits</a:t>
            </a:r>
            <a:r>
              <a:rPr lang="en-US" sz="1200" dirty="0">
                <a:solidFill>
                  <a:srgbClr val="000000"/>
                </a:solidFill>
                <a:latin typeface="Courier New" panose="02070309020205020404" pitchFamily="49" charset="0"/>
              </a:rPr>
              <a:t> &lt; </a:t>
            </a:r>
            <a:r>
              <a:rPr lang="en-US" sz="1200" dirty="0" err="1">
                <a:solidFill>
                  <a:srgbClr val="000000"/>
                </a:solidFill>
                <a:latin typeface="Courier New" panose="02070309020205020404" pitchFamily="49" charset="0"/>
              </a:rPr>
              <a:t>otherBits</a:t>
            </a:r>
            <a:r>
              <a:rPr lang="en-US" sz="1200" dirty="0">
                <a:solidFill>
                  <a:srgbClr val="000000"/>
                </a:solidFill>
                <a:latin typeface="Courier New" panose="02070309020205020404" pitchFamily="49" charset="0"/>
              </a:rPr>
              <a:t> ? -1 :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br>
              <a:rPr lang="en-US" sz="1200" dirty="0">
                <a:solidFill>
                  <a:srgbClr val="E65D00"/>
                </a:solidFill>
                <a:latin typeface="Courier New" panose="02070309020205020404" pitchFamily="49" charset="0"/>
              </a:rPr>
            </a:br>
            <a:r>
              <a:rPr lang="en-US" sz="1200" dirty="0">
                <a:solidFill>
                  <a:srgbClr val="000000"/>
                </a:solidFill>
                <a:latin typeface="Courier New" panose="02070309020205020404" pitchFamily="49" charset="0"/>
              </a:rPr>
              <a:t>                 1));                          </a:t>
            </a:r>
            <a:r>
              <a:rPr lang="en-US" sz="1200" dirty="0">
                <a:solidFill>
                  <a:srgbClr val="E65D00"/>
                </a:solidFill>
                <a:latin typeface="Courier New" panose="02070309020205020404" pitchFamily="49" charset="0"/>
              </a:rPr>
              <a:t>// (0.0, -0.0) or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 !</a:t>
            </a:r>
            <a:r>
              <a:rPr lang="en-US" sz="1200" dirty="0" err="1">
                <a:solidFill>
                  <a:srgbClr val="E65D00"/>
                </a:solidFill>
                <a:latin typeface="Courier New" panose="02070309020205020404" pitchFamily="49" charset="0"/>
              </a:rPr>
              <a:t>NaN</a:t>
            </a:r>
            <a:r>
              <a:rPr lang="en-US" sz="1200" dirty="0">
                <a:solidFill>
                  <a:srgbClr val="E65D00"/>
                </a:solidFill>
                <a:latin typeface="Courier New" panose="02070309020205020404" pitchFamily="49" charset="0"/>
              </a:rPr>
              <a:t>)</a:t>
            </a:r>
            <a:endParaRPr lang="en-US" altLang="en-US" dirty="0"/>
          </a:p>
        </p:txBody>
      </p:sp>
    </p:spTree>
    <p:extLst>
      <p:ext uri="{BB962C8B-B14F-4D97-AF65-F5344CB8AC3E}">
        <p14:creationId xmlns:p14="http://schemas.microsoft.com/office/powerpoint/2010/main" val="11813952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a:extLst>
              <a:ext uri="{FF2B5EF4-FFF2-40B4-BE49-F238E27FC236}">
                <a16:creationId xmlns:a16="http://schemas.microsoft.com/office/drawing/2014/main" id="{639C9FEB-9335-4BB7-A17E-9ED85E6B21B2}"/>
              </a:ext>
            </a:extLst>
          </p:cNvPr>
          <p:cNvSpPr>
            <a:spLocks noGrp="1" noRot="1" noChangeAspect="1" noChangeArrowheads="1" noTextEdit="1"/>
          </p:cNvSpPr>
          <p:nvPr>
            <p:ph type="sldImg"/>
          </p:nvPr>
        </p:nvSpPr>
        <p:spPr>
          <a:ln/>
        </p:spPr>
      </p:sp>
      <p:sp>
        <p:nvSpPr>
          <p:cNvPr id="161795" name="Rectangle 3">
            <a:extLst>
              <a:ext uri="{FF2B5EF4-FFF2-40B4-BE49-F238E27FC236}">
                <a16:creationId xmlns:a16="http://schemas.microsoft.com/office/drawing/2014/main" id="{4CD2CE25-D94F-4E02-9FEF-8DE7F6204851}"/>
              </a:ext>
            </a:extLst>
          </p:cNvPr>
          <p:cNvSpPr>
            <a:spLocks noGrp="1" noChangeArrowheads="1"/>
          </p:cNvSpPr>
          <p:nvPr>
            <p:ph type="body" idx="1"/>
          </p:nvPr>
        </p:nvSpPr>
        <p:spPr/>
        <p:txBody>
          <a:bodyPr/>
          <a:lstStyle/>
          <a:p>
            <a:r>
              <a:rPr lang="en-US" altLang="en-US" sz="1600"/>
              <a:t>x and y are </a:t>
            </a:r>
            <a:r>
              <a:rPr lang="en-US" altLang="en-US" sz="1600">
                <a:latin typeface="Courier New" panose="02070309020205020404" pitchFamily="49" charset="0"/>
              </a:rPr>
              <a:t>Comparable</a:t>
            </a:r>
            <a:r>
              <a:rPr lang="en-US" altLang="en-US" sz="1600"/>
              <a:t> references that can refer to any class that implements the </a:t>
            </a:r>
            <a:r>
              <a:rPr lang="en-US" altLang="en-US" sz="1600">
                <a:latin typeface="Courier New" panose="02070309020205020404" pitchFamily="49" charset="0"/>
              </a:rPr>
              <a:t>Comparable</a:t>
            </a:r>
            <a:r>
              <a:rPr lang="en-US" altLang="en-US" sz="1600"/>
              <a:t> interface.</a:t>
            </a:r>
          </a:p>
          <a:p>
            <a:endParaRPr lang="en-US" altLang="en-US" sz="1600"/>
          </a:p>
          <a:p>
            <a:r>
              <a:rPr lang="en-US" altLang="en-US" sz="1600"/>
              <a:t>54 and 67 are integers.   Java instantiates </a:t>
            </a:r>
            <a:r>
              <a:rPr lang="en-US" altLang="en-US" sz="1600">
                <a:latin typeface="Courier New" panose="02070309020205020404" pitchFamily="49" charset="0"/>
              </a:rPr>
              <a:t>Integer</a:t>
            </a:r>
            <a:r>
              <a:rPr lang="en-US" altLang="en-US" sz="1600"/>
              <a:t> objects using 54 and 67.  </a:t>
            </a:r>
          </a:p>
          <a:p>
            <a:r>
              <a:rPr lang="en-US" altLang="en-US" sz="1600">
                <a:latin typeface="Courier New" panose="02070309020205020404" pitchFamily="49" charset="0"/>
              </a:rPr>
              <a:t>x = 54</a:t>
            </a:r>
            <a:r>
              <a:rPr lang="en-US" altLang="en-US" sz="1600"/>
              <a:t> is essentially the same as </a:t>
            </a:r>
            <a:r>
              <a:rPr lang="en-US" altLang="en-US" sz="1600">
                <a:latin typeface="Courier New" panose="02070309020205020404" pitchFamily="49" charset="0"/>
              </a:rPr>
              <a:t>x = new Integer(54)</a:t>
            </a:r>
            <a:r>
              <a:rPr lang="en-US" altLang="en-US" sz="1600"/>
              <a:t>;</a:t>
            </a:r>
          </a:p>
        </p:txBody>
      </p:sp>
    </p:spTree>
    <p:extLst>
      <p:ext uri="{BB962C8B-B14F-4D97-AF65-F5344CB8AC3E}">
        <p14:creationId xmlns:p14="http://schemas.microsoft.com/office/powerpoint/2010/main" val="38888382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a:extLst>
              <a:ext uri="{FF2B5EF4-FFF2-40B4-BE49-F238E27FC236}">
                <a16:creationId xmlns:a16="http://schemas.microsoft.com/office/drawing/2014/main" id="{A6BFEB88-9C2A-4007-A34D-F54B77CB44C5}"/>
              </a:ext>
            </a:extLst>
          </p:cNvPr>
          <p:cNvSpPr>
            <a:spLocks noGrp="1" noRot="1" noChangeAspect="1" noChangeArrowheads="1" noTextEdit="1"/>
          </p:cNvSpPr>
          <p:nvPr>
            <p:ph type="sldImg"/>
          </p:nvPr>
        </p:nvSpPr>
        <p:spPr>
          <a:ln/>
        </p:spPr>
      </p:sp>
      <p:sp>
        <p:nvSpPr>
          <p:cNvPr id="225283" name="Rectangle 3">
            <a:extLst>
              <a:ext uri="{FF2B5EF4-FFF2-40B4-BE49-F238E27FC236}">
                <a16:creationId xmlns:a16="http://schemas.microsoft.com/office/drawing/2014/main" id="{72C85295-AD69-4067-ADE8-31BB6D695D24}"/>
              </a:ext>
            </a:extLst>
          </p:cNvPr>
          <p:cNvSpPr>
            <a:spLocks noGrp="1" noChangeArrowheads="1"/>
          </p:cNvSpPr>
          <p:nvPr>
            <p:ph type="body" idx="1"/>
          </p:nvPr>
        </p:nvSpPr>
        <p:spPr/>
        <p:txBody>
          <a:bodyPr/>
          <a:lstStyle/>
          <a:p>
            <a:r>
              <a:rPr lang="en-US" altLang="en-US" sz="1600"/>
              <a:t>Comparable is an interface.  Interfaces can </a:t>
            </a:r>
            <a:r>
              <a:rPr lang="en-US" altLang="en-US" sz="1600" b="1" i="1" u="sng"/>
              <a:t>not </a:t>
            </a:r>
            <a:r>
              <a:rPr lang="en-US" altLang="en-US" sz="1600"/>
              <a:t>have instance variables, constructors, or implemented methods.  </a:t>
            </a:r>
          </a:p>
          <a:p>
            <a:r>
              <a:rPr lang="en-US" altLang="en-US" sz="1600"/>
              <a:t>Interfaces cannot be instantiated because they have no instance variables and they have no constructors.</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a:extLst>
              <a:ext uri="{FF2B5EF4-FFF2-40B4-BE49-F238E27FC236}">
                <a16:creationId xmlns:a16="http://schemas.microsoft.com/office/drawing/2014/main" id="{B1F82C99-313C-48FF-8705-DACD02CADE27}"/>
              </a:ext>
            </a:extLst>
          </p:cNvPr>
          <p:cNvSpPr>
            <a:spLocks noGrp="1" noRot="1" noChangeAspect="1" noChangeArrowheads="1" noTextEdit="1"/>
          </p:cNvSpPr>
          <p:nvPr>
            <p:ph type="sldImg"/>
          </p:nvPr>
        </p:nvSpPr>
        <p:spPr>
          <a:ln/>
        </p:spPr>
      </p:sp>
      <p:sp>
        <p:nvSpPr>
          <p:cNvPr id="223235" name="Rectangle 3">
            <a:extLst>
              <a:ext uri="{FF2B5EF4-FFF2-40B4-BE49-F238E27FC236}">
                <a16:creationId xmlns:a16="http://schemas.microsoft.com/office/drawing/2014/main" id="{91FF12DE-C261-4D92-8749-4ABB70D10A38}"/>
              </a:ext>
            </a:extLst>
          </p:cNvPr>
          <p:cNvSpPr>
            <a:spLocks noGrp="1" noChangeArrowheads="1"/>
          </p:cNvSpPr>
          <p:nvPr>
            <p:ph type="body" idx="1"/>
          </p:nvPr>
        </p:nvSpPr>
        <p:spPr>
          <a:noFill/>
          <a:ln/>
        </p:spPr>
        <p:txBody>
          <a:bodyPr/>
          <a:lstStyle/>
          <a:p>
            <a:r>
              <a:rPr lang="en-US" altLang="en-US" sz="1600"/>
              <a:t>Comparable is an interface used by most classes that would need to be compared.  Comparable has only one abstract method, </a:t>
            </a:r>
            <a:r>
              <a:rPr lang="en-US" altLang="en-US" sz="1600">
                <a:latin typeface="Courier New" panose="02070309020205020404" pitchFamily="49" charset="0"/>
              </a:rPr>
              <a:t>compareTo()</a:t>
            </a:r>
            <a:r>
              <a:rPr lang="en-US" altLang="en-US" sz="1600"/>
              <a:t>.  </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a:extLst>
              <a:ext uri="{FF2B5EF4-FFF2-40B4-BE49-F238E27FC236}">
                <a16:creationId xmlns:a16="http://schemas.microsoft.com/office/drawing/2014/main" id="{06F6786F-11C9-46BD-B778-0C0B64666B3B}"/>
              </a:ext>
            </a:extLst>
          </p:cNvPr>
          <p:cNvSpPr>
            <a:spLocks noGrp="1" noRot="1" noChangeAspect="1" noChangeArrowheads="1" noTextEdit="1"/>
          </p:cNvSpPr>
          <p:nvPr>
            <p:ph type="sldImg"/>
          </p:nvPr>
        </p:nvSpPr>
        <p:spPr>
          <a:ln/>
        </p:spPr>
      </p:sp>
      <p:sp>
        <p:nvSpPr>
          <p:cNvPr id="158723" name="Rectangle 3">
            <a:extLst>
              <a:ext uri="{FF2B5EF4-FFF2-40B4-BE49-F238E27FC236}">
                <a16:creationId xmlns:a16="http://schemas.microsoft.com/office/drawing/2014/main" id="{83857F45-E6A1-439D-A1E9-E0F007AEB3F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a:extLst>
              <a:ext uri="{FF2B5EF4-FFF2-40B4-BE49-F238E27FC236}">
                <a16:creationId xmlns:a16="http://schemas.microsoft.com/office/drawing/2014/main" id="{AE09AA87-B7DF-4F99-AFCD-B158A9CD818C}"/>
              </a:ext>
            </a:extLst>
          </p:cNvPr>
          <p:cNvSpPr>
            <a:spLocks noGrp="1" noRot="1" noChangeAspect="1" noChangeArrowheads="1" noTextEdit="1"/>
          </p:cNvSpPr>
          <p:nvPr>
            <p:ph type="sldImg"/>
          </p:nvPr>
        </p:nvSpPr>
        <p:spPr>
          <a:ln/>
        </p:spPr>
      </p:sp>
      <p:sp>
        <p:nvSpPr>
          <p:cNvPr id="192515" name="Rectangle 3">
            <a:extLst>
              <a:ext uri="{FF2B5EF4-FFF2-40B4-BE49-F238E27FC236}">
                <a16:creationId xmlns:a16="http://schemas.microsoft.com/office/drawing/2014/main" id="{445A5B4F-E8B5-4DAD-95B2-347A729F09A2}"/>
              </a:ext>
            </a:extLst>
          </p:cNvPr>
          <p:cNvSpPr>
            <a:spLocks noGrp="1" noChangeArrowheads="1"/>
          </p:cNvSpPr>
          <p:nvPr>
            <p:ph type="body" idx="1"/>
          </p:nvPr>
        </p:nvSpPr>
        <p:spPr>
          <a:noFill/>
          <a:ln/>
        </p:spPr>
        <p:txBody>
          <a:bodyPr/>
          <a:lstStyle/>
          <a:p>
            <a:r>
              <a:rPr lang="en-US" altLang="en-US" sz="1600"/>
              <a:t>All methods listed in an interface are abstract.  Abstract methods have no code.  Abstract methods are simply the method signature with a semi-colon at the end.</a:t>
            </a:r>
          </a:p>
          <a:p>
            <a:r>
              <a:rPr lang="en-US" altLang="en-US" sz="1600"/>
              <a:t>Classes implementing an interface must implement all of the abstract methods listed in the interface.</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152D2694-0441-44B6-8D0D-D9908F09A2FF}"/>
              </a:ext>
            </a:extLst>
          </p:cNvPr>
          <p:cNvSpPr>
            <a:spLocks noGrp="1" noRot="1" noChangeAspect="1" noChangeArrowheads="1" noTextEdit="1"/>
          </p:cNvSpPr>
          <p:nvPr>
            <p:ph type="sldImg"/>
          </p:nvPr>
        </p:nvSpPr>
        <p:spPr>
          <a:ln/>
        </p:spPr>
      </p:sp>
      <p:sp>
        <p:nvSpPr>
          <p:cNvPr id="148483" name="Rectangle 3">
            <a:extLst>
              <a:ext uri="{FF2B5EF4-FFF2-40B4-BE49-F238E27FC236}">
                <a16:creationId xmlns:a16="http://schemas.microsoft.com/office/drawing/2014/main" id="{0C32EDD5-00EC-4E52-A9D2-DFAF8DDAB624}"/>
              </a:ext>
            </a:extLst>
          </p:cNvPr>
          <p:cNvSpPr>
            <a:spLocks noGrp="1" noChangeArrowheads="1"/>
          </p:cNvSpPr>
          <p:nvPr>
            <p:ph type="body" idx="1"/>
          </p:nvPr>
        </p:nvSpPr>
        <p:spPr/>
        <p:txBody>
          <a:bodyPr/>
          <a:lstStyle/>
          <a:p>
            <a:r>
              <a:rPr lang="en-US" altLang="en-US" sz="1600"/>
              <a:t>Class Creature implements </a:t>
            </a:r>
            <a:r>
              <a:rPr lang="en-US" altLang="en-US" sz="1600">
                <a:latin typeface="Courier New" panose="02070309020205020404" pitchFamily="49" charset="0"/>
              </a:rPr>
              <a:t>Comparable</a:t>
            </a:r>
            <a:r>
              <a:rPr lang="en-US" altLang="en-US" sz="1600"/>
              <a:t>.  Class Creature must have a </a:t>
            </a:r>
            <a:r>
              <a:rPr lang="en-US" altLang="en-US" sz="1600">
                <a:latin typeface="Courier New" panose="02070309020205020404" pitchFamily="49" charset="0"/>
              </a:rPr>
              <a:t>compareTo()</a:t>
            </a:r>
            <a:r>
              <a:rPr lang="en-US" altLang="en-US" sz="1600"/>
              <a:t> method.</a:t>
            </a:r>
          </a:p>
          <a:p>
            <a:r>
              <a:rPr lang="en-US" altLang="en-US" sz="1600"/>
              <a:t>The </a:t>
            </a:r>
            <a:r>
              <a:rPr lang="en-US" altLang="en-US" sz="1600">
                <a:latin typeface="Courier New" panose="02070309020205020404" pitchFamily="49" charset="0"/>
              </a:rPr>
              <a:t>compareTo()</a:t>
            </a:r>
            <a:r>
              <a:rPr lang="en-US" altLang="en-US" sz="1600"/>
              <a:t> method must compare the properties of this Creature to the other Creature.</a:t>
            </a:r>
          </a:p>
          <a:p>
            <a:r>
              <a:rPr lang="en-US" altLang="en-US" sz="1600"/>
              <a:t>Creature only contains a size property.</a:t>
            </a:r>
          </a:p>
        </p:txBody>
      </p:sp>
    </p:spTree>
    <p:extLst>
      <p:ext uri="{BB962C8B-B14F-4D97-AF65-F5344CB8AC3E}">
        <p14:creationId xmlns:p14="http://schemas.microsoft.com/office/powerpoint/2010/main" val="26323939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152D2694-0441-44B6-8D0D-D9908F09A2FF}"/>
              </a:ext>
            </a:extLst>
          </p:cNvPr>
          <p:cNvSpPr>
            <a:spLocks noGrp="1" noRot="1" noChangeAspect="1" noChangeArrowheads="1" noTextEdit="1"/>
          </p:cNvSpPr>
          <p:nvPr>
            <p:ph type="sldImg"/>
          </p:nvPr>
        </p:nvSpPr>
        <p:spPr>
          <a:ln/>
        </p:spPr>
      </p:sp>
      <p:sp>
        <p:nvSpPr>
          <p:cNvPr id="148483" name="Rectangle 3">
            <a:extLst>
              <a:ext uri="{FF2B5EF4-FFF2-40B4-BE49-F238E27FC236}">
                <a16:creationId xmlns:a16="http://schemas.microsoft.com/office/drawing/2014/main" id="{0C32EDD5-00EC-4E52-A9D2-DFAF8DDAB624}"/>
              </a:ext>
            </a:extLst>
          </p:cNvPr>
          <p:cNvSpPr>
            <a:spLocks noGrp="1" noChangeArrowheads="1"/>
          </p:cNvSpPr>
          <p:nvPr>
            <p:ph type="body" idx="1"/>
          </p:nvPr>
        </p:nvSpPr>
        <p:spPr/>
        <p:txBody>
          <a:bodyPr/>
          <a:lstStyle/>
          <a:p>
            <a:r>
              <a:rPr lang="en-US" altLang="en-US" sz="1600"/>
              <a:t>Class Creature implements </a:t>
            </a:r>
            <a:r>
              <a:rPr lang="en-US" altLang="en-US" sz="1600">
                <a:latin typeface="Courier New" panose="02070309020205020404" pitchFamily="49" charset="0"/>
              </a:rPr>
              <a:t>Comparable</a:t>
            </a:r>
            <a:r>
              <a:rPr lang="en-US" altLang="en-US" sz="1600"/>
              <a:t>.  Class Creature must have a </a:t>
            </a:r>
            <a:r>
              <a:rPr lang="en-US" altLang="en-US" sz="1600">
                <a:latin typeface="Courier New" panose="02070309020205020404" pitchFamily="49" charset="0"/>
              </a:rPr>
              <a:t>compareTo()</a:t>
            </a:r>
            <a:r>
              <a:rPr lang="en-US" altLang="en-US" sz="1600"/>
              <a:t> method.</a:t>
            </a:r>
          </a:p>
          <a:p>
            <a:r>
              <a:rPr lang="en-US" altLang="en-US" sz="1600"/>
              <a:t>The </a:t>
            </a:r>
            <a:r>
              <a:rPr lang="en-US" altLang="en-US" sz="1600">
                <a:latin typeface="Courier New" panose="02070309020205020404" pitchFamily="49" charset="0"/>
              </a:rPr>
              <a:t>compareTo()</a:t>
            </a:r>
            <a:r>
              <a:rPr lang="en-US" altLang="en-US" sz="1600"/>
              <a:t> method must compare the properties of this Creature to the other Creature.</a:t>
            </a:r>
          </a:p>
          <a:p>
            <a:r>
              <a:rPr lang="en-US" altLang="en-US" sz="1600"/>
              <a:t>Creature only contains a size property.</a:t>
            </a:r>
          </a:p>
        </p:txBody>
      </p:sp>
    </p:spTree>
    <p:extLst>
      <p:ext uri="{BB962C8B-B14F-4D97-AF65-F5344CB8AC3E}">
        <p14:creationId xmlns:p14="http://schemas.microsoft.com/office/powerpoint/2010/main" val="1178277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152D2694-0441-44B6-8D0D-D9908F09A2FF}"/>
              </a:ext>
            </a:extLst>
          </p:cNvPr>
          <p:cNvSpPr>
            <a:spLocks noGrp="1" noRot="1" noChangeAspect="1" noChangeArrowheads="1" noTextEdit="1"/>
          </p:cNvSpPr>
          <p:nvPr>
            <p:ph type="sldImg"/>
          </p:nvPr>
        </p:nvSpPr>
        <p:spPr>
          <a:ln/>
        </p:spPr>
      </p:sp>
      <p:sp>
        <p:nvSpPr>
          <p:cNvPr id="148483" name="Rectangle 3">
            <a:extLst>
              <a:ext uri="{FF2B5EF4-FFF2-40B4-BE49-F238E27FC236}">
                <a16:creationId xmlns:a16="http://schemas.microsoft.com/office/drawing/2014/main" id="{0C32EDD5-00EC-4E52-A9D2-DFAF8DDAB624}"/>
              </a:ext>
            </a:extLst>
          </p:cNvPr>
          <p:cNvSpPr>
            <a:spLocks noGrp="1" noChangeArrowheads="1"/>
          </p:cNvSpPr>
          <p:nvPr>
            <p:ph type="body" idx="1"/>
          </p:nvPr>
        </p:nvSpPr>
        <p:spPr/>
        <p:txBody>
          <a:bodyPr/>
          <a:lstStyle/>
          <a:p>
            <a:r>
              <a:rPr lang="en-US" altLang="en-US" sz="1600"/>
              <a:t>Class Creature implements </a:t>
            </a:r>
            <a:r>
              <a:rPr lang="en-US" altLang="en-US" sz="1600">
                <a:latin typeface="Courier New" panose="02070309020205020404" pitchFamily="49" charset="0"/>
              </a:rPr>
              <a:t>Comparable</a:t>
            </a:r>
            <a:r>
              <a:rPr lang="en-US" altLang="en-US" sz="1600"/>
              <a:t>.  Class Creature must have a </a:t>
            </a:r>
            <a:r>
              <a:rPr lang="en-US" altLang="en-US" sz="1600">
                <a:latin typeface="Courier New" panose="02070309020205020404" pitchFamily="49" charset="0"/>
              </a:rPr>
              <a:t>compareTo()</a:t>
            </a:r>
            <a:r>
              <a:rPr lang="en-US" altLang="en-US" sz="1600"/>
              <a:t> method.</a:t>
            </a:r>
          </a:p>
          <a:p>
            <a:r>
              <a:rPr lang="en-US" altLang="en-US" sz="1600"/>
              <a:t>The </a:t>
            </a:r>
            <a:r>
              <a:rPr lang="en-US" altLang="en-US" sz="1600">
                <a:latin typeface="Courier New" panose="02070309020205020404" pitchFamily="49" charset="0"/>
              </a:rPr>
              <a:t>compareTo()</a:t>
            </a:r>
            <a:r>
              <a:rPr lang="en-US" altLang="en-US" sz="1600"/>
              <a:t> method must compare the properties of this Creature to the other Creature.</a:t>
            </a:r>
          </a:p>
          <a:p>
            <a:r>
              <a:rPr lang="en-US" altLang="en-US" sz="1600"/>
              <a:t>Creature only contains a size property.</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a:extLst>
              <a:ext uri="{FF2B5EF4-FFF2-40B4-BE49-F238E27FC236}">
                <a16:creationId xmlns:a16="http://schemas.microsoft.com/office/drawing/2014/main" id="{FB4CC901-DDCF-4309-B6D6-C34C86E2597F}"/>
              </a:ext>
            </a:extLst>
          </p:cNvPr>
          <p:cNvSpPr>
            <a:spLocks noGrp="1" noRot="1" noChangeAspect="1" noChangeArrowheads="1" noTextEdit="1"/>
          </p:cNvSpPr>
          <p:nvPr>
            <p:ph type="sldImg"/>
          </p:nvPr>
        </p:nvSpPr>
        <p:spPr>
          <a:ln/>
        </p:spPr>
      </p:sp>
      <p:sp>
        <p:nvSpPr>
          <p:cNvPr id="237571" name="Rectangle 3">
            <a:extLst>
              <a:ext uri="{FF2B5EF4-FFF2-40B4-BE49-F238E27FC236}">
                <a16:creationId xmlns:a16="http://schemas.microsoft.com/office/drawing/2014/main" id="{D83A1682-7235-4094-AFD6-49AC9B12CF3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a:extLst>
              <a:ext uri="{FF2B5EF4-FFF2-40B4-BE49-F238E27FC236}">
                <a16:creationId xmlns:a16="http://schemas.microsoft.com/office/drawing/2014/main" id="{452743B9-9D4A-49E2-A80F-384E3CC7EB9B}"/>
              </a:ext>
            </a:extLst>
          </p:cNvPr>
          <p:cNvSpPr>
            <a:spLocks noGrp="1" noRot="1" noChangeAspect="1" noChangeArrowheads="1" noTextEdit="1"/>
          </p:cNvSpPr>
          <p:nvPr>
            <p:ph type="sldImg"/>
          </p:nvPr>
        </p:nvSpPr>
        <p:spPr>
          <a:ln/>
        </p:spPr>
      </p:sp>
      <p:sp>
        <p:nvSpPr>
          <p:cNvPr id="196611" name="Rectangle 3">
            <a:extLst>
              <a:ext uri="{FF2B5EF4-FFF2-40B4-BE49-F238E27FC236}">
                <a16:creationId xmlns:a16="http://schemas.microsoft.com/office/drawing/2014/main" id="{04C0D695-FE14-4B03-91DD-8CA72490ECF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a:extLst>
              <a:ext uri="{FF2B5EF4-FFF2-40B4-BE49-F238E27FC236}">
                <a16:creationId xmlns:a16="http://schemas.microsoft.com/office/drawing/2014/main" id="{EDFC3CAD-05C8-46A5-A715-3A806FB531BA}"/>
              </a:ext>
            </a:extLst>
          </p:cNvPr>
          <p:cNvSpPr>
            <a:spLocks noGrp="1" noRot="1" noChangeAspect="1" noChangeArrowheads="1" noTextEdit="1"/>
          </p:cNvSpPr>
          <p:nvPr>
            <p:ph type="sldImg"/>
          </p:nvPr>
        </p:nvSpPr>
        <p:spPr>
          <a:ln/>
        </p:spPr>
      </p:sp>
      <p:sp>
        <p:nvSpPr>
          <p:cNvPr id="198659" name="Rectangle 3">
            <a:extLst>
              <a:ext uri="{FF2B5EF4-FFF2-40B4-BE49-F238E27FC236}">
                <a16:creationId xmlns:a16="http://schemas.microsoft.com/office/drawing/2014/main" id="{3F92E496-9602-485D-8565-5AE847A882F4}"/>
              </a:ext>
            </a:extLst>
          </p:cNvPr>
          <p:cNvSpPr>
            <a:spLocks noGrp="1" noChangeArrowheads="1"/>
          </p:cNvSpPr>
          <p:nvPr>
            <p:ph type="body" idx="1"/>
          </p:nvPr>
        </p:nvSpPr>
        <p:spPr/>
        <p:txBody>
          <a:bodyPr/>
          <a:lstStyle/>
          <a:p>
            <a:r>
              <a:rPr lang="en-US" altLang="en-US" sz="1600"/>
              <a:t>List is an array of </a:t>
            </a:r>
            <a:r>
              <a:rPr lang="en-US" altLang="en-US" sz="1600">
                <a:latin typeface="Courier New" panose="02070309020205020404" pitchFamily="49" charset="0"/>
              </a:rPr>
              <a:t>Comparable</a:t>
            </a:r>
            <a:r>
              <a:rPr lang="en-US" altLang="en-US" sz="1600"/>
              <a:t> references.  Each spot in list stores the address of a </a:t>
            </a:r>
            <a:r>
              <a:rPr lang="en-US" altLang="en-US" sz="1600">
                <a:latin typeface="Courier New" panose="02070309020205020404" pitchFamily="49" charset="0"/>
              </a:rPr>
              <a:t>Comparable</a:t>
            </a:r>
            <a:r>
              <a:rPr lang="en-US" altLang="en-US" sz="1600"/>
              <a:t> object.  </a:t>
            </a:r>
          </a:p>
          <a:p>
            <a:endParaRPr lang="en-US" altLang="en-US" sz="1600"/>
          </a:p>
          <a:p>
            <a:r>
              <a:rPr lang="en-US" altLang="en-US" sz="1600">
                <a:latin typeface="Courier New" panose="02070309020205020404" pitchFamily="49" charset="0"/>
              </a:rPr>
              <a:t>Arrays.sort()</a:t>
            </a:r>
            <a:r>
              <a:rPr lang="en-US" altLang="en-US" sz="1600"/>
              <a:t> will use the </a:t>
            </a:r>
            <a:r>
              <a:rPr lang="en-US" altLang="en-US" sz="1600">
                <a:latin typeface="Courier New" panose="02070309020205020404" pitchFamily="49" charset="0"/>
              </a:rPr>
              <a:t>compareTo()</a:t>
            </a:r>
            <a:r>
              <a:rPr lang="en-US" altLang="en-US" sz="1600"/>
              <a:t> method to compare all </a:t>
            </a:r>
            <a:r>
              <a:rPr lang="en-US" altLang="en-US" sz="1600">
                <a:latin typeface="Courier New" panose="02070309020205020404" pitchFamily="49" charset="0"/>
              </a:rPr>
              <a:t>Comparable</a:t>
            </a:r>
            <a:r>
              <a:rPr lang="en-US" altLang="en-US" sz="1600"/>
              <a:t> references.  This is a great example of polymorphic behavior.  The </a:t>
            </a:r>
            <a:r>
              <a:rPr lang="en-US" altLang="en-US" sz="1600">
                <a:latin typeface="Courier New" panose="02070309020205020404" pitchFamily="49" charset="0"/>
              </a:rPr>
              <a:t>compareTo()</a:t>
            </a:r>
            <a:r>
              <a:rPr lang="en-US" altLang="en-US" sz="1600"/>
              <a:t> method calls are made dynamically at run-time by </a:t>
            </a:r>
            <a:r>
              <a:rPr lang="en-US" altLang="en-US" sz="1600">
                <a:latin typeface="Courier New" panose="02070309020205020404" pitchFamily="49" charset="0"/>
              </a:rPr>
              <a:t>Arrays.sort()</a:t>
            </a:r>
            <a:r>
              <a:rPr lang="en-US" altLang="en-US" sz="1600"/>
              <a:t>.</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D9581BE7-BCD9-4609-B33A-F8E9048ECA57}"/>
              </a:ext>
            </a:extLst>
          </p:cNvPr>
          <p:cNvSpPr>
            <a:spLocks noGrp="1" noRot="1" noChangeAspect="1" noChangeArrowheads="1" noTextEdit="1"/>
          </p:cNvSpPr>
          <p:nvPr>
            <p:ph type="sldImg"/>
          </p:nvPr>
        </p:nvSpPr>
        <p:spPr>
          <a:ln/>
        </p:spPr>
      </p:sp>
      <p:sp>
        <p:nvSpPr>
          <p:cNvPr id="200707" name="Rectangle 3">
            <a:extLst>
              <a:ext uri="{FF2B5EF4-FFF2-40B4-BE49-F238E27FC236}">
                <a16:creationId xmlns:a16="http://schemas.microsoft.com/office/drawing/2014/main" id="{22E3F97C-89AA-47C5-A8C2-D84E511CE816}"/>
              </a:ext>
            </a:extLst>
          </p:cNvPr>
          <p:cNvSpPr>
            <a:spLocks noGrp="1" noChangeArrowheads="1"/>
          </p:cNvSpPr>
          <p:nvPr>
            <p:ph type="body" idx="1"/>
          </p:nvPr>
        </p:nvSpPr>
        <p:spPr/>
        <p:txBody>
          <a:bodyPr/>
          <a:lstStyle/>
          <a:p>
            <a:r>
              <a:rPr lang="en-US" altLang="en-US" sz="1600">
                <a:latin typeface="Courier New" panose="02070309020205020404" pitchFamily="49" charset="0"/>
              </a:rPr>
              <a:t>Arrays.sort()</a:t>
            </a:r>
            <a:r>
              <a:rPr lang="en-US" altLang="en-US" sz="1600"/>
              <a:t> will use the </a:t>
            </a:r>
            <a:r>
              <a:rPr lang="en-US" altLang="en-US" sz="1600">
                <a:latin typeface="Courier New" panose="02070309020205020404" pitchFamily="49" charset="0"/>
              </a:rPr>
              <a:t>compareTo()</a:t>
            </a:r>
            <a:r>
              <a:rPr lang="en-US" altLang="en-US" sz="1600"/>
              <a:t> method to compare all </a:t>
            </a:r>
            <a:r>
              <a:rPr lang="en-US" altLang="en-US" sz="1600">
                <a:latin typeface="Courier New" panose="02070309020205020404" pitchFamily="49" charset="0"/>
              </a:rPr>
              <a:t>Comparable</a:t>
            </a:r>
            <a:r>
              <a:rPr lang="en-US" altLang="en-US" sz="1600"/>
              <a:t> references.  This is a great example of polymorphic behavior.  The </a:t>
            </a:r>
            <a:r>
              <a:rPr lang="en-US" altLang="en-US" sz="1600">
                <a:latin typeface="Courier New" panose="02070309020205020404" pitchFamily="49" charset="0"/>
              </a:rPr>
              <a:t>compareTo()</a:t>
            </a:r>
            <a:r>
              <a:rPr lang="en-US" altLang="en-US" sz="1600"/>
              <a:t> method calls are made dynamically at run-time by </a:t>
            </a:r>
            <a:r>
              <a:rPr lang="en-US" altLang="en-US" sz="1600">
                <a:latin typeface="Courier New" panose="02070309020205020404" pitchFamily="49" charset="0"/>
              </a:rPr>
              <a:t>Arrays.sort()</a:t>
            </a:r>
            <a:r>
              <a:rPr lang="en-US" altLang="en-US" sz="1600"/>
              <a:t>.</a:t>
            </a:r>
          </a:p>
          <a:p>
            <a:endParaRPr lang="en-US"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D9581BE7-BCD9-4609-B33A-F8E9048ECA57}"/>
              </a:ext>
            </a:extLst>
          </p:cNvPr>
          <p:cNvSpPr>
            <a:spLocks noGrp="1" noRot="1" noChangeAspect="1" noChangeArrowheads="1" noTextEdit="1"/>
          </p:cNvSpPr>
          <p:nvPr>
            <p:ph type="sldImg"/>
          </p:nvPr>
        </p:nvSpPr>
        <p:spPr>
          <a:ln/>
        </p:spPr>
      </p:sp>
      <p:sp>
        <p:nvSpPr>
          <p:cNvPr id="200707" name="Rectangle 3">
            <a:extLst>
              <a:ext uri="{FF2B5EF4-FFF2-40B4-BE49-F238E27FC236}">
                <a16:creationId xmlns:a16="http://schemas.microsoft.com/office/drawing/2014/main" id="{22E3F97C-89AA-47C5-A8C2-D84E511CE816}"/>
              </a:ext>
            </a:extLst>
          </p:cNvPr>
          <p:cNvSpPr>
            <a:spLocks noGrp="1" noChangeArrowheads="1"/>
          </p:cNvSpPr>
          <p:nvPr>
            <p:ph type="body" idx="1"/>
          </p:nvPr>
        </p:nvSpPr>
        <p:spPr/>
        <p:txBody>
          <a:bodyPr/>
          <a:lstStyle/>
          <a:p>
            <a:r>
              <a:rPr lang="en-US" altLang="en-US" sz="1600">
                <a:latin typeface="Courier New" panose="02070309020205020404" pitchFamily="49" charset="0"/>
              </a:rPr>
              <a:t>Arrays.sort()</a:t>
            </a:r>
            <a:r>
              <a:rPr lang="en-US" altLang="en-US" sz="1600"/>
              <a:t> will use the </a:t>
            </a:r>
            <a:r>
              <a:rPr lang="en-US" altLang="en-US" sz="1600">
                <a:latin typeface="Courier New" panose="02070309020205020404" pitchFamily="49" charset="0"/>
              </a:rPr>
              <a:t>compareTo()</a:t>
            </a:r>
            <a:r>
              <a:rPr lang="en-US" altLang="en-US" sz="1600"/>
              <a:t> method to compare all </a:t>
            </a:r>
            <a:r>
              <a:rPr lang="en-US" altLang="en-US" sz="1600">
                <a:latin typeface="Courier New" panose="02070309020205020404" pitchFamily="49" charset="0"/>
              </a:rPr>
              <a:t>Comparable</a:t>
            </a:r>
            <a:r>
              <a:rPr lang="en-US" altLang="en-US" sz="1600"/>
              <a:t> references.  This is a great example of polymorphic behavior.  The </a:t>
            </a:r>
            <a:r>
              <a:rPr lang="en-US" altLang="en-US" sz="1600">
                <a:latin typeface="Courier New" panose="02070309020205020404" pitchFamily="49" charset="0"/>
              </a:rPr>
              <a:t>compareTo()</a:t>
            </a:r>
            <a:r>
              <a:rPr lang="en-US" altLang="en-US" sz="1600"/>
              <a:t> method calls are made dynamically at run-time by </a:t>
            </a:r>
            <a:r>
              <a:rPr lang="en-US" altLang="en-US" sz="1600">
                <a:latin typeface="Courier New" panose="02070309020205020404" pitchFamily="49" charset="0"/>
              </a:rPr>
              <a:t>Arrays.sort()</a:t>
            </a:r>
            <a:r>
              <a:rPr lang="en-US" altLang="en-US" sz="1600"/>
              <a:t>.</a:t>
            </a:r>
          </a:p>
          <a:p>
            <a:endParaRPr lang="en-US" altLang="en-US"/>
          </a:p>
        </p:txBody>
      </p:sp>
    </p:spTree>
    <p:extLst>
      <p:ext uri="{BB962C8B-B14F-4D97-AF65-F5344CB8AC3E}">
        <p14:creationId xmlns:p14="http://schemas.microsoft.com/office/powerpoint/2010/main" val="426701868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a:extLst>
              <a:ext uri="{FF2B5EF4-FFF2-40B4-BE49-F238E27FC236}">
                <a16:creationId xmlns:a16="http://schemas.microsoft.com/office/drawing/2014/main" id="{A4A0905E-5FF7-4E82-9407-CE5628D1B477}"/>
              </a:ext>
            </a:extLst>
          </p:cNvPr>
          <p:cNvSpPr>
            <a:spLocks noGrp="1" noRot="1" noChangeAspect="1" noChangeArrowheads="1" noTextEdit="1"/>
          </p:cNvSpPr>
          <p:nvPr>
            <p:ph type="sldImg"/>
          </p:nvPr>
        </p:nvSpPr>
        <p:spPr>
          <a:ln/>
        </p:spPr>
      </p:sp>
      <p:sp>
        <p:nvSpPr>
          <p:cNvPr id="202755" name="Rectangle 3">
            <a:extLst>
              <a:ext uri="{FF2B5EF4-FFF2-40B4-BE49-F238E27FC236}">
                <a16:creationId xmlns:a16="http://schemas.microsoft.com/office/drawing/2014/main" id="{69912570-4752-46F8-8CA5-81B2BBF27A8C}"/>
              </a:ext>
            </a:extLst>
          </p:cNvPr>
          <p:cNvSpPr>
            <a:spLocks noGrp="1" noChangeArrowheads="1"/>
          </p:cNvSpPr>
          <p:nvPr>
            <p:ph type="body" idx="1"/>
          </p:nvPr>
        </p:nvSpPr>
        <p:spPr/>
        <p:txBody>
          <a:bodyPr/>
          <a:lstStyle/>
          <a:p>
            <a:r>
              <a:rPr lang="en-US" altLang="en-US" sz="1600"/>
              <a:t>Thanks to autoboxing and autounboxing, list can be initialized with a list of primitive integers.   </a:t>
            </a:r>
          </a:p>
          <a:p>
            <a:r>
              <a:rPr lang="en-US" altLang="en-US" sz="1600"/>
              <a:t>Java instantiates an </a:t>
            </a:r>
            <a:r>
              <a:rPr lang="en-US" altLang="en-US" sz="1600">
                <a:latin typeface="Courier New" panose="02070309020205020404" pitchFamily="49" charset="0"/>
              </a:rPr>
              <a:t>Integer </a:t>
            </a:r>
            <a:r>
              <a:rPr lang="en-US" altLang="en-US" sz="1600"/>
              <a:t>object and passes in each primitive to the </a:t>
            </a:r>
            <a:r>
              <a:rPr lang="en-US" altLang="en-US" sz="1600">
                <a:latin typeface="Courier New" panose="02070309020205020404" pitchFamily="49" charset="0"/>
              </a:rPr>
              <a:t>new Integer( )</a:t>
            </a:r>
            <a:r>
              <a:rPr lang="en-US" altLang="en-US" sz="1600"/>
              <a:t> constructor call.</a:t>
            </a:r>
          </a:p>
          <a:p>
            <a:endParaRPr lang="en-US" altLang="en-US" sz="160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a:extLst>
              <a:ext uri="{FF2B5EF4-FFF2-40B4-BE49-F238E27FC236}">
                <a16:creationId xmlns:a16="http://schemas.microsoft.com/office/drawing/2014/main" id="{D9581BE7-BCD9-4609-B33A-F8E9048ECA57}"/>
              </a:ext>
            </a:extLst>
          </p:cNvPr>
          <p:cNvSpPr>
            <a:spLocks noGrp="1" noRot="1" noChangeAspect="1" noChangeArrowheads="1" noTextEdit="1"/>
          </p:cNvSpPr>
          <p:nvPr>
            <p:ph type="sldImg"/>
          </p:nvPr>
        </p:nvSpPr>
        <p:spPr>
          <a:ln/>
        </p:spPr>
      </p:sp>
      <p:sp>
        <p:nvSpPr>
          <p:cNvPr id="200707" name="Rectangle 3">
            <a:extLst>
              <a:ext uri="{FF2B5EF4-FFF2-40B4-BE49-F238E27FC236}">
                <a16:creationId xmlns:a16="http://schemas.microsoft.com/office/drawing/2014/main" id="{22E3F97C-89AA-47C5-A8C2-D84E511CE816}"/>
              </a:ext>
            </a:extLst>
          </p:cNvPr>
          <p:cNvSpPr>
            <a:spLocks noGrp="1" noChangeArrowheads="1"/>
          </p:cNvSpPr>
          <p:nvPr>
            <p:ph type="body" idx="1"/>
          </p:nvPr>
        </p:nvSpPr>
        <p:spPr/>
        <p:txBody>
          <a:bodyPr/>
          <a:lstStyle/>
          <a:p>
            <a:r>
              <a:rPr lang="en-US" altLang="en-US" sz="1600">
                <a:latin typeface="Courier New" panose="02070309020205020404" pitchFamily="49" charset="0"/>
              </a:rPr>
              <a:t>Arrays.sort()</a:t>
            </a:r>
            <a:r>
              <a:rPr lang="en-US" altLang="en-US" sz="1600"/>
              <a:t> will use the </a:t>
            </a:r>
            <a:r>
              <a:rPr lang="en-US" altLang="en-US" sz="1600">
                <a:latin typeface="Courier New" panose="02070309020205020404" pitchFamily="49" charset="0"/>
              </a:rPr>
              <a:t>compareTo()</a:t>
            </a:r>
            <a:r>
              <a:rPr lang="en-US" altLang="en-US" sz="1600"/>
              <a:t> method to compare all </a:t>
            </a:r>
            <a:r>
              <a:rPr lang="en-US" altLang="en-US" sz="1600">
                <a:latin typeface="Courier New" panose="02070309020205020404" pitchFamily="49" charset="0"/>
              </a:rPr>
              <a:t>Comparable</a:t>
            </a:r>
            <a:r>
              <a:rPr lang="en-US" altLang="en-US" sz="1600"/>
              <a:t> references.  This is a great example of polymorphic behavior.  The </a:t>
            </a:r>
            <a:r>
              <a:rPr lang="en-US" altLang="en-US" sz="1600">
                <a:latin typeface="Courier New" panose="02070309020205020404" pitchFamily="49" charset="0"/>
              </a:rPr>
              <a:t>compareTo()</a:t>
            </a:r>
            <a:r>
              <a:rPr lang="en-US" altLang="en-US" sz="1600"/>
              <a:t> method calls are made dynamically at run-time by </a:t>
            </a:r>
            <a:r>
              <a:rPr lang="en-US" altLang="en-US" sz="1600">
                <a:latin typeface="Courier New" panose="02070309020205020404" pitchFamily="49" charset="0"/>
              </a:rPr>
              <a:t>Arrays.sort()</a:t>
            </a:r>
            <a:r>
              <a:rPr lang="en-US" altLang="en-US" sz="1600"/>
              <a:t>.</a:t>
            </a:r>
          </a:p>
          <a:p>
            <a:endParaRPr lang="en-US" altLang="en-US"/>
          </a:p>
        </p:txBody>
      </p:sp>
    </p:spTree>
    <p:extLst>
      <p:ext uri="{BB962C8B-B14F-4D97-AF65-F5344CB8AC3E}">
        <p14:creationId xmlns:p14="http://schemas.microsoft.com/office/powerpoint/2010/main" val="395775672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a:extLst>
              <a:ext uri="{FF2B5EF4-FFF2-40B4-BE49-F238E27FC236}">
                <a16:creationId xmlns:a16="http://schemas.microsoft.com/office/drawing/2014/main" id="{B2171FFA-7CA2-4D9B-8043-86CC901BE4AC}"/>
              </a:ext>
            </a:extLst>
          </p:cNvPr>
          <p:cNvSpPr>
            <a:spLocks noGrp="1" noRot="1" noChangeAspect="1" noChangeArrowheads="1" noTextEdit="1"/>
          </p:cNvSpPr>
          <p:nvPr>
            <p:ph type="sldImg"/>
          </p:nvPr>
        </p:nvSpPr>
        <p:spPr>
          <a:ln/>
        </p:spPr>
      </p:sp>
      <p:sp>
        <p:nvSpPr>
          <p:cNvPr id="206851" name="Rectangle 3">
            <a:extLst>
              <a:ext uri="{FF2B5EF4-FFF2-40B4-BE49-F238E27FC236}">
                <a16:creationId xmlns:a16="http://schemas.microsoft.com/office/drawing/2014/main" id="{E5851B58-B87B-47CE-81FA-072C4CBE46DB}"/>
              </a:ext>
            </a:extLst>
          </p:cNvPr>
          <p:cNvSpPr>
            <a:spLocks noGrp="1" noChangeArrowheads="1"/>
          </p:cNvSpPr>
          <p:nvPr>
            <p:ph type="body" idx="1"/>
          </p:nvPr>
        </p:nvSpPr>
        <p:spPr/>
        <p:txBody>
          <a:bodyPr/>
          <a:lstStyle/>
          <a:p>
            <a:r>
              <a:rPr lang="en-US" altLang="en-US" sz="1600"/>
              <a:t>The selection sort sorts </a:t>
            </a:r>
            <a:r>
              <a:rPr lang="en-US" altLang="en-US" sz="1600">
                <a:latin typeface="Courier New" panose="02070309020205020404" pitchFamily="49" charset="0"/>
              </a:rPr>
              <a:t>Comparable</a:t>
            </a:r>
            <a:r>
              <a:rPr lang="en-US" altLang="en-US" sz="1600"/>
              <a:t> arrays.   Because stuff is an array of </a:t>
            </a:r>
            <a:r>
              <a:rPr lang="en-US" altLang="en-US" sz="1600">
                <a:latin typeface="Courier New" panose="02070309020205020404" pitchFamily="49" charset="0"/>
              </a:rPr>
              <a:t>Comparable</a:t>
            </a:r>
            <a:r>
              <a:rPr lang="en-US" altLang="en-US" sz="1600"/>
              <a:t>, I can write very generic code based on the </a:t>
            </a:r>
            <a:r>
              <a:rPr lang="en-US" altLang="en-US" sz="1600">
                <a:latin typeface="Courier New" panose="02070309020205020404" pitchFamily="49" charset="0"/>
              </a:rPr>
              <a:t>compareTo()</a:t>
            </a:r>
            <a:r>
              <a:rPr lang="en-US" altLang="en-US" sz="1600"/>
              <a:t> method.</a:t>
            </a:r>
          </a:p>
          <a:p>
            <a:r>
              <a:rPr lang="en-US" altLang="en-US" sz="1600"/>
              <a:t>As long as an array of </a:t>
            </a:r>
            <a:r>
              <a:rPr lang="en-US" altLang="en-US" sz="1600">
                <a:latin typeface="Courier New" panose="02070309020205020404" pitchFamily="49" charset="0"/>
              </a:rPr>
              <a:t>Comparable</a:t>
            </a:r>
            <a:r>
              <a:rPr lang="en-US" altLang="en-US" sz="1600"/>
              <a:t> references is sent in, this code will work perfectly every time.</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a:extLst>
              <a:ext uri="{FF2B5EF4-FFF2-40B4-BE49-F238E27FC236}">
                <a16:creationId xmlns:a16="http://schemas.microsoft.com/office/drawing/2014/main" id="{4EB2AEDD-B50B-4B76-B1C5-BC13924DFA6C}"/>
              </a:ext>
            </a:extLst>
          </p:cNvPr>
          <p:cNvSpPr>
            <a:spLocks noGrp="1" noRot="1" noChangeAspect="1" noChangeArrowheads="1" noTextEdit="1"/>
          </p:cNvSpPr>
          <p:nvPr>
            <p:ph type="sldImg"/>
          </p:nvPr>
        </p:nvSpPr>
        <p:spPr>
          <a:ln/>
        </p:spPr>
      </p:sp>
      <p:sp>
        <p:nvSpPr>
          <p:cNvPr id="156675" name="Rectangle 3">
            <a:extLst>
              <a:ext uri="{FF2B5EF4-FFF2-40B4-BE49-F238E27FC236}">
                <a16:creationId xmlns:a16="http://schemas.microsoft.com/office/drawing/2014/main" id="{CBDC0D28-7B61-47A9-AA2A-6C2B17CEAE9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a:extLst>
              <a:ext uri="{FF2B5EF4-FFF2-40B4-BE49-F238E27FC236}">
                <a16:creationId xmlns:a16="http://schemas.microsoft.com/office/drawing/2014/main" id="{58816878-79FD-4227-ADF4-969F2DD92041}"/>
              </a:ext>
            </a:extLst>
          </p:cNvPr>
          <p:cNvSpPr>
            <a:spLocks noGrp="1" noRot="1" noChangeAspect="1" noChangeArrowheads="1" noTextEdit="1"/>
          </p:cNvSpPr>
          <p:nvPr>
            <p:ph type="sldImg"/>
          </p:nvPr>
        </p:nvSpPr>
        <p:spPr>
          <a:ln/>
        </p:spPr>
      </p:sp>
      <p:sp>
        <p:nvSpPr>
          <p:cNvPr id="137219" name="Rectangle 3">
            <a:extLst>
              <a:ext uri="{FF2B5EF4-FFF2-40B4-BE49-F238E27FC236}">
                <a16:creationId xmlns:a16="http://schemas.microsoft.com/office/drawing/2014/main" id="{98EC3AA7-7A47-4F64-A091-30B72AC00E92}"/>
              </a:ext>
            </a:extLst>
          </p:cNvPr>
          <p:cNvSpPr>
            <a:spLocks noGrp="1" noChangeArrowheads="1"/>
          </p:cNvSpPr>
          <p:nvPr>
            <p:ph type="body" idx="1"/>
          </p:nvPr>
        </p:nvSpPr>
        <p:spPr/>
        <p:txBody>
          <a:bodyPr/>
          <a:lstStyle/>
          <a:p>
            <a:r>
              <a:rPr lang="en-US" altLang="en-US" sz="1600"/>
              <a:t>All methods listed in an interface are public abstract.   Abstract methods have no code.</a:t>
            </a:r>
          </a:p>
          <a:p>
            <a:endParaRPr lang="en-US" altLang="en-US" sz="1600"/>
          </a:p>
          <a:p>
            <a:r>
              <a:rPr lang="en-US" altLang="en-US" sz="1600"/>
              <a:t>Each abstract method listed in an interface must be implemented in the class that implements the interface.</a:t>
            </a:r>
          </a:p>
          <a:p>
            <a:endParaRPr lang="en-US" altLang="en-US" sz="1600"/>
          </a:p>
          <a:p>
            <a:r>
              <a:rPr lang="en-US" altLang="en-US" sz="1600"/>
              <a:t>All variables listed in an interface are public static final, making them final class variables.  </a:t>
            </a:r>
          </a:p>
          <a:p>
            <a:endParaRPr lang="en-US" altLang="en-US" sz="1600"/>
          </a:p>
          <a:p>
            <a:r>
              <a:rPr lang="en-US" altLang="en-US" sz="1600"/>
              <a:t>Interfaces cannot contain implemented methods, constructors, or instance variables.</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a:extLst>
              <a:ext uri="{FF2B5EF4-FFF2-40B4-BE49-F238E27FC236}">
                <a16:creationId xmlns:a16="http://schemas.microsoft.com/office/drawing/2014/main" id="{1BB77AB7-5F55-41CE-BC29-4EDFC5F0BD71}"/>
              </a:ext>
            </a:extLst>
          </p:cNvPr>
          <p:cNvSpPr>
            <a:spLocks noGrp="1" noRot="1" noChangeAspect="1" noChangeArrowheads="1" noTextEdit="1"/>
          </p:cNvSpPr>
          <p:nvPr>
            <p:ph type="sldImg"/>
          </p:nvPr>
        </p:nvSpPr>
        <p:spPr>
          <a:ln/>
        </p:spPr>
      </p:sp>
      <p:sp>
        <p:nvSpPr>
          <p:cNvPr id="178179" name="Rectangle 3">
            <a:extLst>
              <a:ext uri="{FF2B5EF4-FFF2-40B4-BE49-F238E27FC236}">
                <a16:creationId xmlns:a16="http://schemas.microsoft.com/office/drawing/2014/main" id="{191C9811-EC6C-4C1C-9A02-13B0DAC6C518}"/>
              </a:ext>
            </a:extLst>
          </p:cNvPr>
          <p:cNvSpPr>
            <a:spLocks noGrp="1" noChangeArrowheads="1"/>
          </p:cNvSpPr>
          <p:nvPr>
            <p:ph type="body" idx="1"/>
          </p:nvPr>
        </p:nvSpPr>
        <p:spPr/>
        <p:txBody>
          <a:bodyPr/>
          <a:lstStyle/>
          <a:p>
            <a:r>
              <a:rPr lang="en-US" altLang="en-US" sz="1600"/>
              <a:t>All methods listed in an interface are public abstract.   Abstract methods have no code.</a:t>
            </a:r>
          </a:p>
          <a:p>
            <a:endParaRPr lang="en-US" altLang="en-US" sz="1600"/>
          </a:p>
          <a:p>
            <a:r>
              <a:rPr lang="en-US" altLang="en-US" sz="1600"/>
              <a:t>Each abstract method listed in an interface must be implemented in the class that implements the interface.</a:t>
            </a:r>
          </a:p>
          <a:p>
            <a:endParaRPr lang="en-US" altLang="en-US" sz="1600"/>
          </a:p>
          <a:p>
            <a:r>
              <a:rPr lang="en-US" altLang="en-US" sz="1600"/>
              <a:t>All variables listed in an interface are public static final, making them final class variables.  </a:t>
            </a:r>
          </a:p>
          <a:p>
            <a:endParaRPr lang="en-US" altLang="en-US" sz="1600"/>
          </a:p>
          <a:p>
            <a:r>
              <a:rPr lang="en-US" altLang="en-US" sz="1600"/>
              <a:t>Interfaces cannot contain implemented methods, constructors, or instance variables.</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a:extLst>
              <a:ext uri="{FF2B5EF4-FFF2-40B4-BE49-F238E27FC236}">
                <a16:creationId xmlns:a16="http://schemas.microsoft.com/office/drawing/2014/main" id="{02868744-8566-4440-84DB-FB9DFB092056}"/>
              </a:ext>
            </a:extLst>
          </p:cNvPr>
          <p:cNvSpPr>
            <a:spLocks noGrp="1" noRot="1" noChangeAspect="1" noChangeArrowheads="1" noTextEdit="1"/>
          </p:cNvSpPr>
          <p:nvPr>
            <p:ph type="sldImg"/>
          </p:nvPr>
        </p:nvSpPr>
        <p:spPr>
          <a:ln/>
        </p:spPr>
      </p:sp>
      <p:sp>
        <p:nvSpPr>
          <p:cNvPr id="175107" name="Rectangle 3">
            <a:extLst>
              <a:ext uri="{FF2B5EF4-FFF2-40B4-BE49-F238E27FC236}">
                <a16:creationId xmlns:a16="http://schemas.microsoft.com/office/drawing/2014/main" id="{E721A7D4-1791-4E03-B9E4-1A3FB56F5AE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8923A691-EB67-4D07-BAD2-3420BC04CEF1}"/>
              </a:ext>
            </a:extLst>
          </p:cNvPr>
          <p:cNvSpPr>
            <a:spLocks noGrp="1" noRot="1" noChangeAspect="1" noChangeArrowheads="1" noTextEdit="1"/>
          </p:cNvSpPr>
          <p:nvPr>
            <p:ph type="sldImg"/>
          </p:nvPr>
        </p:nvSpPr>
        <p:spPr>
          <a:ln/>
        </p:spPr>
      </p:sp>
      <p:sp>
        <p:nvSpPr>
          <p:cNvPr id="96259" name="Rectangle 3">
            <a:extLst>
              <a:ext uri="{FF2B5EF4-FFF2-40B4-BE49-F238E27FC236}">
                <a16:creationId xmlns:a16="http://schemas.microsoft.com/office/drawing/2014/main" id="{952336BF-F30B-47F8-AA47-41CA47F9D70A}"/>
              </a:ext>
            </a:extLst>
          </p:cNvPr>
          <p:cNvSpPr>
            <a:spLocks noGrp="1" noChangeArrowheads="1"/>
          </p:cNvSpPr>
          <p:nvPr>
            <p:ph type="body" idx="1"/>
          </p:nvPr>
        </p:nvSpPr>
        <p:spPr>
          <a:noFill/>
          <a:ln/>
        </p:spPr>
        <p:txBody>
          <a:bodyPr/>
          <a:lstStyle/>
          <a:p>
            <a:r>
              <a:rPr lang="en-US" altLang="en-US" sz="1600"/>
              <a:t>All methods listed in an interface are public abstract.   Abstract methods have no code.</a:t>
            </a:r>
          </a:p>
          <a:p>
            <a:endParaRPr lang="en-US" altLang="en-US" sz="1600"/>
          </a:p>
          <a:p>
            <a:r>
              <a:rPr lang="en-US" altLang="en-US" sz="1600"/>
              <a:t>Each abstract method listed in an interface must be implemented in the class that implements the interface.</a:t>
            </a:r>
          </a:p>
          <a:p>
            <a:endParaRPr lang="en-US" altLang="en-US" sz="1600"/>
          </a:p>
          <a:p>
            <a:r>
              <a:rPr lang="en-US" altLang="en-US" sz="1600"/>
              <a:t>All variables listed in an interface are public static final, making them final class variables.  </a:t>
            </a:r>
          </a:p>
          <a:p>
            <a:endParaRPr lang="en-US" altLang="en-US" sz="1600"/>
          </a:p>
          <a:p>
            <a:r>
              <a:rPr lang="en-US" altLang="en-US" sz="1600"/>
              <a:t>Interfaces cannot contain implemented methods, constructors, or instance variables.</a:t>
            </a:r>
          </a:p>
          <a:p>
            <a:endParaRPr lang="en-US"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“Abstract” means it has no implementation, and “final” means it can’t be overridden in a subclass. So, the useless method can never be fixed!</a:t>
            </a:r>
          </a:p>
        </p:txBody>
      </p:sp>
    </p:spTree>
    <p:extLst>
      <p:ext uri="{BB962C8B-B14F-4D97-AF65-F5344CB8AC3E}">
        <p14:creationId xmlns:p14="http://schemas.microsoft.com/office/powerpoint/2010/main" val="408178966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calcAnswer</a:t>
            </a:r>
            <a:r>
              <a:rPr lang="en-US" dirty="0"/>
              <a:t>() is a public method in the interface, but has package level access in the class</a:t>
            </a:r>
            <a:r>
              <a:rPr lang="en-US"/>
              <a:t>. </a:t>
            </a:r>
            <a:endParaRPr lang="en-US" dirty="0"/>
          </a:p>
        </p:txBody>
      </p:sp>
    </p:spTree>
    <p:extLst>
      <p:ext uri="{BB962C8B-B14F-4D97-AF65-F5344CB8AC3E}">
        <p14:creationId xmlns:p14="http://schemas.microsoft.com/office/powerpoint/2010/main" val="14093600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calcAnswer</a:t>
            </a:r>
            <a:r>
              <a:rPr lang="en-US" dirty="0"/>
              <a:t>() is a public method in the interface, but has package level access in the class. </a:t>
            </a:r>
          </a:p>
          <a:p>
            <a:r>
              <a:rPr lang="en-US" dirty="0"/>
              <a:t>This can’t happen. You can’t make the access level more restrictive, only less so.</a:t>
            </a:r>
          </a:p>
          <a:p>
            <a:r>
              <a:rPr lang="en-US" dirty="0"/>
              <a:t>This applies to all inheritance situations, including extending a class.</a:t>
            </a:r>
          </a:p>
          <a:p>
            <a:endParaRPr lang="en-US" dirty="0"/>
          </a:p>
        </p:txBody>
      </p:sp>
    </p:spTree>
    <p:extLst>
      <p:ext uri="{BB962C8B-B14F-4D97-AF65-F5344CB8AC3E}">
        <p14:creationId xmlns:p14="http://schemas.microsoft.com/office/powerpoint/2010/main" val="144771173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calcAnswer</a:t>
            </a:r>
            <a:r>
              <a:rPr lang="en-US" dirty="0"/>
              <a:t>() is a public method in the interface, but has package level access in the class. </a:t>
            </a:r>
          </a:p>
          <a:p>
            <a:r>
              <a:rPr lang="en-US" dirty="0"/>
              <a:t>This can’t happen. You can’t make the access level more restrictive, only less so.</a:t>
            </a:r>
          </a:p>
          <a:p>
            <a:r>
              <a:rPr lang="en-US" dirty="0"/>
              <a:t>This applies to all inheritance situations, including extending a class.</a:t>
            </a:r>
          </a:p>
        </p:txBody>
      </p:sp>
    </p:spTree>
    <p:extLst>
      <p:ext uri="{BB962C8B-B14F-4D97-AF65-F5344CB8AC3E}">
        <p14:creationId xmlns:p14="http://schemas.microsoft.com/office/powerpoint/2010/main" val="38585010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95C64-87B5-45EC-8800-5548194A45BA}"/>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CFE92FF-1295-4BA5-A977-81DE887F0ADF}"/>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7AE6A6F-73C6-492C-905C-B64F3B65C672}"/>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45671FBC-3207-4E50-B9F1-DD1979E2F494}"/>
              </a:ext>
            </a:extLst>
          </p:cNvPr>
          <p:cNvSpPr>
            <a:spLocks noGrp="1"/>
          </p:cNvSpPr>
          <p:nvPr>
            <p:ph type="sldNum" sz="quarter" idx="11"/>
          </p:nvPr>
        </p:nvSpPr>
        <p:spPr/>
        <p:txBody>
          <a:bodyPr/>
          <a:lstStyle>
            <a:lvl1pPr>
              <a:defRPr/>
            </a:lvl1pPr>
          </a:lstStyle>
          <a:p>
            <a:fld id="{9D35CD04-A742-40F5-98D2-34F7E88B02B3}" type="slidenum">
              <a:rPr lang="en-US" altLang="en-US"/>
              <a:pPr/>
              <a:t>‹#›</a:t>
            </a:fld>
            <a:endParaRPr lang="en-US" altLang="en-US"/>
          </a:p>
        </p:txBody>
      </p:sp>
      <p:sp>
        <p:nvSpPr>
          <p:cNvPr id="6" name="Footer Placeholder 5">
            <a:extLst>
              <a:ext uri="{FF2B5EF4-FFF2-40B4-BE49-F238E27FC236}">
                <a16:creationId xmlns:a16="http://schemas.microsoft.com/office/drawing/2014/main" id="{A7A7C7B7-A504-4385-931E-E47475FB082B}"/>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1595474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D504D-3687-4D3F-BD72-A8FD7F870F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4C72F4-A9B1-46AC-8AD0-C9233E83E9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580FD2-8DC5-42C9-A173-A533DAE9F8E1}"/>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7C5BE66B-901B-4AC1-8E92-AF14AC0BAB04}"/>
              </a:ext>
            </a:extLst>
          </p:cNvPr>
          <p:cNvSpPr>
            <a:spLocks noGrp="1"/>
          </p:cNvSpPr>
          <p:nvPr>
            <p:ph type="sldNum" sz="quarter" idx="11"/>
          </p:nvPr>
        </p:nvSpPr>
        <p:spPr/>
        <p:txBody>
          <a:bodyPr/>
          <a:lstStyle>
            <a:lvl1pPr>
              <a:defRPr/>
            </a:lvl1pPr>
          </a:lstStyle>
          <a:p>
            <a:fld id="{96FF23BB-C5F3-4169-8CED-04304C0F4773}" type="slidenum">
              <a:rPr lang="en-US" altLang="en-US"/>
              <a:pPr/>
              <a:t>‹#›</a:t>
            </a:fld>
            <a:endParaRPr lang="en-US" altLang="en-US"/>
          </a:p>
        </p:txBody>
      </p:sp>
      <p:sp>
        <p:nvSpPr>
          <p:cNvPr id="6" name="Footer Placeholder 5">
            <a:extLst>
              <a:ext uri="{FF2B5EF4-FFF2-40B4-BE49-F238E27FC236}">
                <a16:creationId xmlns:a16="http://schemas.microsoft.com/office/drawing/2014/main" id="{E1999344-8481-450E-B425-D9551B2CE8B8}"/>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3800342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CBCB4-6E38-43C4-9921-93103D6EF7E2}"/>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6D9420E-F4A8-4AC8-8EC2-E20C01C5154A}"/>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DE587E4B-A067-4E8D-94B3-2188D2AFE900}"/>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C2CDA12D-0594-436B-9138-BA786B45C489}"/>
              </a:ext>
            </a:extLst>
          </p:cNvPr>
          <p:cNvSpPr>
            <a:spLocks noGrp="1"/>
          </p:cNvSpPr>
          <p:nvPr>
            <p:ph type="sldNum" sz="quarter" idx="11"/>
          </p:nvPr>
        </p:nvSpPr>
        <p:spPr/>
        <p:txBody>
          <a:bodyPr/>
          <a:lstStyle>
            <a:lvl1pPr>
              <a:defRPr/>
            </a:lvl1pPr>
          </a:lstStyle>
          <a:p>
            <a:fld id="{2BCD0480-CE55-448A-9631-3C72E4857BF0}" type="slidenum">
              <a:rPr lang="en-US" altLang="en-US"/>
              <a:pPr/>
              <a:t>‹#›</a:t>
            </a:fld>
            <a:endParaRPr lang="en-US" altLang="en-US"/>
          </a:p>
        </p:txBody>
      </p:sp>
      <p:sp>
        <p:nvSpPr>
          <p:cNvPr id="6" name="Footer Placeholder 5">
            <a:extLst>
              <a:ext uri="{FF2B5EF4-FFF2-40B4-BE49-F238E27FC236}">
                <a16:creationId xmlns:a16="http://schemas.microsoft.com/office/drawing/2014/main" id="{DBA85C44-2CC4-414E-9BDC-4AF25F21E784}"/>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39834788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2D3C4-CC81-4638-A376-84C3A078DB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4B33C26-F75C-4EEA-9E4D-5CCADB9FDD13}"/>
              </a:ext>
            </a:extLst>
          </p:cNvPr>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5047126-E3AA-4217-892E-309FA9B3BD68}"/>
              </a:ext>
            </a:extLst>
          </p:cNvPr>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73B8D1-F43F-460D-A811-4271690909D9}"/>
              </a:ext>
            </a:extLst>
          </p:cNvPr>
          <p:cNvSpPr>
            <a:spLocks noGrp="1"/>
          </p:cNvSpPr>
          <p:nvPr>
            <p:ph type="dt" sz="half" idx="10"/>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AC7165C4-5CC5-465E-810F-DF15D187F6A8}"/>
              </a:ext>
            </a:extLst>
          </p:cNvPr>
          <p:cNvSpPr>
            <a:spLocks noGrp="1"/>
          </p:cNvSpPr>
          <p:nvPr>
            <p:ph type="sldNum" sz="quarter" idx="11"/>
          </p:nvPr>
        </p:nvSpPr>
        <p:spPr/>
        <p:txBody>
          <a:bodyPr/>
          <a:lstStyle>
            <a:lvl1pPr>
              <a:defRPr/>
            </a:lvl1pPr>
          </a:lstStyle>
          <a:p>
            <a:fld id="{D653B78E-F85F-4B51-9BC1-4A3D1BEFF767}" type="slidenum">
              <a:rPr lang="en-US" altLang="en-US"/>
              <a:pPr/>
              <a:t>‹#›</a:t>
            </a:fld>
            <a:endParaRPr lang="en-US" altLang="en-US"/>
          </a:p>
        </p:txBody>
      </p:sp>
      <p:sp>
        <p:nvSpPr>
          <p:cNvPr id="7" name="Footer Placeholder 6">
            <a:extLst>
              <a:ext uri="{FF2B5EF4-FFF2-40B4-BE49-F238E27FC236}">
                <a16:creationId xmlns:a16="http://schemas.microsoft.com/office/drawing/2014/main" id="{31309C2B-7732-4E0A-B57D-137789B049BD}"/>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3237447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82BAD-72A2-41C1-8A78-E22CBB18F178}"/>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5021D4D-53BC-4DBB-84EB-2AABC370EEC4}"/>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3BC23F-B304-4032-8807-88F6352AD2E8}"/>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0720129-D346-4195-8994-704EF8B1C5A6}"/>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E60DE5-02B6-406C-A96C-D6B744BAEE5A}"/>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35B4000-8200-4477-BBCB-081B7C51D078}"/>
              </a:ext>
            </a:extLst>
          </p:cNvPr>
          <p:cNvSpPr>
            <a:spLocks noGrp="1"/>
          </p:cNvSpPr>
          <p:nvPr>
            <p:ph type="dt" sz="half" idx="10"/>
          </p:nvPr>
        </p:nvSpPr>
        <p:spPr/>
        <p:txBody>
          <a:bodyPr/>
          <a:lstStyle>
            <a:lvl1pPr>
              <a:defRPr/>
            </a:lvl1pPr>
          </a:lstStyle>
          <a:p>
            <a:endParaRPr lang="en-US" altLang="en-US"/>
          </a:p>
        </p:txBody>
      </p:sp>
      <p:sp>
        <p:nvSpPr>
          <p:cNvPr id="8" name="Slide Number Placeholder 7">
            <a:extLst>
              <a:ext uri="{FF2B5EF4-FFF2-40B4-BE49-F238E27FC236}">
                <a16:creationId xmlns:a16="http://schemas.microsoft.com/office/drawing/2014/main" id="{004A8FDB-2B4C-4D41-8611-B98E270EA5BC}"/>
              </a:ext>
            </a:extLst>
          </p:cNvPr>
          <p:cNvSpPr>
            <a:spLocks noGrp="1"/>
          </p:cNvSpPr>
          <p:nvPr>
            <p:ph type="sldNum" sz="quarter" idx="11"/>
          </p:nvPr>
        </p:nvSpPr>
        <p:spPr/>
        <p:txBody>
          <a:bodyPr/>
          <a:lstStyle>
            <a:lvl1pPr>
              <a:defRPr/>
            </a:lvl1pPr>
          </a:lstStyle>
          <a:p>
            <a:fld id="{164D0588-9D7A-4D0C-82DB-AF434FCC7F49}" type="slidenum">
              <a:rPr lang="en-US" altLang="en-US"/>
              <a:pPr/>
              <a:t>‹#›</a:t>
            </a:fld>
            <a:endParaRPr lang="en-US" altLang="en-US"/>
          </a:p>
        </p:txBody>
      </p:sp>
      <p:sp>
        <p:nvSpPr>
          <p:cNvPr id="9" name="Footer Placeholder 8">
            <a:extLst>
              <a:ext uri="{FF2B5EF4-FFF2-40B4-BE49-F238E27FC236}">
                <a16:creationId xmlns:a16="http://schemas.microsoft.com/office/drawing/2014/main" id="{3042C709-772B-4C1B-B0E7-C17AAFEB9AB1}"/>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777583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8732F-C397-4707-8D20-35C9DCE6C3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A32989-F540-4127-B8A1-25E42D01BE03}"/>
              </a:ext>
            </a:extLst>
          </p:cNvPr>
          <p:cNvSpPr>
            <a:spLocks noGrp="1"/>
          </p:cNvSpPr>
          <p:nvPr>
            <p:ph type="dt" sz="half" idx="10"/>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2F821AD8-0D92-4FC9-917E-DEF1A5CDBD03}"/>
              </a:ext>
            </a:extLst>
          </p:cNvPr>
          <p:cNvSpPr>
            <a:spLocks noGrp="1"/>
          </p:cNvSpPr>
          <p:nvPr>
            <p:ph type="sldNum" sz="quarter" idx="11"/>
          </p:nvPr>
        </p:nvSpPr>
        <p:spPr/>
        <p:txBody>
          <a:bodyPr/>
          <a:lstStyle>
            <a:lvl1pPr>
              <a:defRPr/>
            </a:lvl1pPr>
          </a:lstStyle>
          <a:p>
            <a:fld id="{39C087E4-2C53-4EB3-9F91-7B3CAF6D90E9}" type="slidenum">
              <a:rPr lang="en-US" altLang="en-US"/>
              <a:pPr/>
              <a:t>‹#›</a:t>
            </a:fld>
            <a:endParaRPr lang="en-US" altLang="en-US"/>
          </a:p>
        </p:txBody>
      </p:sp>
      <p:sp>
        <p:nvSpPr>
          <p:cNvPr id="5" name="Footer Placeholder 4">
            <a:extLst>
              <a:ext uri="{FF2B5EF4-FFF2-40B4-BE49-F238E27FC236}">
                <a16:creationId xmlns:a16="http://schemas.microsoft.com/office/drawing/2014/main" id="{5646AEAE-6212-429A-B4E8-E14254BB95BD}"/>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3825346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5A3E29-640D-4CCB-801B-BC10F87BFA99}"/>
              </a:ext>
            </a:extLst>
          </p:cNvPr>
          <p:cNvSpPr>
            <a:spLocks noGrp="1"/>
          </p:cNvSpPr>
          <p:nvPr>
            <p:ph type="dt" sz="half" idx="10"/>
          </p:nvPr>
        </p:nvSpPr>
        <p:spPr/>
        <p:txBody>
          <a:bodyPr/>
          <a:lstStyle>
            <a:lvl1pPr>
              <a:defRPr/>
            </a:lvl1pPr>
          </a:lstStyle>
          <a:p>
            <a:endParaRPr lang="en-US" altLang="en-US"/>
          </a:p>
        </p:txBody>
      </p:sp>
      <p:sp>
        <p:nvSpPr>
          <p:cNvPr id="3" name="Slide Number Placeholder 2">
            <a:extLst>
              <a:ext uri="{FF2B5EF4-FFF2-40B4-BE49-F238E27FC236}">
                <a16:creationId xmlns:a16="http://schemas.microsoft.com/office/drawing/2014/main" id="{416B8C62-BD17-4994-A304-6E26695BA9E1}"/>
              </a:ext>
            </a:extLst>
          </p:cNvPr>
          <p:cNvSpPr>
            <a:spLocks noGrp="1"/>
          </p:cNvSpPr>
          <p:nvPr>
            <p:ph type="sldNum" sz="quarter" idx="11"/>
          </p:nvPr>
        </p:nvSpPr>
        <p:spPr/>
        <p:txBody>
          <a:bodyPr/>
          <a:lstStyle>
            <a:lvl1pPr>
              <a:defRPr/>
            </a:lvl1pPr>
          </a:lstStyle>
          <a:p>
            <a:fld id="{EBA53652-5EC9-4BFF-9B18-4AE23DEA856A}" type="slidenum">
              <a:rPr lang="en-US" altLang="en-US"/>
              <a:pPr/>
              <a:t>‹#›</a:t>
            </a:fld>
            <a:endParaRPr lang="en-US" altLang="en-US"/>
          </a:p>
        </p:txBody>
      </p:sp>
      <p:sp>
        <p:nvSpPr>
          <p:cNvPr id="4" name="Footer Placeholder 3">
            <a:extLst>
              <a:ext uri="{FF2B5EF4-FFF2-40B4-BE49-F238E27FC236}">
                <a16:creationId xmlns:a16="http://schemas.microsoft.com/office/drawing/2014/main" id="{CA865639-4179-47AB-9E5F-14D208106A1B}"/>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681038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4007D-5F73-40AD-9281-ED3ACC8611D8}"/>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83105D1-AA8E-4AF6-8AA9-7233901DE18B}"/>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FD1596-D40F-45F5-B922-EC891F1C96AB}"/>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63C964-FD6F-4266-8C64-98572671D4BF}"/>
              </a:ext>
            </a:extLst>
          </p:cNvPr>
          <p:cNvSpPr>
            <a:spLocks noGrp="1"/>
          </p:cNvSpPr>
          <p:nvPr>
            <p:ph type="dt" sz="half" idx="10"/>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09804783-D625-489D-956A-5709A8130A8B}"/>
              </a:ext>
            </a:extLst>
          </p:cNvPr>
          <p:cNvSpPr>
            <a:spLocks noGrp="1"/>
          </p:cNvSpPr>
          <p:nvPr>
            <p:ph type="sldNum" sz="quarter" idx="11"/>
          </p:nvPr>
        </p:nvSpPr>
        <p:spPr/>
        <p:txBody>
          <a:bodyPr/>
          <a:lstStyle>
            <a:lvl1pPr>
              <a:defRPr/>
            </a:lvl1pPr>
          </a:lstStyle>
          <a:p>
            <a:fld id="{A3BD152A-AB58-4CFA-963E-D8F8104849B6}" type="slidenum">
              <a:rPr lang="en-US" altLang="en-US"/>
              <a:pPr/>
              <a:t>‹#›</a:t>
            </a:fld>
            <a:endParaRPr lang="en-US" altLang="en-US"/>
          </a:p>
        </p:txBody>
      </p:sp>
      <p:sp>
        <p:nvSpPr>
          <p:cNvPr id="7" name="Footer Placeholder 6">
            <a:extLst>
              <a:ext uri="{FF2B5EF4-FFF2-40B4-BE49-F238E27FC236}">
                <a16:creationId xmlns:a16="http://schemas.microsoft.com/office/drawing/2014/main" id="{28B06BFB-38CD-4ED1-A45D-3DC1A81AA6C0}"/>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1135760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D0510-4C13-4B69-A1FA-0EBB0702DB7E}"/>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ABC7F2-1E1A-4422-B5AC-284289062ADF}"/>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A80E81C-0E79-46F3-A0BB-472DC38E0272}"/>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8B7246-8994-4E2E-B358-C5130E696EE7}"/>
              </a:ext>
            </a:extLst>
          </p:cNvPr>
          <p:cNvSpPr>
            <a:spLocks noGrp="1"/>
          </p:cNvSpPr>
          <p:nvPr>
            <p:ph type="dt" sz="half" idx="10"/>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0475F288-4A3D-46E0-93BB-BF384D611096}"/>
              </a:ext>
            </a:extLst>
          </p:cNvPr>
          <p:cNvSpPr>
            <a:spLocks noGrp="1"/>
          </p:cNvSpPr>
          <p:nvPr>
            <p:ph type="sldNum" sz="quarter" idx="11"/>
          </p:nvPr>
        </p:nvSpPr>
        <p:spPr/>
        <p:txBody>
          <a:bodyPr/>
          <a:lstStyle>
            <a:lvl1pPr>
              <a:defRPr/>
            </a:lvl1pPr>
          </a:lstStyle>
          <a:p>
            <a:fld id="{0206F42B-5442-4398-A9F4-6CA010D0CF6D}" type="slidenum">
              <a:rPr lang="en-US" altLang="en-US"/>
              <a:pPr/>
              <a:t>‹#›</a:t>
            </a:fld>
            <a:endParaRPr lang="en-US" altLang="en-US"/>
          </a:p>
        </p:txBody>
      </p:sp>
      <p:sp>
        <p:nvSpPr>
          <p:cNvPr id="7" name="Footer Placeholder 6">
            <a:extLst>
              <a:ext uri="{FF2B5EF4-FFF2-40B4-BE49-F238E27FC236}">
                <a16:creationId xmlns:a16="http://schemas.microsoft.com/office/drawing/2014/main" id="{9E5BC27E-D61D-4884-B06B-8CA66193A77B}"/>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2896144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D4472-EC5C-477A-93B1-022E4528A5F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C681608-C4E0-48A4-93F1-37AA99DE5E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99BAFD-B394-46DF-907A-3FF172878544}"/>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1E214554-B930-485A-98C8-ADC8713528EE}"/>
              </a:ext>
            </a:extLst>
          </p:cNvPr>
          <p:cNvSpPr>
            <a:spLocks noGrp="1"/>
          </p:cNvSpPr>
          <p:nvPr>
            <p:ph type="sldNum" sz="quarter" idx="11"/>
          </p:nvPr>
        </p:nvSpPr>
        <p:spPr/>
        <p:txBody>
          <a:bodyPr/>
          <a:lstStyle>
            <a:lvl1pPr>
              <a:defRPr/>
            </a:lvl1pPr>
          </a:lstStyle>
          <a:p>
            <a:fld id="{2BE15174-5903-4E96-831C-4B01590BD952}" type="slidenum">
              <a:rPr lang="en-US" altLang="en-US"/>
              <a:pPr/>
              <a:t>‹#›</a:t>
            </a:fld>
            <a:endParaRPr lang="en-US" altLang="en-US"/>
          </a:p>
        </p:txBody>
      </p:sp>
      <p:sp>
        <p:nvSpPr>
          <p:cNvPr id="6" name="Footer Placeholder 5">
            <a:extLst>
              <a:ext uri="{FF2B5EF4-FFF2-40B4-BE49-F238E27FC236}">
                <a16:creationId xmlns:a16="http://schemas.microsoft.com/office/drawing/2014/main" id="{13B5DC8C-6EF6-4CBF-8968-547E25CE0549}"/>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2701099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6F299F-E3B3-4D88-8493-3F9217538306}"/>
              </a:ext>
            </a:extLst>
          </p:cNvPr>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84B9A3-D4CB-45BE-BCF4-574E4EF68AB4}"/>
              </a:ext>
            </a:extLst>
          </p:cNvPr>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AC499A-13AD-43F3-80CE-5B6D5217811D}"/>
              </a:ext>
            </a:extLst>
          </p:cNvPr>
          <p:cNvSpPr>
            <a:spLocks noGrp="1"/>
          </p:cNvSpPr>
          <p:nvPr>
            <p:ph type="dt" sz="half" idx="10"/>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446E4931-7244-4A55-943A-F1F4B7E93263}"/>
              </a:ext>
            </a:extLst>
          </p:cNvPr>
          <p:cNvSpPr>
            <a:spLocks noGrp="1"/>
          </p:cNvSpPr>
          <p:nvPr>
            <p:ph type="sldNum" sz="quarter" idx="11"/>
          </p:nvPr>
        </p:nvSpPr>
        <p:spPr/>
        <p:txBody>
          <a:bodyPr/>
          <a:lstStyle>
            <a:lvl1pPr>
              <a:defRPr/>
            </a:lvl1pPr>
          </a:lstStyle>
          <a:p>
            <a:fld id="{CC9BCF1D-322C-4F09-87F4-20B4B3BF905E}" type="slidenum">
              <a:rPr lang="en-US" altLang="en-US"/>
              <a:pPr/>
              <a:t>‹#›</a:t>
            </a:fld>
            <a:endParaRPr lang="en-US" altLang="en-US"/>
          </a:p>
        </p:txBody>
      </p:sp>
      <p:sp>
        <p:nvSpPr>
          <p:cNvPr id="6" name="Footer Placeholder 5">
            <a:extLst>
              <a:ext uri="{FF2B5EF4-FFF2-40B4-BE49-F238E27FC236}">
                <a16:creationId xmlns:a16="http://schemas.microsoft.com/office/drawing/2014/main" id="{D8D2D200-6BEE-4CEC-821E-8E6499C7C187}"/>
              </a:ext>
            </a:extLst>
          </p:cNvPr>
          <p:cNvSpPr>
            <a:spLocks noGrp="1"/>
          </p:cNvSpPr>
          <p:nvPr>
            <p:ph type="ftr" sz="quarter" idx="12"/>
          </p:nvPr>
        </p:nvSpPr>
        <p:spPr/>
        <p:txBody>
          <a:bodyPr/>
          <a:lstStyle>
            <a:lvl1pPr>
              <a:defRPr b="0">
                <a:latin typeface="Tahoma" panose="020B0604030504040204" pitchFamily="34" charset="0"/>
              </a:defRPr>
            </a:lvl1pPr>
          </a:lstStyle>
          <a:p>
            <a:endParaRPr lang="en-US" altLang="en-US" b="1">
              <a:latin typeface="+mn-lt"/>
            </a:endParaRPr>
          </a:p>
          <a:p>
            <a:endParaRPr lang="en-US" altLang="en-US"/>
          </a:p>
          <a:p>
            <a:endParaRPr lang="en-US" altLang="en-US" b="1"/>
          </a:p>
          <a:p>
            <a:r>
              <a:rPr lang="en-US" altLang="en-US" b="1"/>
              <a:t>© A+ Computer Science  -  www.apluscompsci.com</a:t>
            </a:r>
          </a:p>
        </p:txBody>
      </p:sp>
    </p:spTree>
    <p:extLst>
      <p:ext uri="{BB962C8B-B14F-4D97-AF65-F5344CB8AC3E}">
        <p14:creationId xmlns:p14="http://schemas.microsoft.com/office/powerpoint/2010/main" val="39389756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a:t>Click to edit Master title style</a:t>
            </a:r>
          </a:p>
        </p:txBody>
      </p:sp>
      <p:sp>
        <p:nvSpPr>
          <p:cNvPr id="3" name="Table Placeholder 2"/>
          <p:cNvSpPr>
            <a:spLocks noGrp="1"/>
          </p:cNvSpPr>
          <p:nvPr>
            <p:ph type="tbl" idx="1"/>
          </p:nvPr>
        </p:nvSpPr>
        <p:spPr>
          <a:xfrm>
            <a:off x="685800" y="1981200"/>
            <a:ext cx="7772400" cy="4114800"/>
          </a:xfrm>
        </p:spPr>
        <p:txBody>
          <a:bodyPr/>
          <a:lstStyle/>
          <a:p>
            <a:pPr lvl="0"/>
            <a:endParaRPr lang="en-US" noProof="0"/>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Slide Number Placeholder 4"/>
          <p:cNvSpPr>
            <a:spLocks noGrp="1"/>
          </p:cNvSpPr>
          <p:nvPr>
            <p:ph type="sldNum" sz="quarter" idx="11"/>
          </p:nvPr>
        </p:nvSpPr>
        <p:spPr/>
        <p:txBody>
          <a:bodyPr/>
          <a:lstStyle>
            <a:lvl1pPr>
              <a:defRPr/>
            </a:lvl1pPr>
          </a:lstStyle>
          <a:p>
            <a:pPr>
              <a:defRPr/>
            </a:pPr>
            <a:fld id="{3ED98D48-FA85-41FE-B471-F406F1568E18}" type="slidenum">
              <a:rPr lang="en-US" altLang="en-US"/>
              <a:pPr>
                <a:defRPr/>
              </a:pPr>
              <a:t>‹#›</a:t>
            </a:fld>
            <a:endParaRPr lang="en-US" altLang="en-US"/>
          </a:p>
        </p:txBody>
      </p:sp>
      <p:sp>
        <p:nvSpPr>
          <p:cNvPr id="6" name="Footer Placeholder 5"/>
          <p:cNvSpPr>
            <a:spLocks noGrp="1"/>
          </p:cNvSpPr>
          <p:nvPr>
            <p:ph type="ftr" sz="quarter" idx="12"/>
          </p:nvPr>
        </p:nvSpPr>
        <p:spPr/>
        <p:txBody>
          <a:bodyPr/>
          <a:lstStyle>
            <a:lvl1pPr>
              <a:defRPr b="1">
                <a:latin typeface="Tahoma" pitchFamily="34" charset="0"/>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138756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645AECFC-27A2-4290-95CC-0B9AC6AAA15D}"/>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079FCCAF-2A01-4FDC-870A-A4198DB920E7}"/>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36A84978-95EE-4BC4-97C2-E62EDBAA601E}"/>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atin typeface="+mn-lt"/>
              </a:defRPr>
            </a:lvl1pPr>
          </a:lstStyle>
          <a:p>
            <a:endParaRPr lang="en-US" altLang="en-US"/>
          </a:p>
        </p:txBody>
      </p:sp>
      <p:sp>
        <p:nvSpPr>
          <p:cNvPr id="1030" name="Rectangle 6">
            <a:extLst>
              <a:ext uri="{FF2B5EF4-FFF2-40B4-BE49-F238E27FC236}">
                <a16:creationId xmlns:a16="http://schemas.microsoft.com/office/drawing/2014/main" id="{14DB3F5C-E8A6-4B9F-8B77-7B49F7732173}"/>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atin typeface="+mn-lt"/>
              </a:defRPr>
            </a:lvl1pPr>
          </a:lstStyle>
          <a:p>
            <a:fld id="{13CB3114-C76D-4197-BAB3-C0227B6868E1}" type="slidenum">
              <a:rPr lang="en-US" altLang="en-US"/>
              <a:pPr/>
              <a:t>‹#›</a:t>
            </a:fld>
            <a:endParaRPr lang="en-US" altLang="en-US"/>
          </a:p>
        </p:txBody>
      </p:sp>
      <p:sp>
        <p:nvSpPr>
          <p:cNvPr id="1031" name="Rectangle 7">
            <a:extLst>
              <a:ext uri="{FF2B5EF4-FFF2-40B4-BE49-F238E27FC236}">
                <a16:creationId xmlns:a16="http://schemas.microsoft.com/office/drawing/2014/main" id="{0484AF92-3B09-4A7D-AB7A-5D2E2578F13B}"/>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800" b="1">
                <a:latin typeface="+mn-lt"/>
              </a:defRPr>
            </a:lvl1pPr>
          </a:lstStyle>
          <a:p>
            <a:endParaRPr lang="en-US" altLang="en-US"/>
          </a:p>
          <a:p>
            <a:endParaRPr lang="en-US" altLang="en-US" b="0">
              <a:latin typeface="Tahoma" panose="020B0604030504040204" pitchFamily="34" charset="0"/>
            </a:endParaRPr>
          </a:p>
          <a:p>
            <a:endParaRPr lang="en-US" altLang="en-US">
              <a:latin typeface="Tahoma" panose="020B0604030504040204" pitchFamily="34" charset="0"/>
            </a:endParaRPr>
          </a:p>
          <a:p>
            <a:r>
              <a:rPr lang="en-US" altLang="en-US">
                <a:latin typeface="Tahoma" panose="020B0604030504040204" pitchFamily="34" charset="0"/>
              </a:rPr>
              <a:t>© A+ Computer Science  -  www.apluscompsci.com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anose="02020603050405020304" pitchFamily="18" charset="0"/>
        </a:defRPr>
      </a:lvl2pPr>
      <a:lvl3pPr algn="ctr" rtl="0" fontAlgn="base">
        <a:spcBef>
          <a:spcPct val="0"/>
        </a:spcBef>
        <a:spcAft>
          <a:spcPct val="0"/>
        </a:spcAft>
        <a:defRPr sz="4400">
          <a:solidFill>
            <a:schemeClr val="tx2"/>
          </a:solidFill>
          <a:latin typeface="Times New Roman" panose="02020603050405020304" pitchFamily="18" charset="0"/>
        </a:defRPr>
      </a:lvl3pPr>
      <a:lvl4pPr algn="ctr" rtl="0" fontAlgn="base">
        <a:spcBef>
          <a:spcPct val="0"/>
        </a:spcBef>
        <a:spcAft>
          <a:spcPct val="0"/>
        </a:spcAft>
        <a:defRPr sz="4400">
          <a:solidFill>
            <a:schemeClr val="tx2"/>
          </a:solidFill>
          <a:latin typeface="Times New Roman" panose="02020603050405020304" pitchFamily="18" charset="0"/>
        </a:defRPr>
      </a:lvl4pPr>
      <a:lvl5pPr algn="ctr" rtl="0" fontAlgn="base">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hyperlink" Target="https://docs.oracle.com/javase/7/docs/api/java/util/List.html" TargetMode="External"/><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FD1CD2E1-B324-4D6F-9288-F580DA414603}"/>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0242" name="WordArt 1026">
            <a:extLst>
              <a:ext uri="{FF2B5EF4-FFF2-40B4-BE49-F238E27FC236}">
                <a16:creationId xmlns:a16="http://schemas.microsoft.com/office/drawing/2014/main" id="{4D751062-96B6-4BF4-A025-10CD0DEFDAE9}"/>
              </a:ext>
            </a:extLst>
          </p:cNvPr>
          <p:cNvSpPr>
            <a:spLocks noChangeArrowheads="1" noChangeShapeType="1" noTextEdit="1"/>
          </p:cNvSpPr>
          <p:nvPr/>
        </p:nvSpPr>
        <p:spPr bwMode="auto">
          <a:xfrm>
            <a:off x="685800" y="2362200"/>
            <a:ext cx="7620000" cy="1371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Interfaces</a:t>
            </a:r>
          </a:p>
        </p:txBody>
      </p:sp>
      <p:sp>
        <p:nvSpPr>
          <p:cNvPr id="10243" name="WordArt 1027">
            <a:extLst>
              <a:ext uri="{FF2B5EF4-FFF2-40B4-BE49-F238E27FC236}">
                <a16:creationId xmlns:a16="http://schemas.microsoft.com/office/drawing/2014/main" id="{064DD6ED-5466-458C-98F0-A28DF39E108F}"/>
              </a:ext>
            </a:extLst>
          </p:cNvPr>
          <p:cNvSpPr>
            <a:spLocks noChangeArrowheads="1" noChangeShapeType="1" noTextEdit="1"/>
          </p:cNvSpPr>
          <p:nvPr/>
        </p:nvSpPr>
        <p:spPr bwMode="auto">
          <a:xfrm>
            <a:off x="6400800" y="6324600"/>
            <a:ext cx="2438400" cy="304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80"/>
                </a:solidFill>
                <a:effectLst>
                  <a:outerShdw dist="35921" dir="2700000" algn="ctr" rotWithShape="0">
                    <a:srgbClr val="C0C0C0"/>
                  </a:outerShdw>
                </a:effectLst>
                <a:latin typeface="Impact" panose="020B0806030902050204" pitchFamily="34" charset="0"/>
              </a:rPr>
              <a:t>Labs 06 and 23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44CF3-A39D-AE9D-5F91-B71E9C989EE5}"/>
              </a:ext>
            </a:extLst>
          </p:cNvPr>
          <p:cNvSpPr>
            <a:spLocks noGrp="1"/>
          </p:cNvSpPr>
          <p:nvPr>
            <p:ph type="ctrTitle"/>
          </p:nvPr>
        </p:nvSpPr>
        <p:spPr>
          <a:xfrm>
            <a:off x="3162300" y="62060"/>
            <a:ext cx="2895600" cy="782637"/>
          </a:xfrm>
        </p:spPr>
        <p:txBody>
          <a:bodyPr/>
          <a:lstStyle/>
          <a:p>
            <a:r>
              <a:rPr lang="en-US" sz="4400" b="1" dirty="0">
                <a:latin typeface="Inter"/>
              </a:rPr>
              <a:t>interface</a:t>
            </a:r>
          </a:p>
        </p:txBody>
      </p:sp>
      <p:sp>
        <p:nvSpPr>
          <p:cNvPr id="5" name="Rectangle 1">
            <a:extLst>
              <a:ext uri="{FF2B5EF4-FFF2-40B4-BE49-F238E27FC236}">
                <a16:creationId xmlns:a16="http://schemas.microsoft.com/office/drawing/2014/main" id="{C8A12BFE-609A-67C8-8FAB-700AAAEC7506}"/>
              </a:ext>
            </a:extLst>
          </p:cNvPr>
          <p:cNvSpPr>
            <a:spLocks noGrp="1" noChangeArrowheads="1"/>
          </p:cNvSpPr>
          <p:nvPr>
            <p:ph type="subTitle" idx="1"/>
          </p:nvPr>
        </p:nvSpPr>
        <p:spPr bwMode="auto">
          <a:xfrm>
            <a:off x="304800" y="879333"/>
            <a:ext cx="8610600" cy="5597668"/>
          </a:xfrm>
          <a:prstGeom prst="rect">
            <a:avLst/>
          </a:prstGeom>
          <a:solidFill>
            <a:srgbClr val="F8F8F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5698" tIns="19044" rIns="91440" bIns="38088"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333333"/>
                </a:solidFill>
                <a:effectLst/>
                <a:latin typeface="Inter"/>
              </a:rPr>
              <a:t>verb</a:t>
            </a:r>
            <a:endParaRPr kumimoji="0" lang="en-US" altLang="en-US" sz="2800" b="0" i="0" u="none" strike="noStrike" cap="none" normalizeH="0" baseline="0" dirty="0">
              <a:ln>
                <a:noFill/>
              </a:ln>
              <a:solidFill>
                <a:srgbClr val="333333"/>
              </a:solidFill>
              <a:effectLst/>
              <a:latin typeface="Inter"/>
            </a:endParaRPr>
          </a:p>
          <a:p>
            <a:pPr marL="514350" marR="0" lvl="1"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0" i="0" u="none" strike="noStrike" cap="none" normalizeH="0" baseline="0" dirty="0">
                <a:ln>
                  <a:noFill/>
                </a:ln>
                <a:solidFill>
                  <a:srgbClr val="333333"/>
                </a:solidFill>
                <a:effectLst/>
                <a:latin typeface="Inter"/>
              </a:rPr>
              <a:t>interact with (another system, person, etc.). </a:t>
            </a:r>
          </a:p>
          <a:p>
            <a:pPr marL="514350" marR="0" lvl="1"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0" i="0" u="none" strike="noStrike" cap="none" normalizeH="0" baseline="0" dirty="0">
                <a:ln>
                  <a:noFill/>
                </a:ln>
                <a:solidFill>
                  <a:srgbClr val="333333"/>
                </a:solidFill>
                <a:effectLst/>
                <a:latin typeface="Inter"/>
              </a:rPr>
              <a:t>connect with (another computer or piece of equipment) by an interface. </a:t>
            </a:r>
          </a:p>
          <a:p>
            <a:pPr marL="0" marR="0" lvl="1"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rgbClr val="333333"/>
              </a:solidFill>
              <a:effectLst/>
              <a:latin typeface="Inte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333333"/>
                </a:solidFill>
                <a:effectLst/>
                <a:latin typeface="Inter"/>
              </a:rPr>
              <a:t>noun</a:t>
            </a:r>
            <a:endParaRPr kumimoji="0" lang="en-US" altLang="en-US" sz="2800" b="0" i="0" u="none" strike="noStrike" cap="none" normalizeH="0" baseline="0" dirty="0">
              <a:ln>
                <a:noFill/>
              </a:ln>
              <a:solidFill>
                <a:srgbClr val="333333"/>
              </a:solidFill>
              <a:effectLst/>
              <a:latin typeface="Inter"/>
            </a:endParaRPr>
          </a:p>
          <a:p>
            <a:pPr marL="514350" marR="0" lvl="1"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0" i="0" u="none" strike="noStrike" cap="none" normalizeH="0" baseline="0" dirty="0">
                <a:ln>
                  <a:noFill/>
                </a:ln>
                <a:solidFill>
                  <a:srgbClr val="333333"/>
                </a:solidFill>
                <a:effectLst/>
                <a:latin typeface="Inter"/>
              </a:rPr>
              <a:t>a point where two systems, subjects, organizations, etc. meet and interact. </a:t>
            </a:r>
          </a:p>
          <a:p>
            <a:pPr marL="514350" marR="0" lvl="1"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0" i="0" u="none" strike="noStrike" cap="none" normalizeH="0" baseline="0" dirty="0">
                <a:ln>
                  <a:noFill/>
                </a:ln>
                <a:solidFill>
                  <a:srgbClr val="333333"/>
                </a:solidFill>
                <a:effectLst/>
                <a:latin typeface="Inter"/>
              </a:rPr>
              <a:t>a surface forming a common boundary between two portions of matter or space, for example between two immiscible liquids. </a:t>
            </a:r>
          </a:p>
          <a:p>
            <a:pPr marL="514350" marR="0" lvl="1" indent="-51435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0" i="0" u="none" strike="noStrike" cap="none" normalizeH="0" baseline="0" dirty="0">
                <a:ln>
                  <a:noFill/>
                </a:ln>
                <a:solidFill>
                  <a:srgbClr val="333333"/>
                </a:solidFill>
                <a:effectLst/>
                <a:latin typeface="Inter"/>
              </a:rPr>
              <a:t>a device or program enabling a user to communicate with a computer. </a:t>
            </a:r>
          </a:p>
        </p:txBody>
      </p:sp>
    </p:spTree>
    <p:extLst>
      <p:ext uri="{BB962C8B-B14F-4D97-AF65-F5344CB8AC3E}">
        <p14:creationId xmlns:p14="http://schemas.microsoft.com/office/powerpoint/2010/main" val="17217261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5FEB3-E622-8BD0-3AD5-F0E987214FA4}"/>
              </a:ext>
            </a:extLst>
          </p:cNvPr>
          <p:cNvSpPr>
            <a:spLocks noGrp="1"/>
          </p:cNvSpPr>
          <p:nvPr>
            <p:ph type="title"/>
          </p:nvPr>
        </p:nvSpPr>
        <p:spPr>
          <a:xfrm>
            <a:off x="685800" y="228600"/>
            <a:ext cx="7772400" cy="1143000"/>
          </a:xfrm>
        </p:spPr>
        <p:txBody>
          <a:bodyPr/>
          <a:lstStyle/>
          <a:p>
            <a:r>
              <a:rPr lang="en-US" dirty="0"/>
              <a:t>A Java Interface</a:t>
            </a:r>
          </a:p>
        </p:txBody>
      </p:sp>
      <p:sp>
        <p:nvSpPr>
          <p:cNvPr id="3" name="Content Placeholder 2">
            <a:extLst>
              <a:ext uri="{FF2B5EF4-FFF2-40B4-BE49-F238E27FC236}">
                <a16:creationId xmlns:a16="http://schemas.microsoft.com/office/drawing/2014/main" id="{A48DDD92-C2C9-7E53-9E9B-876FD0136A70}"/>
              </a:ext>
            </a:extLst>
          </p:cNvPr>
          <p:cNvSpPr>
            <a:spLocks noGrp="1"/>
          </p:cNvSpPr>
          <p:nvPr>
            <p:ph idx="1"/>
          </p:nvPr>
        </p:nvSpPr>
        <p:spPr>
          <a:xfrm>
            <a:off x="457200" y="1600200"/>
            <a:ext cx="8305800" cy="4648200"/>
          </a:xfrm>
        </p:spPr>
        <p:txBody>
          <a:bodyPr/>
          <a:lstStyle/>
          <a:p>
            <a:r>
              <a:rPr lang="en-US" altLang="en-US" sz="4000" dirty="0"/>
              <a:t>An </a:t>
            </a:r>
            <a:r>
              <a:rPr lang="en-US" altLang="en-US" sz="4000" b="1" dirty="0">
                <a:solidFill>
                  <a:srgbClr val="0000FF"/>
                </a:solidFill>
              </a:rPr>
              <a:t>interface</a:t>
            </a:r>
            <a:r>
              <a:rPr lang="en-US" altLang="en-US" sz="4000" dirty="0">
                <a:solidFill>
                  <a:srgbClr val="0000FF"/>
                </a:solidFill>
              </a:rPr>
              <a:t> </a:t>
            </a:r>
            <a:r>
              <a:rPr lang="en-US" altLang="en-US" sz="4000" dirty="0"/>
              <a:t>in Java is used to specify an interface (in the generic sense of the term) that classes must implement</a:t>
            </a:r>
            <a:endParaRPr lang="en-US" altLang="en-US" sz="2000" dirty="0"/>
          </a:p>
          <a:p>
            <a:r>
              <a:rPr lang="en-US" sz="4000" dirty="0"/>
              <a:t>An </a:t>
            </a:r>
            <a:r>
              <a:rPr lang="en-US" altLang="en-US" sz="4000" b="1" dirty="0">
                <a:solidFill>
                  <a:srgbClr val="0000FF"/>
                </a:solidFill>
              </a:rPr>
              <a:t>interface</a:t>
            </a:r>
            <a:r>
              <a:rPr lang="en-US" sz="4000" dirty="0"/>
              <a:t> is a group of related methods with empty bodies.</a:t>
            </a:r>
          </a:p>
        </p:txBody>
      </p:sp>
    </p:spTree>
    <p:extLst>
      <p:ext uri="{BB962C8B-B14F-4D97-AF65-F5344CB8AC3E}">
        <p14:creationId xmlns:p14="http://schemas.microsoft.com/office/powerpoint/2010/main" val="365097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1CAB2562-FD78-4C83-B93C-84844D5A3E6A}"/>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79202" name="Text Box 2">
            <a:extLst>
              <a:ext uri="{FF2B5EF4-FFF2-40B4-BE49-F238E27FC236}">
                <a16:creationId xmlns:a16="http://schemas.microsoft.com/office/drawing/2014/main" id="{41C31FA5-37B3-4E92-ACAA-459F1945B17F}"/>
              </a:ext>
            </a:extLst>
          </p:cNvPr>
          <p:cNvSpPr txBox="1">
            <a:spLocks noChangeArrowheads="1"/>
          </p:cNvSpPr>
          <p:nvPr/>
        </p:nvSpPr>
        <p:spPr bwMode="auto">
          <a:xfrm>
            <a:off x="838200" y="2002185"/>
            <a:ext cx="7162799"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3200" b="1" dirty="0"/>
              <a:t>Interfaces are typically used when you know </a:t>
            </a:r>
            <a:r>
              <a:rPr lang="en-US" altLang="en-US" sz="3200" b="1" dirty="0">
                <a:solidFill>
                  <a:srgbClr val="0000FF"/>
                </a:solidFill>
              </a:rPr>
              <a:t>what</a:t>
            </a:r>
            <a:r>
              <a:rPr lang="en-US" altLang="en-US" sz="3200" b="1" dirty="0"/>
              <a:t> you want an Object to do, but do not know </a:t>
            </a:r>
            <a:r>
              <a:rPr lang="en-US" altLang="en-US" sz="3200" b="1" dirty="0">
                <a:solidFill>
                  <a:srgbClr val="0000FF"/>
                </a:solidFill>
              </a:rPr>
              <a:t>how</a:t>
            </a:r>
            <a:r>
              <a:rPr lang="en-US" altLang="en-US" sz="3200" b="1" dirty="0"/>
              <a:t> it will do it.</a:t>
            </a:r>
          </a:p>
          <a:p>
            <a:endParaRPr lang="en-US" altLang="en-US" sz="3200" b="1" dirty="0"/>
          </a:p>
          <a:p>
            <a:r>
              <a:rPr lang="en-US" altLang="en-US" sz="3200" b="1" dirty="0"/>
              <a:t>If only the behavior is known, use</a:t>
            </a:r>
          </a:p>
          <a:p>
            <a:r>
              <a:rPr lang="en-US" altLang="en-US" sz="3200" b="1" dirty="0"/>
              <a:t>an interface.</a:t>
            </a:r>
          </a:p>
        </p:txBody>
      </p:sp>
      <p:sp>
        <p:nvSpPr>
          <p:cNvPr id="179203" name="WordArt 3">
            <a:extLst>
              <a:ext uri="{FF2B5EF4-FFF2-40B4-BE49-F238E27FC236}">
                <a16:creationId xmlns:a16="http://schemas.microsoft.com/office/drawing/2014/main" id="{966DB443-0149-4D5D-AAEB-F26D18ECA757}"/>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Tree>
    <p:extLst>
      <p:ext uri="{BB962C8B-B14F-4D97-AF65-F5344CB8AC3E}">
        <p14:creationId xmlns:p14="http://schemas.microsoft.com/office/powerpoint/2010/main" val="805432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187822B0-CEB2-499F-B0BA-A2B0143E31A1}"/>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28002" name="WordArt 2">
            <a:extLst>
              <a:ext uri="{FF2B5EF4-FFF2-40B4-BE49-F238E27FC236}">
                <a16:creationId xmlns:a16="http://schemas.microsoft.com/office/drawing/2014/main" id="{97F30241-2A74-40E9-81C8-4A8CC7E51556}"/>
              </a:ext>
            </a:extLst>
          </p:cNvPr>
          <p:cNvSpPr>
            <a:spLocks noChangeArrowheads="1" noChangeShapeType="1" noTextEdit="1"/>
          </p:cNvSpPr>
          <p:nvPr/>
        </p:nvSpPr>
        <p:spPr bwMode="auto">
          <a:xfrm>
            <a:off x="1295400" y="381000"/>
            <a:ext cx="62484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128003" name="Text Box 3">
            <a:extLst>
              <a:ext uri="{FF2B5EF4-FFF2-40B4-BE49-F238E27FC236}">
                <a16:creationId xmlns:a16="http://schemas.microsoft.com/office/drawing/2014/main" id="{95AE694A-9DFC-4F7E-98F5-B46D4A8DD568}"/>
              </a:ext>
            </a:extLst>
          </p:cNvPr>
          <p:cNvSpPr txBox="1">
            <a:spLocks noChangeArrowheads="1"/>
          </p:cNvSpPr>
          <p:nvPr/>
        </p:nvSpPr>
        <p:spPr bwMode="auto">
          <a:xfrm>
            <a:off x="990600" y="1905000"/>
            <a:ext cx="6108700" cy="338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b="1"/>
              <a:t>public </a:t>
            </a:r>
            <a:r>
              <a:rPr lang="en-US" altLang="en-US" sz="3600" b="1">
                <a:solidFill>
                  <a:schemeClr val="accent2"/>
                </a:solidFill>
              </a:rPr>
              <a:t>interface</a:t>
            </a:r>
            <a:r>
              <a:rPr lang="en-US" altLang="en-US" sz="3600" b="1"/>
              <a:t> Locatable</a:t>
            </a:r>
          </a:p>
          <a:p>
            <a:r>
              <a:rPr lang="en-US" altLang="en-US" sz="3600" b="1"/>
              <a:t>{</a:t>
            </a:r>
          </a:p>
          <a:p>
            <a:r>
              <a:rPr lang="en-US" altLang="en-US" sz="3600" b="1"/>
              <a:t>   public int getX();</a:t>
            </a:r>
          </a:p>
          <a:p>
            <a:r>
              <a:rPr lang="en-US" altLang="en-US" sz="3600" b="1"/>
              <a:t>   public int getY();</a:t>
            </a:r>
          </a:p>
          <a:p>
            <a:r>
              <a:rPr lang="en-US" altLang="en-US" sz="3600" b="1"/>
              <a:t>}</a:t>
            </a:r>
          </a:p>
          <a:p>
            <a:endParaRPr lang="en-US" altLang="en-US" sz="3600" b="1"/>
          </a:p>
        </p:txBody>
      </p:sp>
    </p:spTree>
    <p:extLst>
      <p:ext uri="{BB962C8B-B14F-4D97-AF65-F5344CB8AC3E}">
        <p14:creationId xmlns:p14="http://schemas.microsoft.com/office/powerpoint/2010/main" val="2169502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55273482-6653-4B92-9360-65697151539E}"/>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30050" name="WordArt 2">
            <a:extLst>
              <a:ext uri="{FF2B5EF4-FFF2-40B4-BE49-F238E27FC236}">
                <a16:creationId xmlns:a16="http://schemas.microsoft.com/office/drawing/2014/main" id="{97CF65F1-60B0-4322-B2CA-672534430CC2}"/>
              </a:ext>
            </a:extLst>
          </p:cNvPr>
          <p:cNvSpPr>
            <a:spLocks noChangeArrowheads="1" noChangeShapeType="1" noTextEdit="1"/>
          </p:cNvSpPr>
          <p:nvPr/>
        </p:nvSpPr>
        <p:spPr bwMode="auto">
          <a:xfrm>
            <a:off x="1295400" y="381000"/>
            <a:ext cx="62484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130051" name="Text Box 3">
            <a:extLst>
              <a:ext uri="{FF2B5EF4-FFF2-40B4-BE49-F238E27FC236}">
                <a16:creationId xmlns:a16="http://schemas.microsoft.com/office/drawing/2014/main" id="{583F5AFB-32F0-4CB8-830A-DEB485C15C85}"/>
              </a:ext>
            </a:extLst>
          </p:cNvPr>
          <p:cNvSpPr txBox="1">
            <a:spLocks noChangeArrowheads="1"/>
          </p:cNvSpPr>
          <p:nvPr/>
        </p:nvSpPr>
        <p:spPr bwMode="auto">
          <a:xfrm>
            <a:off x="914400" y="1905000"/>
            <a:ext cx="7764463" cy="399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b="1"/>
              <a:t>public </a:t>
            </a:r>
            <a:r>
              <a:rPr lang="en-US" altLang="en-US" sz="3600" b="1">
                <a:solidFill>
                  <a:schemeClr val="accent2"/>
                </a:solidFill>
              </a:rPr>
              <a:t>interface</a:t>
            </a:r>
            <a:r>
              <a:rPr lang="en-US" altLang="en-US" sz="3600" b="1"/>
              <a:t> Movable</a:t>
            </a:r>
          </a:p>
          <a:p>
            <a:r>
              <a:rPr lang="en-US" altLang="en-US" sz="3600" b="1"/>
              <a:t>{</a:t>
            </a:r>
          </a:p>
          <a:p>
            <a:r>
              <a:rPr lang="en-US" altLang="en-US" sz="3600" b="1"/>
              <a:t>   public void setPos( int x, int y);</a:t>
            </a:r>
          </a:p>
          <a:p>
            <a:r>
              <a:rPr lang="en-US" altLang="en-US" sz="3600" b="1"/>
              <a:t>   public void setX( int x );</a:t>
            </a:r>
          </a:p>
          <a:p>
            <a:r>
              <a:rPr lang="en-US" altLang="en-US" sz="3600" b="1"/>
              <a:t>   public void setY( int y );</a:t>
            </a:r>
          </a:p>
          <a:p>
            <a:r>
              <a:rPr lang="en-US" altLang="en-US" sz="3600" b="1"/>
              <a:t>}</a:t>
            </a:r>
          </a:p>
          <a:p>
            <a:pPr eaLnBrk="0" hangingPunct="0"/>
            <a:endParaRPr lang="en-US" altLang="en-US" sz="4000" b="1">
              <a:latin typeface="Arial" panose="020B0604020202020204" pitchFamily="34" charset="0"/>
            </a:endParaRPr>
          </a:p>
        </p:txBody>
      </p:sp>
    </p:spTree>
    <p:extLst>
      <p:ext uri="{BB962C8B-B14F-4D97-AF65-F5344CB8AC3E}">
        <p14:creationId xmlns:p14="http://schemas.microsoft.com/office/powerpoint/2010/main" val="16031216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F917CD9D-32FA-4FEA-BD26-E58D3BA36F7C}"/>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32098" name="WordArt 2">
            <a:extLst>
              <a:ext uri="{FF2B5EF4-FFF2-40B4-BE49-F238E27FC236}">
                <a16:creationId xmlns:a16="http://schemas.microsoft.com/office/drawing/2014/main" id="{C62D496C-C8C8-453C-9871-D17693DCA18B}"/>
              </a:ext>
            </a:extLst>
          </p:cNvPr>
          <p:cNvSpPr>
            <a:spLocks noChangeArrowheads="1" noChangeShapeType="1" noTextEdit="1"/>
          </p:cNvSpPr>
          <p:nvPr/>
        </p:nvSpPr>
        <p:spPr bwMode="auto">
          <a:xfrm>
            <a:off x="1295400" y="381000"/>
            <a:ext cx="62484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132099" name="Text Box 3">
            <a:extLst>
              <a:ext uri="{FF2B5EF4-FFF2-40B4-BE49-F238E27FC236}">
                <a16:creationId xmlns:a16="http://schemas.microsoft.com/office/drawing/2014/main" id="{F14FAB9A-43C3-407A-A1E3-CF607F32DA26}"/>
              </a:ext>
            </a:extLst>
          </p:cNvPr>
          <p:cNvSpPr txBox="1">
            <a:spLocks noChangeArrowheads="1"/>
          </p:cNvSpPr>
          <p:nvPr/>
        </p:nvSpPr>
        <p:spPr bwMode="auto">
          <a:xfrm>
            <a:off x="381000" y="1981200"/>
            <a:ext cx="8763000" cy="3503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b="1"/>
              <a:t>class Ship </a:t>
            </a:r>
            <a:r>
              <a:rPr lang="en-US" altLang="en-US" sz="3200" b="1">
                <a:solidFill>
                  <a:schemeClr val="accent2"/>
                </a:solidFill>
              </a:rPr>
              <a:t>implements</a:t>
            </a:r>
            <a:r>
              <a:rPr lang="en-US" altLang="en-US" sz="3200" b="1"/>
              <a:t> Locatable, Movable</a:t>
            </a:r>
          </a:p>
          <a:p>
            <a:r>
              <a:rPr lang="en-US" altLang="en-US" sz="3200" b="1"/>
              <a:t>{</a:t>
            </a:r>
          </a:p>
          <a:p>
            <a:r>
              <a:rPr lang="en-US" altLang="en-US" sz="3200" b="1"/>
              <a:t>	private int xPos, yPos;</a:t>
            </a:r>
          </a:p>
          <a:p>
            <a:endParaRPr lang="en-US" altLang="en-US" sz="3200" b="1"/>
          </a:p>
          <a:p>
            <a:r>
              <a:rPr lang="en-US" altLang="en-US" sz="3200" b="1">
                <a:solidFill>
                  <a:srgbClr val="008000"/>
                </a:solidFill>
              </a:rPr>
              <a:t>	//how many methods must</a:t>
            </a:r>
          </a:p>
          <a:p>
            <a:r>
              <a:rPr lang="en-US" altLang="en-US" sz="3200" b="1">
                <a:solidFill>
                  <a:srgbClr val="008000"/>
                </a:solidFill>
              </a:rPr>
              <a:t>	//be implemented?</a:t>
            </a:r>
          </a:p>
          <a:p>
            <a:r>
              <a:rPr lang="en-US" altLang="en-US" sz="3200" b="1"/>
              <a:t>}</a:t>
            </a:r>
          </a:p>
        </p:txBody>
      </p:sp>
    </p:spTree>
    <p:extLst>
      <p:ext uri="{BB962C8B-B14F-4D97-AF65-F5344CB8AC3E}">
        <p14:creationId xmlns:p14="http://schemas.microsoft.com/office/powerpoint/2010/main" val="3244496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90113D6D-67E8-4077-A511-5F85C5046FEA}"/>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34146" name="Text Box 2">
            <a:extLst>
              <a:ext uri="{FF2B5EF4-FFF2-40B4-BE49-F238E27FC236}">
                <a16:creationId xmlns:a16="http://schemas.microsoft.com/office/drawing/2014/main" id="{1EEDEED2-B754-4732-BAA1-B38B009D51BE}"/>
              </a:ext>
            </a:extLst>
          </p:cNvPr>
          <p:cNvSpPr txBox="1">
            <a:spLocks noChangeArrowheads="1"/>
          </p:cNvSpPr>
          <p:nvPr/>
        </p:nvSpPr>
        <p:spPr bwMode="auto">
          <a:xfrm>
            <a:off x="533400" y="1905000"/>
            <a:ext cx="83820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3200" b="1" dirty="0"/>
              <a:t>An interface may not contain any </a:t>
            </a:r>
          </a:p>
          <a:p>
            <a:r>
              <a:rPr lang="en-US" altLang="en-US" sz="3200" b="1" dirty="0"/>
              <a:t>implemented (a.k.a. concrete) methods.</a:t>
            </a:r>
          </a:p>
          <a:p>
            <a:r>
              <a:rPr lang="en-US" altLang="en-US" sz="3200" b="1" dirty="0"/>
              <a:t>All methods must be abstract.</a:t>
            </a:r>
          </a:p>
          <a:p>
            <a:endParaRPr lang="en-US" altLang="en-US" sz="3200" b="1" dirty="0"/>
          </a:p>
          <a:p>
            <a:r>
              <a:rPr lang="en-US" altLang="en-US" sz="3200" b="1" dirty="0"/>
              <a:t>Interfaces cannot have constructors!!!</a:t>
            </a:r>
          </a:p>
          <a:p>
            <a:endParaRPr lang="en-US" altLang="en-US" sz="3200" b="1" dirty="0"/>
          </a:p>
        </p:txBody>
      </p:sp>
      <p:sp>
        <p:nvSpPr>
          <p:cNvPr id="134147" name="WordArt 3">
            <a:extLst>
              <a:ext uri="{FF2B5EF4-FFF2-40B4-BE49-F238E27FC236}">
                <a16:creationId xmlns:a16="http://schemas.microsoft.com/office/drawing/2014/main" id="{BBB8BBB1-344C-49F4-8E9A-53D203E6E2F5}"/>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Tree>
    <p:extLst>
      <p:ext uri="{BB962C8B-B14F-4D97-AF65-F5344CB8AC3E}">
        <p14:creationId xmlns:p14="http://schemas.microsoft.com/office/powerpoint/2010/main" val="20037752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Footer Placeholder 3"/>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6867" name="WordArt 2"/>
          <p:cNvSpPr>
            <a:spLocks noChangeArrowheads="1" noChangeShapeType="1" noTextEdit="1"/>
          </p:cNvSpPr>
          <p:nvPr/>
        </p:nvSpPr>
        <p:spPr bwMode="auto">
          <a:xfrm>
            <a:off x="762000" y="1752600"/>
            <a:ext cx="7772400" cy="35814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defRPr/>
            </a:pPr>
            <a:r>
              <a:rPr lang="en-US" sz="4400" kern="10">
                <a:gradFill rotWithShape="1">
                  <a:gsLst>
                    <a:gs pos="0">
                      <a:srgbClr val="009900"/>
                    </a:gs>
                    <a:gs pos="100000">
                      <a:srgbClr val="99FF99"/>
                    </a:gs>
                  </a:gsLst>
                  <a:lin ang="2700000" scaled="1"/>
                </a:gradFill>
                <a:effectLst>
                  <a:outerShdw dist="35921" dir="2700000" algn="ctr" rotWithShape="0">
                    <a:srgbClr val="C0C0C0"/>
                  </a:outerShdw>
                </a:effectLst>
                <a:latin typeface="Impact"/>
              </a:rPr>
              <a:t>Access Modifiers</a:t>
            </a:r>
          </a:p>
          <a:p>
            <a:pPr algn="ctr">
              <a:defRPr/>
            </a:pPr>
            <a:endParaRPr lang="en-US" sz="2000" kern="10">
              <a:gradFill rotWithShape="1">
                <a:gsLst>
                  <a:gs pos="0">
                    <a:srgbClr val="009900"/>
                  </a:gs>
                  <a:gs pos="100000">
                    <a:srgbClr val="99FF99"/>
                  </a:gs>
                </a:gsLst>
                <a:lin ang="2700000" scaled="1"/>
              </a:gradFill>
              <a:effectLst>
                <a:outerShdw dist="35921" dir="2700000" algn="ctr" rotWithShape="0">
                  <a:srgbClr val="C0C0C0"/>
                </a:outerShdw>
              </a:effectLst>
              <a:latin typeface="Impact"/>
            </a:endParaRPr>
          </a:p>
          <a:p>
            <a:pPr algn="ctr">
              <a:defRPr/>
            </a:pPr>
            <a:r>
              <a:rPr lang="en-US" sz="3600" b="0" kern="10">
                <a:gradFill rotWithShape="1">
                  <a:gsLst>
                    <a:gs pos="0">
                      <a:srgbClr val="009900"/>
                    </a:gs>
                    <a:gs pos="100000">
                      <a:srgbClr val="99FF99"/>
                    </a:gs>
                  </a:gsLst>
                  <a:lin ang="2700000" scaled="1"/>
                </a:gradFill>
                <a:effectLst>
                  <a:outerShdw dist="35921" dir="2700000" algn="ctr" rotWithShape="0">
                    <a:srgbClr val="C0C0C0"/>
                  </a:outerShdw>
                </a:effectLst>
                <a:latin typeface="Impact"/>
              </a:rPr>
              <a:t>(</a:t>
            </a:r>
            <a:r>
              <a:rPr lang="en-US" sz="3600" kern="10">
                <a:gradFill rotWithShape="1">
                  <a:gsLst>
                    <a:gs pos="0">
                      <a:srgbClr val="009900"/>
                    </a:gs>
                    <a:gs pos="100000">
                      <a:srgbClr val="99FF99"/>
                    </a:gs>
                  </a:gsLst>
                  <a:lin ang="2700000" scaled="1"/>
                </a:gradFill>
                <a:effectLst>
                  <a:outerShdw dist="35921" dir="2700000" algn="ctr" rotWithShape="0">
                    <a:srgbClr val="C0C0C0"/>
                  </a:outerShdw>
                </a:effectLst>
                <a:latin typeface="Impact"/>
              </a:rPr>
              <a:t>Visibility Modifiers</a:t>
            </a:r>
            <a:r>
              <a:rPr lang="en-US" sz="3600" b="0" kern="10">
                <a:gradFill rotWithShape="1">
                  <a:gsLst>
                    <a:gs pos="0">
                      <a:srgbClr val="009900"/>
                    </a:gs>
                    <a:gs pos="100000">
                      <a:srgbClr val="99FF99"/>
                    </a:gs>
                  </a:gsLst>
                  <a:lin ang="2700000" scaled="1"/>
                </a:gradFill>
                <a:effectLst>
                  <a:outerShdw dist="35921" dir="2700000" algn="ctr" rotWithShape="0">
                    <a:srgbClr val="C0C0C0"/>
                  </a:outerShdw>
                </a:effectLst>
                <a:latin typeface="Impact"/>
              </a:rPr>
              <a:t>)</a:t>
            </a:r>
          </a:p>
          <a:p>
            <a:pPr algn="ctr">
              <a:defRPr/>
            </a:pPr>
            <a:endParaRPr lang="en-US" sz="3600" kern="10">
              <a:gradFill rotWithShape="1">
                <a:gsLst>
                  <a:gs pos="0">
                    <a:srgbClr val="009900"/>
                  </a:gs>
                  <a:gs pos="100000">
                    <a:srgbClr val="99FF99"/>
                  </a:gs>
                </a:gsLst>
                <a:lin ang="2700000" scaled="1"/>
              </a:gradFill>
              <a:effectLst>
                <a:outerShdw dist="35921" dir="2700000" algn="ctr" rotWithShape="0">
                  <a:srgbClr val="C0C0C0"/>
                </a:outerShdw>
              </a:effectLst>
              <a:latin typeface="Impact"/>
            </a:endParaRPr>
          </a:p>
        </p:txBody>
      </p:sp>
    </p:spTree>
    <p:extLst>
      <p:ext uri="{BB962C8B-B14F-4D97-AF65-F5344CB8AC3E}">
        <p14:creationId xmlns:p14="http://schemas.microsoft.com/office/powerpoint/2010/main" val="3728430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Footer Placeholder 3"/>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5779" name="WordArt 2"/>
          <p:cNvSpPr>
            <a:spLocks noChangeArrowheads="1" noChangeShapeType="1" noTextEdit="1"/>
          </p:cNvSpPr>
          <p:nvPr/>
        </p:nvSpPr>
        <p:spPr bwMode="auto">
          <a:xfrm>
            <a:off x="762000" y="685800"/>
            <a:ext cx="7239000" cy="4876800"/>
          </a:xfrm>
          <a:prstGeom prst="rect">
            <a:avLst/>
          </a:prstGeom>
        </p:spPr>
        <p:txBody>
          <a:bodyPr wrap="none" fromWordArt="1">
            <a:prstTxWarp prst="textPlain">
              <a:avLst>
                <a:gd name="adj" fmla="val 50000"/>
              </a:avLst>
            </a:prstTxWarp>
          </a:bodyPr>
          <a:lstStyle/>
          <a:p>
            <a:pPr algn="ctr"/>
            <a:r>
              <a:rPr lang="en-US" sz="3600" kern="10" dirty="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Public</a:t>
            </a:r>
          </a:p>
          <a:p>
            <a:pPr algn="ctr"/>
            <a:r>
              <a:rPr lang="en-US" sz="3600" kern="10" dirty="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Protected</a:t>
            </a:r>
          </a:p>
          <a:p>
            <a:pPr algn="ctr"/>
            <a:r>
              <a:rPr lang="en-US" sz="3600" kern="10" dirty="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Package</a:t>
            </a:r>
          </a:p>
          <a:p>
            <a:pPr algn="ctr"/>
            <a:r>
              <a:rPr lang="en-US" sz="3600" kern="10" dirty="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Private</a:t>
            </a:r>
          </a:p>
        </p:txBody>
      </p:sp>
    </p:spTree>
    <p:extLst>
      <p:ext uri="{BB962C8B-B14F-4D97-AF65-F5344CB8AC3E}">
        <p14:creationId xmlns:p14="http://schemas.microsoft.com/office/powerpoint/2010/main" val="562673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Footer Placeholder 3"/>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7827" name="Rectangle 2"/>
          <p:cNvSpPr>
            <a:spLocks noChangeArrowheads="1"/>
          </p:cNvSpPr>
          <p:nvPr/>
        </p:nvSpPr>
        <p:spPr bwMode="auto">
          <a:xfrm>
            <a:off x="685800" y="1752600"/>
            <a:ext cx="7523163"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Arial" panose="020B0604020202020204" pitchFamily="34" charset="0"/>
              </a:rPr>
              <a:t>All members defined as </a:t>
            </a:r>
            <a:r>
              <a:rPr lang="en-US" altLang="en-US" sz="4000">
                <a:solidFill>
                  <a:schemeClr val="accent2"/>
                </a:solidFill>
                <a:latin typeface="Arial" panose="020B0604020202020204" pitchFamily="34" charset="0"/>
              </a:rPr>
              <a:t>public</a:t>
            </a:r>
          </a:p>
          <a:p>
            <a:pPr>
              <a:spcBef>
                <a:spcPct val="0"/>
              </a:spcBef>
              <a:buFontTx/>
              <a:buNone/>
            </a:pPr>
            <a:r>
              <a:rPr lang="en-US" altLang="en-US" sz="4000">
                <a:latin typeface="Arial" panose="020B0604020202020204" pitchFamily="34" charset="0"/>
              </a:rPr>
              <a:t>can be accessed by members</a:t>
            </a:r>
          </a:p>
          <a:p>
            <a:pPr>
              <a:spcBef>
                <a:spcPct val="0"/>
              </a:spcBef>
              <a:buFontTx/>
              <a:buNone/>
            </a:pPr>
            <a:r>
              <a:rPr lang="en-US" altLang="en-US" sz="4000">
                <a:latin typeface="Arial" panose="020B0604020202020204" pitchFamily="34" charset="0"/>
              </a:rPr>
              <a:t>of </a:t>
            </a:r>
            <a:r>
              <a:rPr lang="en-US" altLang="en-US" sz="4000" u="sng">
                <a:latin typeface="Arial" panose="020B0604020202020204" pitchFamily="34" charset="0"/>
              </a:rPr>
              <a:t>any</a:t>
            </a:r>
            <a:r>
              <a:rPr lang="en-US" altLang="en-US" sz="4000">
                <a:latin typeface="Arial" panose="020B0604020202020204" pitchFamily="34" charset="0"/>
              </a:rPr>
              <a:t> class.</a:t>
            </a:r>
          </a:p>
          <a:p>
            <a:pPr>
              <a:spcBef>
                <a:spcPct val="0"/>
              </a:spcBef>
              <a:buFontTx/>
              <a:buNone/>
            </a:pPr>
            <a:endParaRPr lang="en-US" altLang="en-US" sz="4000">
              <a:latin typeface="Arial" panose="020B0604020202020204" pitchFamily="34" charset="0"/>
            </a:endParaRPr>
          </a:p>
          <a:p>
            <a:pPr>
              <a:spcBef>
                <a:spcPct val="0"/>
              </a:spcBef>
              <a:buFontTx/>
              <a:buNone/>
            </a:pPr>
            <a:r>
              <a:rPr lang="en-US" altLang="en-US" sz="4000">
                <a:latin typeface="Arial" panose="020B0604020202020204" pitchFamily="34" charset="0"/>
              </a:rPr>
              <a:t>This is the least restrictive </a:t>
            </a:r>
          </a:p>
          <a:p>
            <a:pPr>
              <a:spcBef>
                <a:spcPct val="0"/>
              </a:spcBef>
              <a:buFontTx/>
              <a:buNone/>
            </a:pPr>
            <a:r>
              <a:rPr lang="en-US" altLang="en-US" sz="4000">
                <a:latin typeface="Arial" panose="020B0604020202020204" pitchFamily="34" charset="0"/>
              </a:rPr>
              <a:t>visibility level.</a:t>
            </a:r>
          </a:p>
        </p:txBody>
      </p:sp>
      <p:sp>
        <p:nvSpPr>
          <p:cNvPr id="77828" name="WordArt 4"/>
          <p:cNvSpPr>
            <a:spLocks noChangeArrowheads="1" noChangeShapeType="1" noTextEdit="1"/>
          </p:cNvSpPr>
          <p:nvPr/>
        </p:nvSpPr>
        <p:spPr bwMode="auto">
          <a:xfrm>
            <a:off x="1524000" y="457200"/>
            <a:ext cx="5715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public</a:t>
            </a:r>
          </a:p>
        </p:txBody>
      </p:sp>
    </p:spTree>
    <p:extLst>
      <p:ext uri="{BB962C8B-B14F-4D97-AF65-F5344CB8AC3E}">
        <p14:creationId xmlns:p14="http://schemas.microsoft.com/office/powerpoint/2010/main" val="3429505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descr="My file:&#10;package myPackage;&#10;public class MyClass {&#10;   // class member with public access&#10;}&#10;public class MyOtherClass {&#10;}&#10;Your file:&#10;package yourPackage;&#10;class YourClass extends MyClass { &#10;}&#10;class YourOtherClass extends MyClass {&#10;}&#10;My public class member can be access from any of the other classes.">
            <a:extLst>
              <a:ext uri="{FF2B5EF4-FFF2-40B4-BE49-F238E27FC236}">
                <a16:creationId xmlns:a16="http://schemas.microsoft.com/office/drawing/2014/main" id="{1667D4FA-C3E8-BE3F-0214-43E7C61F61CA}"/>
              </a:ext>
            </a:extLst>
          </p:cNvPr>
          <p:cNvGrpSpPr/>
          <p:nvPr/>
        </p:nvGrpSpPr>
        <p:grpSpPr>
          <a:xfrm>
            <a:off x="-76200" y="-152400"/>
            <a:ext cx="9067800" cy="7239000"/>
            <a:chOff x="-76200" y="-152400"/>
            <a:chExt cx="9067800" cy="7239000"/>
          </a:xfrm>
        </p:grpSpPr>
        <p:pic>
          <p:nvPicPr>
            <p:cNvPr id="18434" name="Picture 4" descr="Clipart - Manilla &lt;strong&gt;folder&lt;/strong&gt;"/>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152400"/>
              <a:ext cx="80010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5" name="TextBox 5"/>
            <p:cNvSpPr txBox="1">
              <a:spLocks noChangeArrowheads="1"/>
            </p:cNvSpPr>
            <p:nvPr/>
          </p:nvSpPr>
          <p:spPr bwMode="auto">
            <a:xfrm>
              <a:off x="533400" y="228600"/>
              <a:ext cx="16557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myPackage</a:t>
              </a:r>
            </a:p>
          </p:txBody>
        </p:sp>
        <p:pic>
          <p:nvPicPr>
            <p:cNvPr id="18436" name="Picture 6" descr="Clipart - Manilla &lt;strong&gt;folder&lt;/strong&gt;"/>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251200"/>
              <a:ext cx="8001000" cy="383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7" name="TextBox 7"/>
            <p:cNvSpPr txBox="1">
              <a:spLocks noChangeArrowheads="1"/>
            </p:cNvSpPr>
            <p:nvPr/>
          </p:nvSpPr>
          <p:spPr bwMode="auto">
            <a:xfrm>
              <a:off x="1600200" y="3632200"/>
              <a:ext cx="1843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yourPackage</a:t>
              </a:r>
            </a:p>
          </p:txBody>
        </p:sp>
        <p:sp>
          <p:nvSpPr>
            <p:cNvPr id="18438" name="TextBox 8"/>
            <p:cNvSpPr txBox="1">
              <a:spLocks noChangeArrowheads="1"/>
            </p:cNvSpPr>
            <p:nvPr/>
          </p:nvSpPr>
          <p:spPr bwMode="auto">
            <a:xfrm>
              <a:off x="685800" y="920750"/>
              <a:ext cx="2366353"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err="1">
                  <a:latin typeface="Tahoma" panose="020B0604030504040204" pitchFamily="34" charset="0"/>
                </a:rPr>
                <a:t>MyClass</a:t>
              </a:r>
              <a:endParaRPr lang="en-US" altLang="en-US" sz="2000" dirty="0">
                <a:latin typeface="Tahoma" panose="020B0604030504040204" pitchFamily="34" charset="0"/>
              </a:endParaRPr>
            </a:p>
            <a:p>
              <a:pPr>
                <a:spcBef>
                  <a:spcPct val="0"/>
                </a:spcBef>
                <a:buFontTx/>
                <a:buNone/>
              </a:pPr>
              <a:r>
                <a:rPr lang="en-US" altLang="en-US" sz="2000" dirty="0">
                  <a:latin typeface="Tahoma" panose="020B0604030504040204" pitchFamily="34" charset="0"/>
                </a:rPr>
                <a:t>{</a:t>
              </a:r>
            </a:p>
            <a:p>
              <a:pPr>
                <a:spcBef>
                  <a:spcPct val="0"/>
                </a:spcBef>
                <a:buNone/>
              </a:pPr>
              <a:r>
                <a:rPr lang="en-US" altLang="en-US" sz="2000" dirty="0">
                  <a:latin typeface="Tahoma" panose="020B0604030504040204" pitchFamily="34" charset="0"/>
                </a:rPr>
                <a:t>    </a:t>
              </a:r>
              <a:r>
                <a:rPr lang="en-US" altLang="en-US" sz="2000" b="1" dirty="0">
                  <a:solidFill>
                    <a:srgbClr val="0070C0"/>
                  </a:solidFill>
                  <a:latin typeface="Tahoma" panose="020B0604030504040204" pitchFamily="34" charset="0"/>
                </a:rPr>
                <a:t>public</a:t>
              </a:r>
              <a:r>
                <a:rPr lang="en-US" altLang="en-US" sz="2000" b="1" dirty="0">
                  <a:latin typeface="Tahoma" panose="020B0604030504040204" pitchFamily="34" charset="0"/>
                </a:rPr>
                <a:t> </a:t>
              </a:r>
              <a:r>
                <a:rPr lang="en-US" altLang="en-US" sz="2000" b="1" dirty="0">
                  <a:solidFill>
                    <a:srgbClr val="7030A0"/>
                  </a:solidFill>
                  <a:latin typeface="Tahoma" panose="020B0604030504040204" pitchFamily="34" charset="0"/>
                </a:rPr>
                <a:t>int size;</a:t>
              </a:r>
            </a:p>
            <a:p>
              <a:pPr>
                <a:spcBef>
                  <a:spcPct val="0"/>
                </a:spcBef>
                <a:buFontTx/>
                <a:buNone/>
              </a:pPr>
              <a:endParaRPr lang="en-US" altLang="en-US" sz="2000" dirty="0">
                <a:latin typeface="Tahoma" panose="020B0604030504040204" pitchFamily="34" charset="0"/>
              </a:endParaRPr>
            </a:p>
            <a:p>
              <a:pPr>
                <a:spcBef>
                  <a:spcPct val="0"/>
                </a:spcBef>
                <a:buFontTx/>
                <a:buNone/>
              </a:pPr>
              <a:endParaRPr lang="en-US" altLang="en-US" sz="2000" dirty="0">
                <a:latin typeface="Tahoma" panose="020B0604030504040204" pitchFamily="34" charset="0"/>
              </a:endParaRPr>
            </a:p>
            <a:p>
              <a:pPr>
                <a:spcBef>
                  <a:spcPct val="0"/>
                </a:spcBef>
                <a:buFontTx/>
                <a:buNone/>
              </a:pPr>
              <a:endParaRPr lang="en-US" altLang="en-US" sz="2000" dirty="0">
                <a:latin typeface="Tahoma" panose="020B0604030504040204" pitchFamily="34" charset="0"/>
              </a:endParaRPr>
            </a:p>
            <a:p>
              <a:pPr>
                <a:spcBef>
                  <a:spcPct val="0"/>
                </a:spcBef>
                <a:buFontTx/>
                <a:buNone/>
              </a:pPr>
              <a:r>
                <a:rPr lang="en-US" altLang="en-US" sz="2000" dirty="0">
                  <a:latin typeface="Tahoma" panose="020B0604030504040204" pitchFamily="34" charset="0"/>
                </a:rPr>
                <a:t>}</a:t>
              </a:r>
            </a:p>
          </p:txBody>
        </p:sp>
        <p:sp>
          <p:nvSpPr>
            <p:cNvPr id="18439" name="TextBox 9"/>
            <p:cNvSpPr txBox="1">
              <a:spLocks noChangeArrowheads="1"/>
            </p:cNvSpPr>
            <p:nvPr/>
          </p:nvSpPr>
          <p:spPr bwMode="auto">
            <a:xfrm>
              <a:off x="4445000" y="903288"/>
              <a:ext cx="1955800"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MyOtherClass</a:t>
              </a:r>
            </a:p>
            <a:p>
              <a:pPr>
                <a:spcBef>
                  <a:spcPct val="0"/>
                </a:spcBef>
                <a:buFontTx/>
                <a:buNone/>
              </a:pPr>
              <a:r>
                <a:rPr lang="en-US" altLang="en-US" sz="2000">
                  <a:latin typeface="Tahoma" panose="020B0604030504040204" pitchFamily="34" charset="0"/>
                </a:rPr>
                <a:t>{</a:t>
              </a:r>
            </a:p>
            <a:p>
              <a:pPr>
                <a:spcBef>
                  <a:spcPct val="0"/>
                </a:spcBef>
                <a:buFontTx/>
                <a:buNone/>
              </a:pPr>
              <a:r>
                <a:rPr lang="en-US" altLang="en-US" sz="2000">
                  <a:latin typeface="Tahoma" panose="020B0604030504040204" pitchFamily="34" charset="0"/>
                </a:rPr>
                <a:t>    </a:t>
              </a: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18440" name="TextBox 10"/>
            <p:cNvSpPr txBox="1">
              <a:spLocks noChangeArrowheads="1"/>
            </p:cNvSpPr>
            <p:nvPr/>
          </p:nvSpPr>
          <p:spPr bwMode="auto">
            <a:xfrm>
              <a:off x="1624013" y="4506913"/>
              <a:ext cx="36703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YourClass extends MyClass</a:t>
              </a:r>
            </a:p>
            <a:p>
              <a:pPr>
                <a:spcBef>
                  <a:spcPct val="0"/>
                </a:spcBef>
                <a:buFontTx/>
                <a:buNone/>
              </a:pPr>
              <a:r>
                <a:rPr lang="en-US" altLang="en-US" sz="2000">
                  <a:latin typeface="Tahoma" panose="020B0604030504040204" pitchFamily="34" charset="0"/>
                </a:rPr>
                <a:t>{</a:t>
              </a:r>
            </a:p>
            <a:p>
              <a:pPr>
                <a:spcBef>
                  <a:spcPct val="0"/>
                </a:spcBef>
                <a:buFontTx/>
                <a:buNone/>
              </a:pPr>
              <a:endParaRPr lang="en-US" altLang="en-US" sz="2000">
                <a:latin typeface="Tahoma" panose="020B0604030504040204" pitchFamily="34" charset="0"/>
              </a:endParaRP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18441" name="TextBox 11"/>
            <p:cNvSpPr txBox="1">
              <a:spLocks noChangeArrowheads="1"/>
            </p:cNvSpPr>
            <p:nvPr/>
          </p:nvSpPr>
          <p:spPr bwMode="auto">
            <a:xfrm>
              <a:off x="5927725" y="4506913"/>
              <a:ext cx="21844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YourOtherClass</a:t>
              </a:r>
            </a:p>
            <a:p>
              <a:pPr>
                <a:spcBef>
                  <a:spcPct val="0"/>
                </a:spcBef>
                <a:buFontTx/>
                <a:buNone/>
              </a:pPr>
              <a:r>
                <a:rPr lang="en-US" altLang="en-US" sz="2000">
                  <a:latin typeface="Tahoma" panose="020B0604030504040204" pitchFamily="34" charset="0"/>
                </a:rPr>
                <a:t>{</a:t>
              </a:r>
            </a:p>
            <a:p>
              <a:pPr>
                <a:spcBef>
                  <a:spcPct val="0"/>
                </a:spcBef>
                <a:buFontTx/>
                <a:buNone/>
              </a:pPr>
              <a:r>
                <a:rPr lang="en-US" altLang="en-US" sz="2000">
                  <a:latin typeface="Tahoma" panose="020B0604030504040204" pitchFamily="34" charset="0"/>
                </a:rPr>
                <a:t>    </a:t>
              </a: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18442" name="Freeform 12"/>
            <p:cNvSpPr>
              <a:spLocks/>
            </p:cNvSpPr>
            <p:nvPr/>
          </p:nvSpPr>
          <p:spPr bwMode="auto">
            <a:xfrm>
              <a:off x="2057400" y="2178050"/>
              <a:ext cx="982663" cy="657225"/>
            </a:xfrm>
            <a:custGeom>
              <a:avLst/>
              <a:gdLst>
                <a:gd name="T0" fmla="*/ 832486 w 982696"/>
                <a:gd name="T1" fmla="*/ 0 h 657289"/>
                <a:gd name="T2" fmla="*/ 982607 w 982696"/>
                <a:gd name="T3" fmla="*/ 327514 h 657289"/>
                <a:gd name="T4" fmla="*/ 846134 w 982696"/>
                <a:gd name="T5" fmla="*/ 655029 h 657289"/>
                <a:gd name="T6" fmla="*/ 549362 w 982696"/>
                <a:gd name="T7" fmla="*/ 469623 h 657289"/>
                <a:gd name="T8" fmla="*/ 0 w 982696"/>
                <a:gd name="T9" fmla="*/ 450332 h 6572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82696" h="657289">
                  <a:moveTo>
                    <a:pt x="832514" y="0"/>
                  </a:moveTo>
                  <a:cubicBezTo>
                    <a:pt x="906439" y="109182"/>
                    <a:pt x="980365" y="218364"/>
                    <a:pt x="982640" y="327546"/>
                  </a:cubicBezTo>
                  <a:cubicBezTo>
                    <a:pt x="984915" y="436728"/>
                    <a:pt x="918372" y="631406"/>
                    <a:pt x="846162" y="655093"/>
                  </a:cubicBezTo>
                  <a:cubicBezTo>
                    <a:pt x="773952" y="678780"/>
                    <a:pt x="697231" y="503788"/>
                    <a:pt x="549380" y="469669"/>
                  </a:cubicBezTo>
                  <a:cubicBezTo>
                    <a:pt x="401529" y="435550"/>
                    <a:pt x="100662" y="476338"/>
                    <a:pt x="0" y="450376"/>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3" name="Freeform 13"/>
            <p:cNvSpPr>
              <a:spLocks/>
            </p:cNvSpPr>
            <p:nvPr/>
          </p:nvSpPr>
          <p:spPr bwMode="auto">
            <a:xfrm>
              <a:off x="3557588" y="1736725"/>
              <a:ext cx="1309687" cy="584200"/>
            </a:xfrm>
            <a:custGeom>
              <a:avLst/>
              <a:gdLst>
                <a:gd name="T0" fmla="*/ 0 w 1309941"/>
                <a:gd name="T1" fmla="*/ 400860 h 584262"/>
                <a:gd name="T2" fmla="*/ 387181 w 1309941"/>
                <a:gd name="T3" fmla="*/ 584111 h 584262"/>
                <a:gd name="T4" fmla="*/ 687618 w 1309941"/>
                <a:gd name="T5" fmla="*/ 382339 h 584262"/>
                <a:gd name="T6" fmla="*/ 835966 w 1309941"/>
                <a:gd name="T7" fmla="*/ 19229 h 584262"/>
                <a:gd name="T8" fmla="*/ 1309687 w 1309941"/>
                <a:gd name="T9" fmla="*/ 0 h 5842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09941" h="584262">
                  <a:moveTo>
                    <a:pt x="0" y="400903"/>
                  </a:moveTo>
                  <a:cubicBezTo>
                    <a:pt x="73925" y="510085"/>
                    <a:pt x="272631" y="587260"/>
                    <a:pt x="387256" y="584173"/>
                  </a:cubicBezTo>
                  <a:cubicBezTo>
                    <a:pt x="501881" y="581086"/>
                    <a:pt x="612939" y="476537"/>
                    <a:pt x="687751" y="382380"/>
                  </a:cubicBezTo>
                  <a:cubicBezTo>
                    <a:pt x="762563" y="288223"/>
                    <a:pt x="706474" y="39702"/>
                    <a:pt x="836128" y="19231"/>
                  </a:cubicBezTo>
                  <a:cubicBezTo>
                    <a:pt x="965782" y="-1240"/>
                    <a:pt x="1254612" y="7754"/>
                    <a:pt x="1309941" y="0"/>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4" name="Freeform 14"/>
            <p:cNvSpPr>
              <a:spLocks/>
            </p:cNvSpPr>
            <p:nvPr/>
          </p:nvSpPr>
          <p:spPr bwMode="auto">
            <a:xfrm>
              <a:off x="3144838" y="2252663"/>
              <a:ext cx="2111375" cy="3260725"/>
            </a:xfrm>
            <a:custGeom>
              <a:avLst/>
              <a:gdLst>
                <a:gd name="T0" fmla="*/ 0 w 2110797"/>
                <a:gd name="T1" fmla="*/ 0 h 3259890"/>
                <a:gd name="T2" fmla="*/ 819822 w 2110797"/>
                <a:gd name="T3" fmla="*/ 1258596 h 3259890"/>
                <a:gd name="T4" fmla="*/ 2091361 w 2110797"/>
                <a:gd name="T5" fmla="*/ 2397258 h 3259890"/>
                <a:gd name="T6" fmla="*/ 1571199 w 2110797"/>
                <a:gd name="T7" fmla="*/ 3186632 h 3259890"/>
                <a:gd name="T8" fmla="*/ 670873 w 2110797"/>
                <a:gd name="T9" fmla="*/ 3257287 h 325989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0797" h="3259890">
                  <a:moveTo>
                    <a:pt x="0" y="0"/>
                  </a:moveTo>
                  <a:cubicBezTo>
                    <a:pt x="73925" y="109182"/>
                    <a:pt x="471133" y="858833"/>
                    <a:pt x="819598" y="1258274"/>
                  </a:cubicBezTo>
                  <a:cubicBezTo>
                    <a:pt x="1168063" y="1657715"/>
                    <a:pt x="1965593" y="2075387"/>
                    <a:pt x="2090788" y="2396644"/>
                  </a:cubicBezTo>
                  <a:cubicBezTo>
                    <a:pt x="2215983" y="2717901"/>
                    <a:pt x="1718620" y="3219935"/>
                    <a:pt x="1570769" y="3185816"/>
                  </a:cubicBezTo>
                  <a:cubicBezTo>
                    <a:pt x="1422918" y="3151697"/>
                    <a:pt x="771351" y="3282415"/>
                    <a:pt x="670689" y="3256453"/>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5" name="Freeform 15"/>
            <p:cNvSpPr>
              <a:spLocks/>
            </p:cNvSpPr>
            <p:nvPr/>
          </p:nvSpPr>
          <p:spPr bwMode="auto">
            <a:xfrm>
              <a:off x="3397250" y="2270125"/>
              <a:ext cx="2868613" cy="3178175"/>
            </a:xfrm>
            <a:custGeom>
              <a:avLst/>
              <a:gdLst>
                <a:gd name="T0" fmla="*/ 0 w 2868616"/>
                <a:gd name="T1" fmla="*/ 0 h 3179242"/>
                <a:gd name="T2" fmla="*/ 1015540 w 2868616"/>
                <a:gd name="T3" fmla="*/ 964037 h 3179242"/>
                <a:gd name="T4" fmla="*/ 1729148 w 2868616"/>
                <a:gd name="T5" fmla="*/ 1665085 h 3179242"/>
                <a:gd name="T6" fmla="*/ 2221414 w 2868616"/>
                <a:gd name="T7" fmla="*/ 2248934 h 3179242"/>
                <a:gd name="T8" fmla="*/ 2235333 w 2868616"/>
                <a:gd name="T9" fmla="*/ 2872993 h 3179242"/>
                <a:gd name="T10" fmla="*/ 2403523 w 2868616"/>
                <a:gd name="T11" fmla="*/ 3135779 h 3179242"/>
                <a:gd name="T12" fmla="*/ 2858715 w 2868616"/>
                <a:gd name="T13" fmla="*/ 3173745 h 31792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868616" h="3179242">
                  <a:moveTo>
                    <a:pt x="0" y="0"/>
                  </a:moveTo>
                  <a:cubicBezTo>
                    <a:pt x="73925" y="109182"/>
                    <a:pt x="727349" y="686754"/>
                    <a:pt x="1015541" y="964361"/>
                  </a:cubicBezTo>
                  <a:cubicBezTo>
                    <a:pt x="1303733" y="1241968"/>
                    <a:pt x="1558107" y="1426930"/>
                    <a:pt x="1729150" y="1665644"/>
                  </a:cubicBezTo>
                  <a:cubicBezTo>
                    <a:pt x="1900193" y="1904358"/>
                    <a:pt x="2137052" y="2048303"/>
                    <a:pt x="2221416" y="2249689"/>
                  </a:cubicBezTo>
                  <a:cubicBezTo>
                    <a:pt x="2305780" y="2451075"/>
                    <a:pt x="2221312" y="2726101"/>
                    <a:pt x="2235335" y="2873958"/>
                  </a:cubicBezTo>
                  <a:cubicBezTo>
                    <a:pt x="2249358" y="3021815"/>
                    <a:pt x="2318679" y="3070361"/>
                    <a:pt x="2403526" y="3136832"/>
                  </a:cubicBezTo>
                  <a:cubicBezTo>
                    <a:pt x="2255675" y="3102713"/>
                    <a:pt x="2959380" y="3200773"/>
                    <a:pt x="2858718" y="3174811"/>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2774763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Footer Placeholder 3"/>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9875" name="Rectangle 2"/>
          <p:cNvSpPr>
            <a:spLocks noChangeArrowheads="1"/>
          </p:cNvSpPr>
          <p:nvPr/>
        </p:nvSpPr>
        <p:spPr bwMode="auto">
          <a:xfrm>
            <a:off x="762000" y="1524000"/>
            <a:ext cx="8175625"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Arial" panose="020B0604020202020204" pitchFamily="34" charset="0"/>
              </a:rPr>
              <a:t>All members defined as </a:t>
            </a:r>
          </a:p>
          <a:p>
            <a:pPr>
              <a:spcBef>
                <a:spcPct val="0"/>
              </a:spcBef>
              <a:buFontTx/>
              <a:buNone/>
            </a:pPr>
            <a:r>
              <a:rPr lang="en-US" altLang="en-US" sz="4000">
                <a:solidFill>
                  <a:schemeClr val="accent2"/>
                </a:solidFill>
                <a:latin typeface="Arial" panose="020B0604020202020204" pitchFamily="34" charset="0"/>
              </a:rPr>
              <a:t>private</a:t>
            </a:r>
            <a:r>
              <a:rPr lang="en-US" altLang="en-US" sz="4000">
                <a:latin typeface="Arial" panose="020B0604020202020204" pitchFamily="34" charset="0"/>
              </a:rPr>
              <a:t> can only be accessed</a:t>
            </a:r>
          </a:p>
          <a:p>
            <a:pPr>
              <a:spcBef>
                <a:spcPct val="0"/>
              </a:spcBef>
              <a:buFontTx/>
              <a:buNone/>
            </a:pPr>
            <a:r>
              <a:rPr lang="en-US" altLang="en-US" sz="4000">
                <a:latin typeface="Arial" panose="020B0604020202020204" pitchFamily="34" charset="0"/>
              </a:rPr>
              <a:t>by members of the class where</a:t>
            </a:r>
          </a:p>
          <a:p>
            <a:pPr>
              <a:spcBef>
                <a:spcPct val="0"/>
              </a:spcBef>
              <a:buFontTx/>
              <a:buNone/>
            </a:pPr>
            <a:r>
              <a:rPr lang="en-US" altLang="en-US" sz="4000">
                <a:latin typeface="Arial" panose="020B0604020202020204" pitchFamily="34" charset="0"/>
              </a:rPr>
              <a:t>they are defined.</a:t>
            </a:r>
          </a:p>
          <a:p>
            <a:pPr>
              <a:spcBef>
                <a:spcPct val="0"/>
              </a:spcBef>
              <a:buFontTx/>
              <a:buNone/>
            </a:pPr>
            <a:endParaRPr lang="en-US" altLang="en-US" sz="4000">
              <a:latin typeface="Arial" panose="020B0604020202020204" pitchFamily="34" charset="0"/>
            </a:endParaRPr>
          </a:p>
          <a:p>
            <a:pPr>
              <a:spcBef>
                <a:spcPct val="0"/>
              </a:spcBef>
              <a:buFontTx/>
              <a:buNone/>
            </a:pPr>
            <a:r>
              <a:rPr lang="en-US" altLang="en-US" sz="4000">
                <a:latin typeface="Arial" panose="020B0604020202020204" pitchFamily="34" charset="0"/>
              </a:rPr>
              <a:t>Private members may not be</a:t>
            </a:r>
          </a:p>
          <a:p>
            <a:pPr>
              <a:spcBef>
                <a:spcPct val="0"/>
              </a:spcBef>
              <a:buFontTx/>
              <a:buNone/>
            </a:pPr>
            <a:r>
              <a:rPr lang="en-US" altLang="en-US" sz="4000">
                <a:latin typeface="Arial" panose="020B0604020202020204" pitchFamily="34" charset="0"/>
              </a:rPr>
              <a:t>accessed directly by sub classes</a:t>
            </a:r>
          </a:p>
          <a:p>
            <a:pPr>
              <a:spcBef>
                <a:spcPct val="0"/>
              </a:spcBef>
              <a:buFontTx/>
              <a:buNone/>
            </a:pPr>
            <a:r>
              <a:rPr lang="en-US" altLang="en-US" sz="4000">
                <a:latin typeface="Arial" panose="020B0604020202020204" pitchFamily="34" charset="0"/>
              </a:rPr>
              <a:t>or by other classes.</a:t>
            </a:r>
          </a:p>
        </p:txBody>
      </p:sp>
      <p:sp>
        <p:nvSpPr>
          <p:cNvPr id="79876" name="WordArt 5"/>
          <p:cNvSpPr>
            <a:spLocks noChangeArrowheads="1" noChangeShapeType="1" noTextEdit="1"/>
          </p:cNvSpPr>
          <p:nvPr/>
        </p:nvSpPr>
        <p:spPr bwMode="auto">
          <a:xfrm>
            <a:off x="1524000" y="457200"/>
            <a:ext cx="5715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private</a:t>
            </a:r>
          </a:p>
        </p:txBody>
      </p:sp>
    </p:spTree>
    <p:extLst>
      <p:ext uri="{BB962C8B-B14F-4D97-AF65-F5344CB8AC3E}">
        <p14:creationId xmlns:p14="http://schemas.microsoft.com/office/powerpoint/2010/main" val="13157651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descr="My file:&#10;package myPackage;&#10;public class MyClass {&#10;   // class member with private access&#10;}&#10;public class MyOtherClass {&#10;}&#10;Your file:&#10;package yourPackage;&#10;class YourClass extends MyClass { &#10;}&#10;class YourOtherClass extends MyClass {&#10;}&#10;My private class member can only be accessed from inside the same class.">
            <a:extLst>
              <a:ext uri="{FF2B5EF4-FFF2-40B4-BE49-F238E27FC236}">
                <a16:creationId xmlns:a16="http://schemas.microsoft.com/office/drawing/2014/main" id="{9E912DA1-0E8A-8046-DE8B-F34A399CA6E8}"/>
              </a:ext>
            </a:extLst>
          </p:cNvPr>
          <p:cNvGrpSpPr/>
          <p:nvPr/>
        </p:nvGrpSpPr>
        <p:grpSpPr>
          <a:xfrm>
            <a:off x="-76200" y="-152400"/>
            <a:ext cx="9067800" cy="7239000"/>
            <a:chOff x="-76200" y="-152400"/>
            <a:chExt cx="9067800" cy="7239000"/>
          </a:xfrm>
        </p:grpSpPr>
        <p:pic>
          <p:nvPicPr>
            <p:cNvPr id="9218" name="Picture 4" descr="Clipart - Manilla &lt;strong&gt;folder&lt;/strong&gt;"/>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152400"/>
              <a:ext cx="80010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9" name="TextBox 5"/>
            <p:cNvSpPr txBox="1">
              <a:spLocks noChangeArrowheads="1"/>
            </p:cNvSpPr>
            <p:nvPr/>
          </p:nvSpPr>
          <p:spPr bwMode="auto">
            <a:xfrm>
              <a:off x="533400" y="228600"/>
              <a:ext cx="16557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myPackage</a:t>
              </a:r>
            </a:p>
          </p:txBody>
        </p:sp>
        <p:pic>
          <p:nvPicPr>
            <p:cNvPr id="9220" name="Picture 6" descr="Clipart - Manilla &lt;strong&gt;folder&lt;/strong&gt;"/>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251200"/>
              <a:ext cx="8001000" cy="383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1" name="TextBox 7"/>
            <p:cNvSpPr txBox="1">
              <a:spLocks noChangeArrowheads="1"/>
            </p:cNvSpPr>
            <p:nvPr/>
          </p:nvSpPr>
          <p:spPr bwMode="auto">
            <a:xfrm>
              <a:off x="1600200" y="3632200"/>
              <a:ext cx="1843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yourPackage</a:t>
              </a:r>
            </a:p>
          </p:txBody>
        </p:sp>
        <p:sp>
          <p:nvSpPr>
            <p:cNvPr id="9222" name="TextBox 8"/>
            <p:cNvSpPr txBox="1">
              <a:spLocks noChangeArrowheads="1"/>
            </p:cNvSpPr>
            <p:nvPr/>
          </p:nvSpPr>
          <p:spPr bwMode="auto">
            <a:xfrm>
              <a:off x="685800" y="920750"/>
              <a:ext cx="2501006"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err="1">
                  <a:latin typeface="Tahoma" panose="020B0604030504040204" pitchFamily="34" charset="0"/>
                </a:rPr>
                <a:t>MyClass</a:t>
              </a:r>
              <a:endParaRPr lang="en-US" altLang="en-US" sz="2000" dirty="0">
                <a:latin typeface="Tahoma" panose="020B0604030504040204" pitchFamily="34" charset="0"/>
              </a:endParaRPr>
            </a:p>
            <a:p>
              <a:pPr>
                <a:spcBef>
                  <a:spcPct val="0"/>
                </a:spcBef>
                <a:buFontTx/>
                <a:buNone/>
              </a:pPr>
              <a:r>
                <a:rPr lang="en-US" altLang="en-US" sz="2000" dirty="0">
                  <a:latin typeface="Tahoma" panose="020B0604030504040204" pitchFamily="34" charset="0"/>
                </a:rPr>
                <a:t>{</a:t>
              </a:r>
            </a:p>
            <a:p>
              <a:pPr>
                <a:spcBef>
                  <a:spcPct val="0"/>
                </a:spcBef>
                <a:buNone/>
              </a:pPr>
              <a:r>
                <a:rPr lang="en-US" altLang="en-US" sz="2000" dirty="0">
                  <a:latin typeface="Tahoma" panose="020B0604030504040204" pitchFamily="34" charset="0"/>
                </a:rPr>
                <a:t>    </a:t>
              </a:r>
              <a:r>
                <a:rPr lang="en-US" altLang="en-US" sz="2000" b="1" dirty="0">
                  <a:solidFill>
                    <a:srgbClr val="0070C0"/>
                  </a:solidFill>
                  <a:latin typeface="Tahoma" panose="020B0604030504040204" pitchFamily="34" charset="0"/>
                </a:rPr>
                <a:t>private</a:t>
              </a:r>
              <a:r>
                <a:rPr lang="en-US" altLang="en-US" sz="2000" b="1" dirty="0">
                  <a:latin typeface="Tahoma" panose="020B0604030504040204" pitchFamily="34" charset="0"/>
                </a:rPr>
                <a:t> </a:t>
              </a:r>
              <a:r>
                <a:rPr lang="en-US" altLang="en-US" sz="2000" b="1" dirty="0">
                  <a:solidFill>
                    <a:srgbClr val="7030A0"/>
                  </a:solidFill>
                  <a:latin typeface="Tahoma" panose="020B0604030504040204" pitchFamily="34" charset="0"/>
                </a:rPr>
                <a:t>int size;</a:t>
              </a:r>
            </a:p>
            <a:p>
              <a:pPr>
                <a:spcBef>
                  <a:spcPct val="0"/>
                </a:spcBef>
                <a:buFontTx/>
                <a:buNone/>
              </a:pPr>
              <a:endParaRPr lang="en-US" altLang="en-US" sz="2000" i="1" dirty="0">
                <a:solidFill>
                  <a:srgbClr val="7030A0"/>
                </a:solidFill>
                <a:latin typeface="Tahoma" panose="020B0604030504040204" pitchFamily="34" charset="0"/>
              </a:endParaRPr>
            </a:p>
            <a:p>
              <a:pPr>
                <a:spcBef>
                  <a:spcPct val="0"/>
                </a:spcBef>
                <a:buFontTx/>
                <a:buNone/>
              </a:pPr>
              <a:endParaRPr lang="en-US" altLang="en-US" sz="2000" dirty="0">
                <a:latin typeface="Tahoma" panose="020B0604030504040204" pitchFamily="34" charset="0"/>
              </a:endParaRPr>
            </a:p>
            <a:p>
              <a:pPr>
                <a:spcBef>
                  <a:spcPct val="0"/>
                </a:spcBef>
                <a:buFontTx/>
                <a:buNone/>
              </a:pPr>
              <a:endParaRPr lang="en-US" altLang="en-US" sz="2000" dirty="0">
                <a:latin typeface="Tahoma" panose="020B0604030504040204" pitchFamily="34" charset="0"/>
              </a:endParaRPr>
            </a:p>
            <a:p>
              <a:pPr>
                <a:spcBef>
                  <a:spcPct val="0"/>
                </a:spcBef>
                <a:buFontTx/>
                <a:buNone/>
              </a:pPr>
              <a:r>
                <a:rPr lang="en-US" altLang="en-US" sz="2000" dirty="0">
                  <a:latin typeface="Tahoma" panose="020B0604030504040204" pitchFamily="34" charset="0"/>
                </a:rPr>
                <a:t>}</a:t>
              </a:r>
            </a:p>
          </p:txBody>
        </p:sp>
        <p:sp>
          <p:nvSpPr>
            <p:cNvPr id="9223" name="TextBox 9"/>
            <p:cNvSpPr txBox="1">
              <a:spLocks noChangeArrowheads="1"/>
            </p:cNvSpPr>
            <p:nvPr/>
          </p:nvSpPr>
          <p:spPr bwMode="auto">
            <a:xfrm>
              <a:off x="4292600" y="920750"/>
              <a:ext cx="1955800"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MyOtherClass</a:t>
              </a:r>
            </a:p>
            <a:p>
              <a:pPr>
                <a:spcBef>
                  <a:spcPct val="0"/>
                </a:spcBef>
                <a:buFontTx/>
                <a:buNone/>
              </a:pPr>
              <a:r>
                <a:rPr lang="en-US" altLang="en-US" sz="2000">
                  <a:latin typeface="Tahoma" panose="020B0604030504040204" pitchFamily="34" charset="0"/>
                </a:rPr>
                <a:t>{</a:t>
              </a:r>
            </a:p>
            <a:p>
              <a:pPr>
                <a:spcBef>
                  <a:spcPct val="0"/>
                </a:spcBef>
                <a:buFontTx/>
                <a:buNone/>
              </a:pPr>
              <a:r>
                <a:rPr lang="en-US" altLang="en-US" sz="2000">
                  <a:latin typeface="Tahoma" panose="020B0604030504040204" pitchFamily="34" charset="0"/>
                </a:rPr>
                <a:t>    </a:t>
              </a: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9224" name="TextBox 10"/>
            <p:cNvSpPr txBox="1">
              <a:spLocks noChangeArrowheads="1"/>
            </p:cNvSpPr>
            <p:nvPr/>
          </p:nvSpPr>
          <p:spPr bwMode="auto">
            <a:xfrm>
              <a:off x="1624013" y="4506913"/>
              <a:ext cx="36703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YourClass extends MyClass</a:t>
              </a:r>
            </a:p>
            <a:p>
              <a:pPr>
                <a:spcBef>
                  <a:spcPct val="0"/>
                </a:spcBef>
                <a:buFontTx/>
                <a:buNone/>
              </a:pPr>
              <a:r>
                <a:rPr lang="en-US" altLang="en-US" sz="2000">
                  <a:latin typeface="Tahoma" panose="020B0604030504040204" pitchFamily="34" charset="0"/>
                </a:rPr>
                <a:t>{</a:t>
              </a:r>
            </a:p>
            <a:p>
              <a:pPr>
                <a:spcBef>
                  <a:spcPct val="0"/>
                </a:spcBef>
                <a:buFontTx/>
                <a:buNone/>
              </a:pPr>
              <a:endParaRPr lang="en-US" altLang="en-US" sz="2000">
                <a:latin typeface="Tahoma" panose="020B0604030504040204" pitchFamily="34" charset="0"/>
              </a:endParaRP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9225" name="TextBox 11"/>
            <p:cNvSpPr txBox="1">
              <a:spLocks noChangeArrowheads="1"/>
            </p:cNvSpPr>
            <p:nvPr/>
          </p:nvSpPr>
          <p:spPr bwMode="auto">
            <a:xfrm>
              <a:off x="5927725" y="4506913"/>
              <a:ext cx="21844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YourOtherClass</a:t>
              </a:r>
            </a:p>
            <a:p>
              <a:pPr>
                <a:spcBef>
                  <a:spcPct val="0"/>
                </a:spcBef>
                <a:buFontTx/>
                <a:buNone/>
              </a:pPr>
              <a:r>
                <a:rPr lang="en-US" altLang="en-US" sz="2000">
                  <a:latin typeface="Tahoma" panose="020B0604030504040204" pitchFamily="34" charset="0"/>
                </a:rPr>
                <a:t>{</a:t>
              </a:r>
            </a:p>
            <a:p>
              <a:pPr>
                <a:spcBef>
                  <a:spcPct val="0"/>
                </a:spcBef>
                <a:buFontTx/>
                <a:buNone/>
              </a:pPr>
              <a:r>
                <a:rPr lang="en-US" altLang="en-US" sz="2000">
                  <a:latin typeface="Tahoma" panose="020B0604030504040204" pitchFamily="34" charset="0"/>
                </a:rPr>
                <a:t>    </a:t>
              </a: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9226" name="Freeform 12"/>
            <p:cNvSpPr>
              <a:spLocks/>
            </p:cNvSpPr>
            <p:nvPr/>
          </p:nvSpPr>
          <p:spPr bwMode="auto">
            <a:xfrm>
              <a:off x="2133600" y="1989138"/>
              <a:ext cx="671513" cy="561975"/>
            </a:xfrm>
            <a:custGeom>
              <a:avLst/>
              <a:gdLst>
                <a:gd name="T0" fmla="*/ 587326 w 670973"/>
                <a:gd name="T1" fmla="*/ 0 h 561907"/>
                <a:gd name="T2" fmla="*/ 669279 w 670973"/>
                <a:gd name="T3" fmla="*/ 177441 h 561907"/>
                <a:gd name="T4" fmla="*/ 532691 w 670973"/>
                <a:gd name="T5" fmla="*/ 505028 h 561907"/>
                <a:gd name="T6" fmla="*/ 0 w 670973"/>
                <a:gd name="T7" fmla="*/ 559626 h 56190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0973" h="561907">
                  <a:moveTo>
                    <a:pt x="586854" y="0"/>
                  </a:moveTo>
                  <a:cubicBezTo>
                    <a:pt x="660779" y="109182"/>
                    <a:pt x="677839" y="93259"/>
                    <a:pt x="668741" y="177420"/>
                  </a:cubicBezTo>
                  <a:cubicBezTo>
                    <a:pt x="659643" y="261581"/>
                    <a:pt x="643720" y="441277"/>
                    <a:pt x="532263" y="504967"/>
                  </a:cubicBezTo>
                  <a:cubicBezTo>
                    <a:pt x="420806" y="568657"/>
                    <a:pt x="210403" y="564107"/>
                    <a:pt x="0" y="559558"/>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1044238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Footer Placeholder 3"/>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1923" name="Rectangle 2"/>
          <p:cNvSpPr>
            <a:spLocks noChangeArrowheads="1"/>
          </p:cNvSpPr>
          <p:nvPr/>
        </p:nvSpPr>
        <p:spPr bwMode="auto">
          <a:xfrm>
            <a:off x="685800" y="1524000"/>
            <a:ext cx="7951788"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Arial" panose="020B0604020202020204" pitchFamily="34" charset="0"/>
              </a:rPr>
              <a:t>This is the default visibility.</a:t>
            </a:r>
          </a:p>
          <a:p>
            <a:pPr>
              <a:spcBef>
                <a:spcPct val="0"/>
              </a:spcBef>
              <a:buFontTx/>
              <a:buNone/>
            </a:pPr>
            <a:r>
              <a:rPr lang="en-US" altLang="en-US" sz="4000">
                <a:latin typeface="Arial" panose="020B0604020202020204" pitchFamily="34" charset="0"/>
              </a:rPr>
              <a:t>All members defined as </a:t>
            </a:r>
          </a:p>
          <a:p>
            <a:pPr>
              <a:spcBef>
                <a:spcPct val="0"/>
              </a:spcBef>
              <a:buFontTx/>
              <a:buNone/>
            </a:pPr>
            <a:r>
              <a:rPr lang="en-US" altLang="en-US" sz="4000">
                <a:solidFill>
                  <a:schemeClr val="accent2"/>
                </a:solidFill>
                <a:latin typeface="Arial" panose="020B0604020202020204" pitchFamily="34" charset="0"/>
              </a:rPr>
              <a:t>package</a:t>
            </a:r>
            <a:r>
              <a:rPr lang="en-US" altLang="en-US" sz="4000">
                <a:latin typeface="Arial" panose="020B0604020202020204" pitchFamily="34" charset="0"/>
              </a:rPr>
              <a:t> can be accessed</a:t>
            </a:r>
          </a:p>
          <a:p>
            <a:pPr>
              <a:spcBef>
                <a:spcPct val="0"/>
              </a:spcBef>
              <a:buFontTx/>
              <a:buNone/>
            </a:pPr>
            <a:r>
              <a:rPr lang="en-US" altLang="en-US" sz="4000">
                <a:latin typeface="Arial" panose="020B0604020202020204" pitchFamily="34" charset="0"/>
              </a:rPr>
              <a:t>by members of any other</a:t>
            </a:r>
          </a:p>
          <a:p>
            <a:pPr>
              <a:spcBef>
                <a:spcPct val="0"/>
              </a:spcBef>
              <a:buFontTx/>
              <a:buNone/>
            </a:pPr>
            <a:r>
              <a:rPr lang="en-US" altLang="en-US" sz="4000">
                <a:latin typeface="Arial" panose="020B0604020202020204" pitchFamily="34" charset="0"/>
              </a:rPr>
              <a:t>class in the same package.</a:t>
            </a:r>
          </a:p>
          <a:p>
            <a:pPr>
              <a:spcBef>
                <a:spcPct val="0"/>
              </a:spcBef>
              <a:buFontTx/>
              <a:buNone/>
            </a:pPr>
            <a:endParaRPr lang="en-US" altLang="en-US" sz="1400">
              <a:latin typeface="Arial" panose="020B0604020202020204" pitchFamily="34" charset="0"/>
            </a:endParaRPr>
          </a:p>
          <a:p>
            <a:pPr>
              <a:spcBef>
                <a:spcPct val="0"/>
              </a:spcBef>
              <a:buFontTx/>
              <a:buNone/>
            </a:pPr>
            <a:r>
              <a:rPr lang="en-US" altLang="en-US" sz="4000">
                <a:latin typeface="Arial" panose="020B0604020202020204" pitchFamily="34" charset="0"/>
              </a:rPr>
              <a:t>Sub class members may access</a:t>
            </a:r>
          </a:p>
          <a:p>
            <a:pPr>
              <a:spcBef>
                <a:spcPct val="0"/>
              </a:spcBef>
              <a:buFontTx/>
              <a:buNone/>
            </a:pPr>
            <a:r>
              <a:rPr lang="en-US" altLang="en-US" sz="4000">
                <a:latin typeface="Arial" panose="020B0604020202020204" pitchFamily="34" charset="0"/>
              </a:rPr>
              <a:t>them only if the sub class is in</a:t>
            </a:r>
          </a:p>
          <a:p>
            <a:pPr>
              <a:spcBef>
                <a:spcPct val="0"/>
              </a:spcBef>
              <a:buFontTx/>
              <a:buNone/>
            </a:pPr>
            <a:r>
              <a:rPr lang="en-US" altLang="en-US" sz="4000">
                <a:latin typeface="Arial" panose="020B0604020202020204" pitchFamily="34" charset="0"/>
              </a:rPr>
              <a:t>the same package.</a:t>
            </a:r>
          </a:p>
          <a:p>
            <a:pPr>
              <a:spcBef>
                <a:spcPct val="0"/>
              </a:spcBef>
              <a:buFontTx/>
              <a:buNone/>
            </a:pPr>
            <a:endParaRPr lang="en-US" altLang="en-US" sz="4000">
              <a:latin typeface="Arial" panose="020B0604020202020204" pitchFamily="34" charset="0"/>
            </a:endParaRPr>
          </a:p>
        </p:txBody>
      </p:sp>
      <p:sp>
        <p:nvSpPr>
          <p:cNvPr id="81924" name="WordArt 3"/>
          <p:cNvSpPr>
            <a:spLocks noChangeArrowheads="1" noChangeShapeType="1" noTextEdit="1"/>
          </p:cNvSpPr>
          <p:nvPr/>
        </p:nvSpPr>
        <p:spPr bwMode="auto">
          <a:xfrm>
            <a:off x="1524000" y="457200"/>
            <a:ext cx="5715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package</a:t>
            </a:r>
          </a:p>
        </p:txBody>
      </p:sp>
    </p:spTree>
    <p:extLst>
      <p:ext uri="{BB962C8B-B14F-4D97-AF65-F5344CB8AC3E}">
        <p14:creationId xmlns:p14="http://schemas.microsoft.com/office/powerpoint/2010/main" val="18523188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4" descr="Clipart - Manilla &lt;strong&gt;folder&lt;/strong&gt;"/>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152400"/>
            <a:ext cx="958596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TextBox 5"/>
          <p:cNvSpPr txBox="1">
            <a:spLocks noChangeArrowheads="1"/>
          </p:cNvSpPr>
          <p:nvPr/>
        </p:nvSpPr>
        <p:spPr bwMode="auto">
          <a:xfrm>
            <a:off x="533400" y="228600"/>
            <a:ext cx="16557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myPackage</a:t>
            </a:r>
          </a:p>
        </p:txBody>
      </p:sp>
      <p:pic>
        <p:nvPicPr>
          <p:cNvPr id="12292" name="Picture 6" descr="Clipart - Manilla &lt;strong&gt;folder&lt;/strong&gt;"/>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251200"/>
            <a:ext cx="8001000" cy="383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TextBox 7"/>
          <p:cNvSpPr txBox="1">
            <a:spLocks noChangeArrowheads="1"/>
          </p:cNvSpPr>
          <p:nvPr/>
        </p:nvSpPr>
        <p:spPr bwMode="auto">
          <a:xfrm>
            <a:off x="1600200" y="3632200"/>
            <a:ext cx="1843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yourPackage</a:t>
            </a:r>
          </a:p>
        </p:txBody>
      </p:sp>
      <p:sp>
        <p:nvSpPr>
          <p:cNvPr id="12294" name="TextBox 8"/>
          <p:cNvSpPr txBox="1">
            <a:spLocks noChangeArrowheads="1"/>
          </p:cNvSpPr>
          <p:nvPr/>
        </p:nvSpPr>
        <p:spPr bwMode="auto">
          <a:xfrm>
            <a:off x="685800" y="920750"/>
            <a:ext cx="1571264"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err="1">
                <a:ln>
                  <a:noFill/>
                </a:ln>
                <a:solidFill>
                  <a:srgbClr val="000000"/>
                </a:solidFill>
                <a:effectLst/>
                <a:uLnTx/>
                <a:uFillTx/>
                <a:latin typeface="Tahoma" panose="020B0604030504040204" pitchFamily="34" charset="0"/>
                <a:ea typeface="+mn-ea"/>
                <a:cs typeface="+mn-cs"/>
              </a:rPr>
              <a:t>MyClass</a:t>
            </a:r>
            <a:endPar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dirty="0">
                <a:ln>
                  <a:noFill/>
                </a:ln>
                <a:solidFill>
                  <a:srgbClr val="7030A0"/>
                </a:solidFill>
                <a:effectLst/>
                <a:uLnTx/>
                <a:uFillTx/>
                <a:latin typeface="Tahoma" panose="020B0604030504040204" pitchFamily="34" charset="0"/>
                <a:ea typeface="+mn-ea"/>
                <a:cs typeface="+mn-cs"/>
              </a:rPr>
              <a:t>     int size;</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1" u="none" strike="noStrike" kern="1200" cap="none" spc="0" normalizeH="0" baseline="0" noProof="0" dirty="0">
              <a:ln>
                <a:noFill/>
              </a:ln>
              <a:solidFill>
                <a:srgbClr val="7030A0"/>
              </a:solidFill>
              <a:effectLst/>
              <a:uLnTx/>
              <a:uFillTx/>
              <a:latin typeface="Tahoma" panose="020B0604030504040204" pitchFamily="34"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rPr>
              <a:t>}</a:t>
            </a:r>
          </a:p>
        </p:txBody>
      </p:sp>
      <p:sp>
        <p:nvSpPr>
          <p:cNvPr id="12295" name="TextBox 9"/>
          <p:cNvSpPr txBox="1">
            <a:spLocks noChangeArrowheads="1"/>
          </p:cNvSpPr>
          <p:nvPr/>
        </p:nvSpPr>
        <p:spPr bwMode="auto">
          <a:xfrm>
            <a:off x="4154488" y="903288"/>
            <a:ext cx="1957387"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err="1">
                <a:ln>
                  <a:noFill/>
                </a:ln>
                <a:solidFill>
                  <a:srgbClr val="000000"/>
                </a:solidFill>
                <a:effectLst/>
                <a:uLnTx/>
                <a:uFillTx/>
                <a:latin typeface="Tahoma" panose="020B0604030504040204" pitchFamily="34" charset="0"/>
                <a:ea typeface="+mn-ea"/>
                <a:cs typeface="+mn-cs"/>
              </a:rPr>
              <a:t>MyOtherClass</a:t>
            </a:r>
            <a:endPar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Tahoma" panose="020B0604030504040204" pitchFamily="34" charset="0"/>
                <a:ea typeface="+mn-ea"/>
                <a:cs typeface="+mn-cs"/>
              </a:rPr>
              <a:t>}</a:t>
            </a:r>
          </a:p>
        </p:txBody>
      </p:sp>
      <p:sp>
        <p:nvSpPr>
          <p:cNvPr id="12296" name="TextBox 10"/>
          <p:cNvSpPr txBox="1">
            <a:spLocks noChangeArrowheads="1"/>
          </p:cNvSpPr>
          <p:nvPr/>
        </p:nvSpPr>
        <p:spPr bwMode="auto">
          <a:xfrm>
            <a:off x="1624013" y="4506913"/>
            <a:ext cx="36703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YourClass extends MyClass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a:t>
            </a:r>
          </a:p>
        </p:txBody>
      </p:sp>
      <p:sp>
        <p:nvSpPr>
          <p:cNvPr id="12297" name="TextBox 11"/>
          <p:cNvSpPr txBox="1">
            <a:spLocks noChangeArrowheads="1"/>
          </p:cNvSpPr>
          <p:nvPr/>
        </p:nvSpPr>
        <p:spPr bwMode="auto">
          <a:xfrm>
            <a:off x="5927725" y="4506913"/>
            <a:ext cx="21844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YourOtherClass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    </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000000"/>
                </a:solidFill>
                <a:effectLst/>
                <a:uLnTx/>
                <a:uFillTx/>
                <a:latin typeface="Tahoma" panose="020B0604030504040204" pitchFamily="34" charset="0"/>
                <a:ea typeface="+mn-ea"/>
                <a:cs typeface="+mn-cs"/>
              </a:rPr>
              <a:t>}</a:t>
            </a:r>
          </a:p>
        </p:txBody>
      </p:sp>
      <p:sp>
        <p:nvSpPr>
          <p:cNvPr id="12298" name="Freeform 12"/>
          <p:cNvSpPr>
            <a:spLocks/>
          </p:cNvSpPr>
          <p:nvPr/>
        </p:nvSpPr>
        <p:spPr bwMode="auto">
          <a:xfrm>
            <a:off x="2357438" y="2178050"/>
            <a:ext cx="982662" cy="657225"/>
          </a:xfrm>
          <a:custGeom>
            <a:avLst/>
            <a:gdLst>
              <a:gd name="T0" fmla="*/ 832485 w 982696"/>
              <a:gd name="T1" fmla="*/ 0 h 657289"/>
              <a:gd name="T2" fmla="*/ 982606 w 982696"/>
              <a:gd name="T3" fmla="*/ 327514 h 657289"/>
              <a:gd name="T4" fmla="*/ 846133 w 982696"/>
              <a:gd name="T5" fmla="*/ 655029 h 657289"/>
              <a:gd name="T6" fmla="*/ 549361 w 982696"/>
              <a:gd name="T7" fmla="*/ 469623 h 657289"/>
              <a:gd name="T8" fmla="*/ 0 w 982696"/>
              <a:gd name="T9" fmla="*/ 450332 h 6572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82696" h="657289">
                <a:moveTo>
                  <a:pt x="832514" y="0"/>
                </a:moveTo>
                <a:cubicBezTo>
                  <a:pt x="906439" y="109182"/>
                  <a:pt x="980365" y="218364"/>
                  <a:pt x="982640" y="327546"/>
                </a:cubicBezTo>
                <a:cubicBezTo>
                  <a:pt x="984915" y="436728"/>
                  <a:pt x="918372" y="631406"/>
                  <a:pt x="846162" y="655093"/>
                </a:cubicBezTo>
                <a:cubicBezTo>
                  <a:pt x="773952" y="678780"/>
                  <a:pt x="697231" y="503788"/>
                  <a:pt x="549380" y="469669"/>
                </a:cubicBezTo>
                <a:cubicBezTo>
                  <a:pt x="401529" y="435550"/>
                  <a:pt x="100662" y="476338"/>
                  <a:pt x="0" y="450376"/>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12299" name="Freeform 13"/>
          <p:cNvSpPr>
            <a:spLocks/>
          </p:cNvSpPr>
          <p:nvPr/>
        </p:nvSpPr>
        <p:spPr bwMode="auto">
          <a:xfrm>
            <a:off x="3389313" y="1946275"/>
            <a:ext cx="1228725" cy="606425"/>
          </a:xfrm>
          <a:custGeom>
            <a:avLst/>
            <a:gdLst>
              <a:gd name="T0" fmla="*/ 0 w 1228298"/>
              <a:gd name="T1" fmla="*/ 286142 h 607403"/>
              <a:gd name="T2" fmla="*/ 273050 w 1228298"/>
              <a:gd name="T3" fmla="*/ 599535 h 607403"/>
              <a:gd name="T4" fmla="*/ 655321 w 1228298"/>
              <a:gd name="T5" fmla="*/ 463276 h 607403"/>
              <a:gd name="T6" fmla="*/ 787416 w 1228298"/>
              <a:gd name="T7" fmla="*/ 19200 h 607403"/>
              <a:gd name="T8" fmla="*/ 1228725 w 1228298"/>
              <a:gd name="T9" fmla="*/ 0 h 60740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8298" h="607403">
                <a:moveTo>
                  <a:pt x="0" y="286603"/>
                </a:moveTo>
                <a:cubicBezTo>
                  <a:pt x="73925" y="395785"/>
                  <a:pt x="163773" y="570932"/>
                  <a:pt x="272955" y="600502"/>
                </a:cubicBezTo>
                <a:cubicBezTo>
                  <a:pt x="382137" y="630072"/>
                  <a:pt x="569395" y="560902"/>
                  <a:pt x="655093" y="464023"/>
                </a:cubicBezTo>
                <a:cubicBezTo>
                  <a:pt x="740791" y="367144"/>
                  <a:pt x="657488" y="39702"/>
                  <a:pt x="787142" y="19231"/>
                </a:cubicBezTo>
                <a:cubicBezTo>
                  <a:pt x="916796" y="-1240"/>
                  <a:pt x="1172969" y="7754"/>
                  <a:pt x="1228298" y="0"/>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1200" cap="none" spc="0" normalizeH="0" baseline="0" noProof="0">
              <a:ln>
                <a:noFill/>
              </a:ln>
              <a:solidFill>
                <a:srgbClr val="000000"/>
              </a:solidFill>
              <a:effectLst/>
              <a:uLnTx/>
              <a:uFillTx/>
              <a:latin typeface="Tahoma" panose="020B0604030504040204" pitchFamily="34" charset="0"/>
              <a:ea typeface="+mn-ea"/>
              <a:cs typeface="+mn-cs"/>
            </a:endParaRPr>
          </a:p>
        </p:txBody>
      </p:sp>
      <p:sp>
        <p:nvSpPr>
          <p:cNvPr id="3" name="TextBox 2">
            <a:extLst>
              <a:ext uri="{FF2B5EF4-FFF2-40B4-BE49-F238E27FC236}">
                <a16:creationId xmlns:a16="http://schemas.microsoft.com/office/drawing/2014/main" id="{06F0B265-D54D-E00F-065D-9B970D52A66D}"/>
              </a:ext>
            </a:extLst>
          </p:cNvPr>
          <p:cNvSpPr txBox="1"/>
          <p:nvPr/>
        </p:nvSpPr>
        <p:spPr>
          <a:xfrm>
            <a:off x="6092825" y="796468"/>
            <a:ext cx="2980099" cy="2246769"/>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1" i="0" u="none" strike="noStrike" kern="1200" cap="none" spc="0" normalizeH="0" baseline="0" noProof="0" dirty="0">
                <a:ln>
                  <a:noFill/>
                </a:ln>
                <a:solidFill>
                  <a:srgbClr val="7030A0"/>
                </a:solidFill>
                <a:effectLst/>
                <a:uLnTx/>
                <a:uFillTx/>
                <a:latin typeface="Tahoma" panose="020B0604030504040204" pitchFamily="34" charset="0"/>
                <a:ea typeface="+mn-ea"/>
                <a:cs typeface="+mn-cs"/>
              </a:rPr>
              <a:t>Note that there is no modifier since package is the default access level.</a:t>
            </a:r>
          </a:p>
        </p:txBody>
      </p:sp>
    </p:spTree>
    <p:extLst>
      <p:ext uri="{BB962C8B-B14F-4D97-AF65-F5344CB8AC3E}">
        <p14:creationId xmlns:p14="http://schemas.microsoft.com/office/powerpoint/2010/main" val="37697690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Footer Placeholder 3"/>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3971" name="Rectangle 2"/>
          <p:cNvSpPr>
            <a:spLocks noChangeArrowheads="1"/>
          </p:cNvSpPr>
          <p:nvPr/>
        </p:nvSpPr>
        <p:spPr bwMode="auto">
          <a:xfrm>
            <a:off x="685800" y="1676400"/>
            <a:ext cx="7299325" cy="460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4000">
                <a:latin typeface="Arial" panose="020B0604020202020204" pitchFamily="34" charset="0"/>
              </a:rPr>
              <a:t>All members defined as </a:t>
            </a:r>
          </a:p>
          <a:p>
            <a:pPr>
              <a:spcBef>
                <a:spcPct val="0"/>
              </a:spcBef>
              <a:buFontTx/>
              <a:buNone/>
            </a:pPr>
            <a:r>
              <a:rPr lang="en-US" altLang="en-US" sz="4000">
                <a:solidFill>
                  <a:schemeClr val="accent2"/>
                </a:solidFill>
                <a:latin typeface="Arial" panose="020B0604020202020204" pitchFamily="34" charset="0"/>
              </a:rPr>
              <a:t>protected</a:t>
            </a:r>
            <a:r>
              <a:rPr lang="en-US" altLang="en-US" sz="4000">
                <a:latin typeface="Arial" panose="020B0604020202020204" pitchFamily="34" charset="0"/>
              </a:rPr>
              <a:t> can be accessed</a:t>
            </a:r>
          </a:p>
          <a:p>
            <a:pPr>
              <a:spcBef>
                <a:spcPct val="0"/>
              </a:spcBef>
              <a:buFontTx/>
              <a:buNone/>
            </a:pPr>
            <a:r>
              <a:rPr lang="en-US" altLang="en-US" sz="4000">
                <a:latin typeface="Arial" panose="020B0604020202020204" pitchFamily="34" charset="0"/>
              </a:rPr>
              <a:t>by members of the sub class </a:t>
            </a:r>
          </a:p>
          <a:p>
            <a:pPr>
              <a:spcBef>
                <a:spcPct val="0"/>
              </a:spcBef>
              <a:buFontTx/>
              <a:buNone/>
            </a:pPr>
            <a:r>
              <a:rPr lang="en-US" altLang="en-US" sz="4000">
                <a:latin typeface="Arial" panose="020B0604020202020204" pitchFamily="34" charset="0"/>
              </a:rPr>
              <a:t>and any other class in the </a:t>
            </a:r>
          </a:p>
          <a:p>
            <a:pPr>
              <a:spcBef>
                <a:spcPct val="0"/>
              </a:spcBef>
              <a:buFontTx/>
              <a:buNone/>
            </a:pPr>
            <a:r>
              <a:rPr lang="en-US" altLang="en-US" sz="4000">
                <a:latin typeface="Arial" panose="020B0604020202020204" pitchFamily="34" charset="0"/>
              </a:rPr>
              <a:t>same package.</a:t>
            </a:r>
          </a:p>
          <a:p>
            <a:pPr>
              <a:spcBef>
                <a:spcPct val="0"/>
              </a:spcBef>
              <a:buFontTx/>
              <a:buNone/>
            </a:pPr>
            <a:endParaRPr lang="en-US" altLang="en-US" sz="1600">
              <a:latin typeface="Arial" panose="020B0604020202020204" pitchFamily="34" charset="0"/>
            </a:endParaRPr>
          </a:p>
          <a:p>
            <a:pPr>
              <a:spcBef>
                <a:spcPct val="0"/>
              </a:spcBef>
              <a:buFontTx/>
              <a:buNone/>
            </a:pPr>
            <a:r>
              <a:rPr lang="en-US" altLang="en-US" sz="4000">
                <a:latin typeface="Arial" panose="020B0604020202020204" pitchFamily="34" charset="0"/>
              </a:rPr>
              <a:t>This makes protected less </a:t>
            </a:r>
          </a:p>
          <a:p>
            <a:pPr>
              <a:spcBef>
                <a:spcPct val="0"/>
              </a:spcBef>
              <a:buFontTx/>
              <a:buNone/>
            </a:pPr>
            <a:r>
              <a:rPr lang="en-US" altLang="en-US" sz="4000">
                <a:latin typeface="Arial" panose="020B0604020202020204" pitchFamily="34" charset="0"/>
              </a:rPr>
              <a:t>restrictive than package.</a:t>
            </a:r>
          </a:p>
        </p:txBody>
      </p:sp>
      <p:sp>
        <p:nvSpPr>
          <p:cNvPr id="83972" name="WordArt 5"/>
          <p:cNvSpPr>
            <a:spLocks noChangeArrowheads="1" noChangeShapeType="1" noTextEdit="1"/>
          </p:cNvSpPr>
          <p:nvPr/>
        </p:nvSpPr>
        <p:spPr bwMode="auto">
          <a:xfrm>
            <a:off x="1524000" y="457200"/>
            <a:ext cx="5715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protected</a:t>
            </a:r>
          </a:p>
        </p:txBody>
      </p:sp>
    </p:spTree>
    <p:extLst>
      <p:ext uri="{BB962C8B-B14F-4D97-AF65-F5344CB8AC3E}">
        <p14:creationId xmlns:p14="http://schemas.microsoft.com/office/powerpoint/2010/main" val="6525470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descr="My file:&#10;package myPackage;&#10;public class MyClass {&#10;   // class member with protected access&#10;}&#10;public class MyOtherClass {&#10;}&#10;Your file:&#10;package yourPackage;&#10;class YourClass extends MyClass { &#10;}&#10;class YourOtherClass extends MyClass {&#10;}&#10;My protected class member can be access from classes in the same package AND from subclasses.">
            <a:extLst>
              <a:ext uri="{FF2B5EF4-FFF2-40B4-BE49-F238E27FC236}">
                <a16:creationId xmlns:a16="http://schemas.microsoft.com/office/drawing/2014/main" id="{A4C86D36-B26A-B68A-400F-956BDFA115C8}"/>
              </a:ext>
            </a:extLst>
          </p:cNvPr>
          <p:cNvGrpSpPr/>
          <p:nvPr/>
        </p:nvGrpSpPr>
        <p:grpSpPr>
          <a:xfrm>
            <a:off x="-76200" y="-152400"/>
            <a:ext cx="9067800" cy="7239000"/>
            <a:chOff x="-76200" y="-152400"/>
            <a:chExt cx="9067800" cy="7239000"/>
          </a:xfrm>
        </p:grpSpPr>
        <p:pic>
          <p:nvPicPr>
            <p:cNvPr id="15362" name="Picture 4" descr="Clipart - Manilla &lt;strong&gt;folder&lt;/strong&gt;"/>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152400"/>
              <a:ext cx="80010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TextBox 5"/>
            <p:cNvSpPr txBox="1">
              <a:spLocks noChangeArrowheads="1"/>
            </p:cNvSpPr>
            <p:nvPr/>
          </p:nvSpPr>
          <p:spPr bwMode="auto">
            <a:xfrm>
              <a:off x="533400" y="228600"/>
              <a:ext cx="16557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myPackage</a:t>
              </a:r>
            </a:p>
          </p:txBody>
        </p:sp>
        <p:pic>
          <p:nvPicPr>
            <p:cNvPr id="15364" name="Picture 6" descr="Clipart - Manilla &lt;strong&gt;folder&lt;/strong&gt;"/>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251200"/>
              <a:ext cx="8001000" cy="383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5" name="TextBox 7"/>
            <p:cNvSpPr txBox="1">
              <a:spLocks noChangeArrowheads="1"/>
            </p:cNvSpPr>
            <p:nvPr/>
          </p:nvSpPr>
          <p:spPr bwMode="auto">
            <a:xfrm>
              <a:off x="1600200" y="3632200"/>
              <a:ext cx="1843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yourPackage</a:t>
              </a:r>
            </a:p>
          </p:txBody>
        </p:sp>
        <p:sp>
          <p:nvSpPr>
            <p:cNvPr id="15366" name="TextBox 8"/>
            <p:cNvSpPr txBox="1">
              <a:spLocks noChangeArrowheads="1"/>
            </p:cNvSpPr>
            <p:nvPr/>
          </p:nvSpPr>
          <p:spPr bwMode="auto">
            <a:xfrm>
              <a:off x="685800" y="920750"/>
              <a:ext cx="32004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dirty="0" err="1">
                  <a:latin typeface="Tahoma" panose="020B0604030504040204" pitchFamily="34" charset="0"/>
                </a:rPr>
                <a:t>MyClass</a:t>
              </a:r>
              <a:endParaRPr lang="en-US" altLang="en-US" sz="2000" dirty="0">
                <a:latin typeface="Tahoma" panose="020B0604030504040204" pitchFamily="34" charset="0"/>
              </a:endParaRPr>
            </a:p>
            <a:p>
              <a:pPr>
                <a:spcBef>
                  <a:spcPct val="0"/>
                </a:spcBef>
                <a:buFontTx/>
                <a:buNone/>
              </a:pPr>
              <a:r>
                <a:rPr lang="en-US" altLang="en-US" sz="2000" dirty="0">
                  <a:latin typeface="Tahoma" panose="020B0604030504040204" pitchFamily="34" charset="0"/>
                </a:rPr>
                <a:t>{</a:t>
              </a:r>
            </a:p>
            <a:p>
              <a:pPr>
                <a:spcBef>
                  <a:spcPct val="0"/>
                </a:spcBef>
                <a:buFontTx/>
                <a:buNone/>
              </a:pPr>
              <a:r>
                <a:rPr lang="en-US" altLang="en-US" sz="2000" dirty="0">
                  <a:latin typeface="Tahoma" panose="020B0604030504040204" pitchFamily="34" charset="0"/>
                </a:rPr>
                <a:t>    </a:t>
              </a:r>
              <a:r>
                <a:rPr lang="en-US" altLang="en-US" sz="2000" b="1" dirty="0">
                  <a:solidFill>
                    <a:srgbClr val="0070C0"/>
                  </a:solidFill>
                  <a:latin typeface="Tahoma" panose="020B0604030504040204" pitchFamily="34" charset="0"/>
                </a:rPr>
                <a:t>protected</a:t>
              </a:r>
              <a:r>
                <a:rPr lang="en-US" altLang="en-US" sz="2000" b="1" dirty="0">
                  <a:latin typeface="Tahoma" panose="020B0604030504040204" pitchFamily="34" charset="0"/>
                </a:rPr>
                <a:t> </a:t>
              </a:r>
              <a:r>
                <a:rPr lang="en-US" altLang="en-US" sz="2000" b="1" dirty="0">
                  <a:solidFill>
                    <a:srgbClr val="7030A0"/>
                  </a:solidFill>
                  <a:latin typeface="Tahoma" panose="020B0604030504040204" pitchFamily="34" charset="0"/>
                </a:rPr>
                <a:t>int size;</a:t>
              </a:r>
            </a:p>
            <a:p>
              <a:pPr>
                <a:spcBef>
                  <a:spcPct val="0"/>
                </a:spcBef>
                <a:buFontTx/>
                <a:buNone/>
              </a:pPr>
              <a:endParaRPr lang="en-US" altLang="en-US" sz="2000" dirty="0">
                <a:latin typeface="Tahoma" panose="020B0604030504040204" pitchFamily="34" charset="0"/>
              </a:endParaRPr>
            </a:p>
            <a:p>
              <a:pPr>
                <a:spcBef>
                  <a:spcPct val="0"/>
                </a:spcBef>
                <a:buFontTx/>
                <a:buNone/>
              </a:pPr>
              <a:endParaRPr lang="en-US" altLang="en-US" sz="2000" dirty="0">
                <a:latin typeface="Tahoma" panose="020B0604030504040204" pitchFamily="34" charset="0"/>
              </a:endParaRPr>
            </a:p>
            <a:p>
              <a:pPr>
                <a:spcBef>
                  <a:spcPct val="0"/>
                </a:spcBef>
                <a:buFontTx/>
                <a:buNone/>
              </a:pPr>
              <a:r>
                <a:rPr lang="en-US" altLang="en-US" sz="2000" dirty="0">
                  <a:latin typeface="Tahoma" panose="020B0604030504040204" pitchFamily="34" charset="0"/>
                </a:rPr>
                <a:t>}</a:t>
              </a:r>
            </a:p>
          </p:txBody>
        </p:sp>
        <p:sp>
          <p:nvSpPr>
            <p:cNvPr id="15367" name="TextBox 9"/>
            <p:cNvSpPr txBox="1">
              <a:spLocks noChangeArrowheads="1"/>
            </p:cNvSpPr>
            <p:nvPr/>
          </p:nvSpPr>
          <p:spPr bwMode="auto">
            <a:xfrm>
              <a:off x="4445000" y="903288"/>
              <a:ext cx="1955800"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MyOtherClass</a:t>
              </a:r>
            </a:p>
            <a:p>
              <a:pPr>
                <a:spcBef>
                  <a:spcPct val="0"/>
                </a:spcBef>
                <a:buFontTx/>
                <a:buNone/>
              </a:pPr>
              <a:r>
                <a:rPr lang="en-US" altLang="en-US" sz="2000">
                  <a:latin typeface="Tahoma" panose="020B0604030504040204" pitchFamily="34" charset="0"/>
                </a:rPr>
                <a:t>{</a:t>
              </a:r>
            </a:p>
            <a:p>
              <a:pPr>
                <a:spcBef>
                  <a:spcPct val="0"/>
                </a:spcBef>
                <a:buFontTx/>
                <a:buNone/>
              </a:pPr>
              <a:r>
                <a:rPr lang="en-US" altLang="en-US" sz="2000">
                  <a:latin typeface="Tahoma" panose="020B0604030504040204" pitchFamily="34" charset="0"/>
                </a:rPr>
                <a:t>    </a:t>
              </a: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15368" name="TextBox 10"/>
            <p:cNvSpPr txBox="1">
              <a:spLocks noChangeArrowheads="1"/>
            </p:cNvSpPr>
            <p:nvPr/>
          </p:nvSpPr>
          <p:spPr bwMode="auto">
            <a:xfrm>
              <a:off x="1624013" y="4506913"/>
              <a:ext cx="36703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YourClass </a:t>
              </a:r>
              <a:r>
                <a:rPr lang="en-US" altLang="en-US" sz="2000">
                  <a:solidFill>
                    <a:srgbClr val="0070C0"/>
                  </a:solidFill>
                  <a:latin typeface="Tahoma" panose="020B0604030504040204" pitchFamily="34" charset="0"/>
                </a:rPr>
                <a:t>extends MyClass</a:t>
              </a:r>
            </a:p>
            <a:p>
              <a:pPr>
                <a:spcBef>
                  <a:spcPct val="0"/>
                </a:spcBef>
                <a:buFontTx/>
                <a:buNone/>
              </a:pPr>
              <a:r>
                <a:rPr lang="en-US" altLang="en-US" sz="2000">
                  <a:latin typeface="Tahoma" panose="020B0604030504040204" pitchFamily="34" charset="0"/>
                </a:rPr>
                <a:t>{</a:t>
              </a:r>
            </a:p>
            <a:p>
              <a:pPr>
                <a:spcBef>
                  <a:spcPct val="0"/>
                </a:spcBef>
                <a:buFontTx/>
                <a:buNone/>
              </a:pPr>
              <a:endParaRPr lang="en-US" altLang="en-US" sz="2000">
                <a:latin typeface="Tahoma" panose="020B0604030504040204" pitchFamily="34" charset="0"/>
              </a:endParaRP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15369" name="TextBox 11"/>
            <p:cNvSpPr txBox="1">
              <a:spLocks noChangeArrowheads="1"/>
            </p:cNvSpPr>
            <p:nvPr/>
          </p:nvSpPr>
          <p:spPr bwMode="auto">
            <a:xfrm>
              <a:off x="5927725" y="4506913"/>
              <a:ext cx="21844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000">
                  <a:latin typeface="Tahoma" panose="020B0604030504040204" pitchFamily="34" charset="0"/>
                </a:rPr>
                <a:t>YourOtherClass</a:t>
              </a:r>
            </a:p>
            <a:p>
              <a:pPr>
                <a:spcBef>
                  <a:spcPct val="0"/>
                </a:spcBef>
                <a:buFontTx/>
                <a:buNone/>
              </a:pPr>
              <a:r>
                <a:rPr lang="en-US" altLang="en-US" sz="2000">
                  <a:latin typeface="Tahoma" panose="020B0604030504040204" pitchFamily="34" charset="0"/>
                </a:rPr>
                <a:t>{</a:t>
              </a:r>
            </a:p>
            <a:p>
              <a:pPr>
                <a:spcBef>
                  <a:spcPct val="0"/>
                </a:spcBef>
                <a:buFontTx/>
                <a:buNone/>
              </a:pPr>
              <a:r>
                <a:rPr lang="en-US" altLang="en-US" sz="2000">
                  <a:latin typeface="Tahoma" panose="020B0604030504040204" pitchFamily="34" charset="0"/>
                </a:rPr>
                <a:t>    </a:t>
              </a:r>
            </a:p>
            <a:p>
              <a:pPr>
                <a:spcBef>
                  <a:spcPct val="0"/>
                </a:spcBef>
                <a:buFontTx/>
                <a:buNone/>
              </a:pPr>
              <a:endParaRPr lang="en-US" altLang="en-US" sz="2000">
                <a:latin typeface="Tahoma" panose="020B0604030504040204" pitchFamily="34" charset="0"/>
              </a:endParaRPr>
            </a:p>
            <a:p>
              <a:pPr>
                <a:spcBef>
                  <a:spcPct val="0"/>
                </a:spcBef>
                <a:buFontTx/>
                <a:buNone/>
              </a:pPr>
              <a:r>
                <a:rPr lang="en-US" altLang="en-US" sz="2000">
                  <a:latin typeface="Tahoma" panose="020B0604030504040204" pitchFamily="34" charset="0"/>
                </a:rPr>
                <a:t>}</a:t>
              </a:r>
            </a:p>
          </p:txBody>
        </p:sp>
        <p:sp>
          <p:nvSpPr>
            <p:cNvPr id="15370" name="Freeform 12"/>
            <p:cNvSpPr>
              <a:spLocks/>
            </p:cNvSpPr>
            <p:nvPr/>
          </p:nvSpPr>
          <p:spPr bwMode="auto">
            <a:xfrm>
              <a:off x="2357438" y="2178050"/>
              <a:ext cx="982662" cy="657225"/>
            </a:xfrm>
            <a:custGeom>
              <a:avLst/>
              <a:gdLst>
                <a:gd name="T0" fmla="*/ 832485 w 982696"/>
                <a:gd name="T1" fmla="*/ 0 h 657289"/>
                <a:gd name="T2" fmla="*/ 982606 w 982696"/>
                <a:gd name="T3" fmla="*/ 327514 h 657289"/>
                <a:gd name="T4" fmla="*/ 846133 w 982696"/>
                <a:gd name="T5" fmla="*/ 655029 h 657289"/>
                <a:gd name="T6" fmla="*/ 549361 w 982696"/>
                <a:gd name="T7" fmla="*/ 469623 h 657289"/>
                <a:gd name="T8" fmla="*/ 0 w 982696"/>
                <a:gd name="T9" fmla="*/ 450332 h 65728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82696" h="657289">
                  <a:moveTo>
                    <a:pt x="832514" y="0"/>
                  </a:moveTo>
                  <a:cubicBezTo>
                    <a:pt x="906439" y="109182"/>
                    <a:pt x="980365" y="218364"/>
                    <a:pt x="982640" y="327546"/>
                  </a:cubicBezTo>
                  <a:cubicBezTo>
                    <a:pt x="984915" y="436728"/>
                    <a:pt x="918372" y="631406"/>
                    <a:pt x="846162" y="655093"/>
                  </a:cubicBezTo>
                  <a:cubicBezTo>
                    <a:pt x="773952" y="678780"/>
                    <a:pt x="697231" y="503788"/>
                    <a:pt x="549380" y="469669"/>
                  </a:cubicBezTo>
                  <a:cubicBezTo>
                    <a:pt x="401529" y="435550"/>
                    <a:pt x="100662" y="476338"/>
                    <a:pt x="0" y="450376"/>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71" name="Freeform 13"/>
            <p:cNvSpPr>
              <a:spLocks/>
            </p:cNvSpPr>
            <p:nvPr/>
          </p:nvSpPr>
          <p:spPr bwMode="auto">
            <a:xfrm>
              <a:off x="3678238" y="1946275"/>
              <a:ext cx="1228725" cy="606425"/>
            </a:xfrm>
            <a:custGeom>
              <a:avLst/>
              <a:gdLst>
                <a:gd name="T0" fmla="*/ 0 w 1228298"/>
                <a:gd name="T1" fmla="*/ 286142 h 607403"/>
                <a:gd name="T2" fmla="*/ 273050 w 1228298"/>
                <a:gd name="T3" fmla="*/ 599535 h 607403"/>
                <a:gd name="T4" fmla="*/ 655321 w 1228298"/>
                <a:gd name="T5" fmla="*/ 463276 h 607403"/>
                <a:gd name="T6" fmla="*/ 787416 w 1228298"/>
                <a:gd name="T7" fmla="*/ 19200 h 607403"/>
                <a:gd name="T8" fmla="*/ 1228725 w 1228298"/>
                <a:gd name="T9" fmla="*/ 0 h 60740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8298" h="607403">
                  <a:moveTo>
                    <a:pt x="0" y="286603"/>
                  </a:moveTo>
                  <a:cubicBezTo>
                    <a:pt x="73925" y="395785"/>
                    <a:pt x="163773" y="570932"/>
                    <a:pt x="272955" y="600502"/>
                  </a:cubicBezTo>
                  <a:cubicBezTo>
                    <a:pt x="382137" y="630072"/>
                    <a:pt x="569395" y="560902"/>
                    <a:pt x="655093" y="464023"/>
                  </a:cubicBezTo>
                  <a:cubicBezTo>
                    <a:pt x="740791" y="367144"/>
                    <a:pt x="657488" y="39702"/>
                    <a:pt x="787142" y="19231"/>
                  </a:cubicBezTo>
                  <a:cubicBezTo>
                    <a:pt x="916796" y="-1240"/>
                    <a:pt x="1172969" y="7754"/>
                    <a:pt x="1228298" y="0"/>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72" name="Freeform 15"/>
            <p:cNvSpPr>
              <a:spLocks/>
            </p:cNvSpPr>
            <p:nvPr/>
          </p:nvSpPr>
          <p:spPr bwMode="auto">
            <a:xfrm>
              <a:off x="3451225" y="2252663"/>
              <a:ext cx="2111375" cy="3260725"/>
            </a:xfrm>
            <a:custGeom>
              <a:avLst/>
              <a:gdLst>
                <a:gd name="T0" fmla="*/ 0 w 2110797"/>
                <a:gd name="T1" fmla="*/ 0 h 3259890"/>
                <a:gd name="T2" fmla="*/ 819822 w 2110797"/>
                <a:gd name="T3" fmla="*/ 1258596 h 3259890"/>
                <a:gd name="T4" fmla="*/ 2091361 w 2110797"/>
                <a:gd name="T5" fmla="*/ 2397258 h 3259890"/>
                <a:gd name="T6" fmla="*/ 1571199 w 2110797"/>
                <a:gd name="T7" fmla="*/ 3186632 h 3259890"/>
                <a:gd name="T8" fmla="*/ 670873 w 2110797"/>
                <a:gd name="T9" fmla="*/ 3257287 h 325989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0797" h="3259890">
                  <a:moveTo>
                    <a:pt x="0" y="0"/>
                  </a:moveTo>
                  <a:cubicBezTo>
                    <a:pt x="73925" y="109182"/>
                    <a:pt x="471133" y="858833"/>
                    <a:pt x="819598" y="1258274"/>
                  </a:cubicBezTo>
                  <a:cubicBezTo>
                    <a:pt x="1168063" y="1657715"/>
                    <a:pt x="1965593" y="2075387"/>
                    <a:pt x="2090788" y="2396644"/>
                  </a:cubicBezTo>
                  <a:cubicBezTo>
                    <a:pt x="2215983" y="2717901"/>
                    <a:pt x="1718620" y="3219935"/>
                    <a:pt x="1570769" y="3185816"/>
                  </a:cubicBezTo>
                  <a:cubicBezTo>
                    <a:pt x="1422918" y="3151697"/>
                    <a:pt x="771351" y="3282415"/>
                    <a:pt x="670689" y="3256453"/>
                  </a:cubicBezTo>
                </a:path>
              </a:pathLst>
            </a:custGeom>
            <a:noFill/>
            <a:ln w="57150" cap="flat" cmpd="sng" algn="ctr">
              <a:solidFill>
                <a:srgbClr val="00B050"/>
              </a:solidFill>
              <a:prstDash val="solid"/>
              <a:round/>
              <a:headEnd type="triangl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16050259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Footer Placeholder 5"/>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6019" name="Rectangle 37"/>
          <p:cNvSpPr>
            <a:spLocks noGrp="1" noChangeArrowheads="1"/>
          </p:cNvSpPr>
          <p:nvPr>
            <p:ph type="title"/>
          </p:nvPr>
        </p:nvSpPr>
        <p:spPr>
          <a:xfrm>
            <a:off x="685800" y="304800"/>
            <a:ext cx="7772400" cy="1143000"/>
          </a:xfrm>
        </p:spPr>
        <p:txBody>
          <a:bodyPr/>
          <a:lstStyle/>
          <a:p>
            <a:r>
              <a:rPr lang="en-US" altLang="en-US" b="1">
                <a:solidFill>
                  <a:schemeClr val="accent2"/>
                </a:solidFill>
                <a:latin typeface="Helvetica" panose="020B0604020202020204" pitchFamily="34" charset="0"/>
              </a:rPr>
              <a:t>Visibility Levels</a:t>
            </a:r>
          </a:p>
        </p:txBody>
      </p:sp>
      <p:graphicFrame>
        <p:nvGraphicFramePr>
          <p:cNvPr id="534641" name="Group 113"/>
          <p:cNvGraphicFramePr>
            <a:graphicFrameLocks noGrp="1"/>
          </p:cNvGraphicFramePr>
          <p:nvPr>
            <p:ph idx="1"/>
          </p:nvPr>
        </p:nvGraphicFramePr>
        <p:xfrm>
          <a:off x="609600" y="1905000"/>
          <a:ext cx="8153400" cy="4068762"/>
        </p:xfrm>
        <a:graphic>
          <a:graphicData uri="http://schemas.openxmlformats.org/drawingml/2006/table">
            <a:tbl>
              <a:tblPr/>
              <a:tblGrid>
                <a:gridCol w="1838325">
                  <a:extLst>
                    <a:ext uri="{9D8B030D-6E8A-4147-A177-3AD203B41FA5}">
                      <a16:colId xmlns:a16="http://schemas.microsoft.com/office/drawing/2014/main" val="20000"/>
                    </a:ext>
                  </a:extLst>
                </a:gridCol>
                <a:gridCol w="1422400">
                  <a:extLst>
                    <a:ext uri="{9D8B030D-6E8A-4147-A177-3AD203B41FA5}">
                      <a16:colId xmlns:a16="http://schemas.microsoft.com/office/drawing/2014/main" val="20001"/>
                    </a:ext>
                  </a:extLst>
                </a:gridCol>
                <a:gridCol w="1631950">
                  <a:extLst>
                    <a:ext uri="{9D8B030D-6E8A-4147-A177-3AD203B41FA5}">
                      <a16:colId xmlns:a16="http://schemas.microsoft.com/office/drawing/2014/main" val="20002"/>
                    </a:ext>
                  </a:extLst>
                </a:gridCol>
                <a:gridCol w="1630363">
                  <a:extLst>
                    <a:ext uri="{9D8B030D-6E8A-4147-A177-3AD203B41FA5}">
                      <a16:colId xmlns:a16="http://schemas.microsoft.com/office/drawing/2014/main" val="20003"/>
                    </a:ext>
                  </a:extLst>
                </a:gridCol>
                <a:gridCol w="1630362">
                  <a:extLst>
                    <a:ext uri="{9D8B030D-6E8A-4147-A177-3AD203B41FA5}">
                      <a16:colId xmlns:a16="http://schemas.microsoft.com/office/drawing/2014/main" val="20004"/>
                    </a:ext>
                  </a:extLst>
                </a:gridCol>
              </a:tblGrid>
              <a:tr h="944870">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sng" strike="noStrike" cap="none" normalizeH="0" baseline="0" dirty="0">
                          <a:ln>
                            <a:noFill/>
                          </a:ln>
                          <a:solidFill>
                            <a:schemeClr val="tx1"/>
                          </a:solidFill>
                          <a:effectLst/>
                          <a:latin typeface="Helvetica" pitchFamily="2" charset="0"/>
                        </a:rPr>
                        <a:t>Visibility</a:t>
                      </a:r>
                    </a:p>
                  </a:txBody>
                  <a:tcPr marT="45715" marB="45715" anchor="b" horzOverflow="overflow">
                    <a:lnL cap="flat">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Helvetica" pitchFamily="2" charset="0"/>
                        </a:rPr>
                        <a:t>This Class</a:t>
                      </a:r>
                    </a:p>
                  </a:txBody>
                  <a:tcPr marT="45715" marB="45715" anchor="ct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Helvetica" pitchFamily="2" charset="0"/>
                        </a:rPr>
                        <a:t>Same Package</a:t>
                      </a:r>
                    </a:p>
                  </a:txBody>
                  <a:tcPr marT="45715" marB="45715" anchor="ct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Helvetica" pitchFamily="2" charset="0"/>
                        </a:rPr>
                        <a:t>Sub Classes</a:t>
                      </a:r>
                    </a:p>
                  </a:txBody>
                  <a:tcPr marT="45715" marB="45715" anchor="ctr" horzOverflow="overflow">
                    <a:lnL>
                      <a:noFill/>
                    </a:lnL>
                    <a:lnR>
                      <a:noFill/>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Helvetica" pitchFamily="2" charset="0"/>
                        </a:rPr>
                        <a:t>World</a:t>
                      </a:r>
                    </a:p>
                  </a:txBody>
                  <a:tcPr marT="45715" marB="45715" anchor="b"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78097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Helvetica" pitchFamily="2" charset="0"/>
                        </a:rPr>
                        <a:t>Public</a:t>
                      </a:r>
                    </a:p>
                  </a:txBody>
                  <a:tcPr marT="45715" marB="45715"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78097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Helvetica" pitchFamily="2" charset="0"/>
                        </a:rPr>
                        <a:t>Protected</a:t>
                      </a:r>
                    </a:p>
                  </a:txBody>
                  <a:tcPr marT="45715" marB="45715"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Helvetica" pitchFamily="2" charset="0"/>
                      </a:endParaRPr>
                    </a:p>
                  </a:txBody>
                  <a:tcPr marT="45715" marB="45715"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78097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dirty="0">
                          <a:ln>
                            <a:noFill/>
                          </a:ln>
                          <a:solidFill>
                            <a:schemeClr val="tx1"/>
                          </a:solidFill>
                          <a:effectLst/>
                          <a:latin typeface="Helvetica" pitchFamily="2" charset="0"/>
                        </a:rPr>
                        <a:t>Package</a:t>
                      </a:r>
                    </a:p>
                  </a:txBody>
                  <a:tcPr marT="45715" marB="45715" anchor="ctr" horzOverflow="overflow">
                    <a:lnL cap="flat">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4000" b="0" i="0" u="none" strike="noStrike" cap="none" normalizeH="0" baseline="0">
                        <a:ln>
                          <a:noFill/>
                        </a:ln>
                        <a:solidFill>
                          <a:schemeClr val="tx1"/>
                        </a:solidFill>
                        <a:effectLst/>
                        <a:latin typeface="Helvetica" pitchFamily="2" charset="0"/>
                        <a:sym typeface="Wingdings" pitchFamily="2" charset="2"/>
                      </a:endParaRPr>
                    </a:p>
                  </a:txBody>
                  <a:tcPr marT="45715" marB="45715" anchor="ctr" horzOverflow="overflow">
                    <a:lnL>
                      <a:noFill/>
                    </a:lnL>
                    <a:lnR>
                      <a:noFill/>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Helvetica" pitchFamily="2" charset="0"/>
                      </a:endParaRPr>
                    </a:p>
                  </a:txBody>
                  <a:tcPr marT="45715" marB="45715" anchor="ctr"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780973">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1" i="0" u="none" strike="noStrike" cap="none" normalizeH="0" baseline="0">
                          <a:ln>
                            <a:noFill/>
                          </a:ln>
                          <a:solidFill>
                            <a:schemeClr val="tx1"/>
                          </a:solidFill>
                          <a:effectLst/>
                          <a:latin typeface="Helvetica" pitchFamily="2" charset="0"/>
                        </a:rPr>
                        <a:t>Private</a:t>
                      </a:r>
                    </a:p>
                  </a:txBody>
                  <a:tcPr marT="45715" marB="45715" anchor="ctr" horzOverflow="overflow">
                    <a:lnL cap="flat">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4000" b="0" i="0" u="none" strike="noStrike" cap="none" normalizeH="0" baseline="0" dirty="0">
                          <a:ln>
                            <a:noFill/>
                          </a:ln>
                          <a:solidFill>
                            <a:schemeClr val="tx1"/>
                          </a:solidFill>
                          <a:effectLst/>
                          <a:latin typeface="Helvetica" pitchFamily="2" charset="0"/>
                          <a:sym typeface="Wingdings" pitchFamily="2" charset="2"/>
                        </a:rPr>
                        <a:t></a:t>
                      </a:r>
                    </a:p>
                  </a:txBody>
                  <a:tcPr marT="45715" marB="45715"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Helvetica" pitchFamily="2" charset="0"/>
                      </a:endParaRPr>
                    </a:p>
                  </a:txBody>
                  <a:tcPr marT="45715" marB="45715"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4000" b="0" i="0" u="none" strike="noStrike" cap="none" normalizeH="0" baseline="0">
                        <a:ln>
                          <a:noFill/>
                        </a:ln>
                        <a:solidFill>
                          <a:schemeClr val="tx1"/>
                        </a:solidFill>
                        <a:effectLst/>
                        <a:latin typeface="Helvetica" pitchFamily="2" charset="0"/>
                        <a:sym typeface="Wingdings" pitchFamily="2" charset="2"/>
                      </a:endParaRPr>
                    </a:p>
                  </a:txBody>
                  <a:tcPr marT="45715" marB="45715" anchor="ctr" horzOverflow="overflow">
                    <a:lnL>
                      <a:noFill/>
                    </a:lnL>
                    <a:lnR>
                      <a:noFill/>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Helvetica" pitchFamily="2" charset="0"/>
                      </a:endParaRPr>
                    </a:p>
                  </a:txBody>
                  <a:tcPr marT="45715" marB="45715" anchor="ct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533732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Footer Placeholder 3"/>
          <p:cNvSpPr>
            <a:spLocks noGrp="1"/>
          </p:cNvSpPr>
          <p:nvPr>
            <p:ph type="ftr"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87043" name="WordArt 2"/>
          <p:cNvSpPr>
            <a:spLocks noChangeArrowheads="1" noChangeShapeType="1" noTextEdit="1"/>
          </p:cNvSpPr>
          <p:nvPr/>
        </p:nvSpPr>
        <p:spPr bwMode="auto">
          <a:xfrm>
            <a:off x="762000" y="685800"/>
            <a:ext cx="7239000" cy="48768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Public</a:t>
            </a:r>
          </a:p>
          <a:p>
            <a:pPr algn="ctr"/>
            <a:r>
              <a:rPr lang="en-US" sz="3600" kern="1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Protected</a:t>
            </a:r>
          </a:p>
          <a:p>
            <a:pPr algn="ctr"/>
            <a:r>
              <a:rPr lang="en-US" sz="3600" kern="1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Package</a:t>
            </a:r>
          </a:p>
          <a:p>
            <a:pPr algn="ctr"/>
            <a:r>
              <a:rPr lang="en-US" sz="3600" kern="1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Private</a:t>
            </a:r>
          </a:p>
        </p:txBody>
      </p:sp>
    </p:spTree>
    <p:extLst>
      <p:ext uri="{BB962C8B-B14F-4D97-AF65-F5344CB8AC3E}">
        <p14:creationId xmlns:p14="http://schemas.microsoft.com/office/powerpoint/2010/main" val="1894568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77551" y="3985"/>
            <a:ext cx="7329573" cy="6858000"/>
            <a:chOff x="1303402" y="3985"/>
            <a:chExt cx="9772765" cy="6858000"/>
          </a:xfrm>
        </p:grpSpPr>
        <p:sp>
          <p:nvSpPr>
            <p:cNvPr id="14" name="Freeform: Shape 13">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26" name="Freeform: Shape 25">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Footer Placeholder 1">
            <a:extLst>
              <a:ext uri="{FF2B5EF4-FFF2-40B4-BE49-F238E27FC236}">
                <a16:creationId xmlns:a16="http://schemas.microsoft.com/office/drawing/2014/main" id="{E640F573-36EA-7554-1D64-9E9597EC4339}"/>
              </a:ext>
            </a:extLst>
          </p:cNvPr>
          <p:cNvSpPr>
            <a:spLocks noGrp="1"/>
          </p:cNvSpPr>
          <p:nvPr>
            <p:ph type="ftr" sz="quarter" idx="12"/>
          </p:nvPr>
        </p:nvSpPr>
        <p:spPr>
          <a:xfrm>
            <a:off x="603504" y="5991225"/>
            <a:ext cx="1908291" cy="365125"/>
          </a:xfrm>
        </p:spPr>
        <p:txBody>
          <a:bodyPr>
            <a:normAutofit fontScale="70000" lnSpcReduction="20000"/>
          </a:bodyPr>
          <a:lstStyle/>
          <a:p>
            <a:pPr algn="l">
              <a:lnSpc>
                <a:spcPct val="90000"/>
              </a:lnSpc>
              <a:spcAft>
                <a:spcPts val="600"/>
              </a:spcAft>
            </a:pPr>
            <a:endParaRPr lang="en-US" altLang="en-US" sz="200" b="1">
              <a:latin typeface="+mn-lt"/>
            </a:endParaRPr>
          </a:p>
          <a:p>
            <a:pPr algn="l">
              <a:lnSpc>
                <a:spcPct val="90000"/>
              </a:lnSpc>
              <a:spcAft>
                <a:spcPts val="600"/>
              </a:spcAft>
            </a:pPr>
            <a:endParaRPr lang="en-US" altLang="en-US" sz="200"/>
          </a:p>
          <a:p>
            <a:pPr algn="l">
              <a:lnSpc>
                <a:spcPct val="90000"/>
              </a:lnSpc>
              <a:spcAft>
                <a:spcPts val="600"/>
              </a:spcAft>
            </a:pPr>
            <a:endParaRPr lang="en-US" altLang="en-US" sz="200" b="1"/>
          </a:p>
          <a:p>
            <a:pPr algn="l">
              <a:lnSpc>
                <a:spcPct val="90000"/>
              </a:lnSpc>
              <a:spcAft>
                <a:spcPts val="600"/>
              </a:spcAft>
            </a:pPr>
            <a:r>
              <a:rPr lang="en-US" altLang="en-US" sz="200" b="1"/>
              <a:t>© A+ Computer Science  -  www.apluscompsci.com</a:t>
            </a:r>
          </a:p>
        </p:txBody>
      </p:sp>
      <p:sp>
        <p:nvSpPr>
          <p:cNvPr id="5" name="Rectangle 4">
            <a:extLst>
              <a:ext uri="{FF2B5EF4-FFF2-40B4-BE49-F238E27FC236}">
                <a16:creationId xmlns:a16="http://schemas.microsoft.com/office/drawing/2014/main" id="{5F148819-D895-FA5C-8E13-690F3602BA1A}"/>
              </a:ext>
            </a:extLst>
          </p:cNvPr>
          <p:cNvSpPr/>
          <p:nvPr/>
        </p:nvSpPr>
        <p:spPr>
          <a:xfrm>
            <a:off x="1611780" y="1920868"/>
            <a:ext cx="5920210" cy="2862322"/>
          </a:xfrm>
          <a:prstGeom prst="rect">
            <a:avLst/>
          </a:prstGeom>
          <a:noFill/>
        </p:spPr>
        <p:txBody>
          <a:bodyPr wrap="none" lIns="91440" tIns="45720" rIns="91440" bIns="45720">
            <a:spAutoFit/>
          </a:bodyPr>
          <a:lstStyle/>
          <a:p>
            <a:pPr algn="ctr"/>
            <a:r>
              <a:rPr lang="en-US" sz="6000" b="0" cap="none" spc="0" dirty="0">
                <a:ln w="0"/>
                <a:solidFill>
                  <a:schemeClr val="tx1"/>
                </a:solidFill>
                <a:effectLst>
                  <a:outerShdw blurRad="38100" dist="19050" dir="2700000" algn="tl" rotWithShape="0">
                    <a:schemeClr val="dk1">
                      <a:alpha val="40000"/>
                    </a:schemeClr>
                  </a:outerShdw>
                </a:effectLst>
              </a:rPr>
              <a:t>Default Modifiers</a:t>
            </a:r>
            <a:br>
              <a:rPr lang="en-US" sz="6000" b="0" cap="none" spc="0" dirty="0">
                <a:ln w="0"/>
                <a:solidFill>
                  <a:schemeClr val="tx1"/>
                </a:solidFill>
                <a:effectLst>
                  <a:outerShdw blurRad="38100" dist="19050" dir="2700000" algn="tl" rotWithShape="0">
                    <a:schemeClr val="dk1">
                      <a:alpha val="40000"/>
                    </a:schemeClr>
                  </a:outerShdw>
                </a:effectLst>
              </a:rPr>
            </a:br>
            <a:r>
              <a:rPr lang="en-US" sz="6000" b="0" cap="none" spc="0" dirty="0">
                <a:ln w="0"/>
                <a:solidFill>
                  <a:schemeClr val="tx1"/>
                </a:solidFill>
                <a:effectLst>
                  <a:outerShdw blurRad="38100" dist="19050" dir="2700000" algn="tl" rotWithShape="0">
                    <a:schemeClr val="dk1">
                      <a:alpha val="40000"/>
                    </a:schemeClr>
                  </a:outerShdw>
                </a:effectLst>
              </a:rPr>
              <a:t>for Classes and</a:t>
            </a:r>
            <a:br>
              <a:rPr lang="en-US" sz="6000" b="0" cap="none" spc="0" dirty="0">
                <a:ln w="0"/>
                <a:solidFill>
                  <a:schemeClr val="tx1"/>
                </a:solidFill>
                <a:effectLst>
                  <a:outerShdw blurRad="38100" dist="19050" dir="2700000" algn="tl" rotWithShape="0">
                    <a:schemeClr val="dk1">
                      <a:alpha val="40000"/>
                    </a:schemeClr>
                  </a:outerShdw>
                </a:effectLst>
              </a:rPr>
            </a:br>
            <a:r>
              <a:rPr lang="en-US" sz="6000" b="0" cap="none" spc="0" dirty="0">
                <a:ln w="0"/>
                <a:solidFill>
                  <a:schemeClr val="tx1"/>
                </a:solidFill>
                <a:effectLst>
                  <a:outerShdw blurRad="38100" dist="19050" dir="2700000" algn="tl" rotWithShape="0">
                    <a:schemeClr val="dk1">
                      <a:alpha val="40000"/>
                    </a:schemeClr>
                  </a:outerShdw>
                </a:effectLst>
              </a:rPr>
              <a:t>Interfaces</a:t>
            </a:r>
          </a:p>
        </p:txBody>
      </p:sp>
    </p:spTree>
    <p:extLst>
      <p:ext uri="{BB962C8B-B14F-4D97-AF65-F5344CB8AC3E}">
        <p14:creationId xmlns:p14="http://schemas.microsoft.com/office/powerpoint/2010/main" val="27068510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99C54-BC66-E966-E034-3133B5074203}"/>
              </a:ext>
            </a:extLst>
          </p:cNvPr>
          <p:cNvSpPr>
            <a:spLocks noGrp="1"/>
          </p:cNvSpPr>
          <p:nvPr>
            <p:ph type="title"/>
          </p:nvPr>
        </p:nvSpPr>
        <p:spPr>
          <a:xfrm>
            <a:off x="685800" y="294640"/>
            <a:ext cx="7772400" cy="1143000"/>
          </a:xfrm>
        </p:spPr>
        <p:txBody>
          <a:bodyPr/>
          <a:lstStyle/>
          <a:p>
            <a:r>
              <a:rPr lang="en-US" b="1" dirty="0">
                <a:latin typeface="Abadi" panose="020B0604020104020204" pitchFamily="34" charset="0"/>
              </a:rPr>
              <a:t>Variable defaults in a class</a:t>
            </a:r>
          </a:p>
        </p:txBody>
      </p:sp>
      <p:sp>
        <p:nvSpPr>
          <p:cNvPr id="3" name="Content Placeholder 2">
            <a:extLst>
              <a:ext uri="{FF2B5EF4-FFF2-40B4-BE49-F238E27FC236}">
                <a16:creationId xmlns:a16="http://schemas.microsoft.com/office/drawing/2014/main" id="{024AE975-21A8-46D8-2D21-66448E2EFA47}"/>
              </a:ext>
            </a:extLst>
          </p:cNvPr>
          <p:cNvSpPr>
            <a:spLocks noGrp="1"/>
          </p:cNvSpPr>
          <p:nvPr>
            <p:ph idx="1"/>
          </p:nvPr>
        </p:nvSpPr>
        <p:spPr>
          <a:xfrm>
            <a:off x="1329690" y="1666240"/>
            <a:ext cx="2438400" cy="650240"/>
          </a:xfrm>
        </p:spPr>
        <p:txBody>
          <a:bodyPr/>
          <a:lstStyle/>
          <a:p>
            <a:pPr marL="0" indent="0" algn="ctr">
              <a:buNone/>
            </a:pPr>
            <a:r>
              <a:rPr lang="en-US" sz="4000" dirty="0">
                <a:latin typeface="Abadi" panose="020B0604020104020204" pitchFamily="34" charset="0"/>
              </a:rPr>
              <a:t>static</a:t>
            </a:r>
            <a:endParaRPr lang="en-US" dirty="0">
              <a:latin typeface="Abadi" panose="020B0604020104020204" pitchFamily="34" charset="0"/>
            </a:endParaRPr>
          </a:p>
        </p:txBody>
      </p:sp>
      <p:sp>
        <p:nvSpPr>
          <p:cNvPr id="5" name="Content Placeholder 2">
            <a:extLst>
              <a:ext uri="{FF2B5EF4-FFF2-40B4-BE49-F238E27FC236}">
                <a16:creationId xmlns:a16="http://schemas.microsoft.com/office/drawing/2014/main" id="{1A5E6F95-175B-F428-2166-AC52DFDFE68A}"/>
              </a:ext>
            </a:extLst>
          </p:cNvPr>
          <p:cNvSpPr txBox="1">
            <a:spLocks/>
          </p:cNvSpPr>
          <p:nvPr/>
        </p:nvSpPr>
        <p:spPr bwMode="auto">
          <a:xfrm>
            <a:off x="4688840" y="166624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non-static</a:t>
            </a:r>
          </a:p>
        </p:txBody>
      </p:sp>
      <p:sp>
        <p:nvSpPr>
          <p:cNvPr id="6" name="Content Placeholder 2">
            <a:extLst>
              <a:ext uri="{FF2B5EF4-FFF2-40B4-BE49-F238E27FC236}">
                <a16:creationId xmlns:a16="http://schemas.microsoft.com/office/drawing/2014/main" id="{557955AA-BF7E-46BD-BE24-5DD80030A53C}"/>
              </a:ext>
            </a:extLst>
          </p:cNvPr>
          <p:cNvSpPr txBox="1">
            <a:spLocks/>
          </p:cNvSpPr>
          <p:nvPr/>
        </p:nvSpPr>
        <p:spPr bwMode="auto">
          <a:xfrm>
            <a:off x="1329690" y="243840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final</a:t>
            </a:r>
            <a:endParaRPr lang="en-US" dirty="0">
              <a:latin typeface="Abadi" panose="020B0604020104020204" pitchFamily="34" charset="0"/>
            </a:endParaRPr>
          </a:p>
        </p:txBody>
      </p:sp>
      <p:sp>
        <p:nvSpPr>
          <p:cNvPr id="7" name="Content Placeholder 2">
            <a:extLst>
              <a:ext uri="{FF2B5EF4-FFF2-40B4-BE49-F238E27FC236}">
                <a16:creationId xmlns:a16="http://schemas.microsoft.com/office/drawing/2014/main" id="{AEBD298B-50CC-8305-AFF7-69C5A3442FF6}"/>
              </a:ext>
            </a:extLst>
          </p:cNvPr>
          <p:cNvSpPr txBox="1">
            <a:spLocks/>
          </p:cNvSpPr>
          <p:nvPr/>
        </p:nvSpPr>
        <p:spPr bwMode="auto">
          <a:xfrm>
            <a:off x="4719320" y="243840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non-final</a:t>
            </a:r>
          </a:p>
        </p:txBody>
      </p:sp>
      <p:sp>
        <p:nvSpPr>
          <p:cNvPr id="8" name="Content Placeholder 2">
            <a:extLst>
              <a:ext uri="{FF2B5EF4-FFF2-40B4-BE49-F238E27FC236}">
                <a16:creationId xmlns:a16="http://schemas.microsoft.com/office/drawing/2014/main" id="{FE0602F1-9068-813D-A100-64B1304B9061}"/>
              </a:ext>
            </a:extLst>
          </p:cNvPr>
          <p:cNvSpPr txBox="1">
            <a:spLocks/>
          </p:cNvSpPr>
          <p:nvPr/>
        </p:nvSpPr>
        <p:spPr bwMode="auto">
          <a:xfrm>
            <a:off x="177800" y="3331210"/>
            <a:ext cx="174244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public</a:t>
            </a:r>
            <a:endParaRPr lang="en-US" dirty="0">
              <a:latin typeface="Abadi" panose="020B0604020104020204" pitchFamily="34" charset="0"/>
            </a:endParaRPr>
          </a:p>
        </p:txBody>
      </p:sp>
      <p:sp>
        <p:nvSpPr>
          <p:cNvPr id="9" name="Content Placeholder 2">
            <a:extLst>
              <a:ext uri="{FF2B5EF4-FFF2-40B4-BE49-F238E27FC236}">
                <a16:creationId xmlns:a16="http://schemas.microsoft.com/office/drawing/2014/main" id="{4EFA904D-C76B-BE80-AB14-E4859E998229}"/>
              </a:ext>
            </a:extLst>
          </p:cNvPr>
          <p:cNvSpPr txBox="1">
            <a:spLocks/>
          </p:cNvSpPr>
          <p:nvPr/>
        </p:nvSpPr>
        <p:spPr bwMode="auto">
          <a:xfrm>
            <a:off x="2047240" y="333121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protected</a:t>
            </a:r>
          </a:p>
        </p:txBody>
      </p:sp>
      <p:sp>
        <p:nvSpPr>
          <p:cNvPr id="10" name="Content Placeholder 2">
            <a:extLst>
              <a:ext uri="{FF2B5EF4-FFF2-40B4-BE49-F238E27FC236}">
                <a16:creationId xmlns:a16="http://schemas.microsoft.com/office/drawing/2014/main" id="{A7E744E7-47C3-5C86-AA54-28C093B59001}"/>
              </a:ext>
            </a:extLst>
          </p:cNvPr>
          <p:cNvSpPr txBox="1">
            <a:spLocks/>
          </p:cNvSpPr>
          <p:nvPr/>
        </p:nvSpPr>
        <p:spPr bwMode="auto">
          <a:xfrm>
            <a:off x="4612640" y="3331210"/>
            <a:ext cx="207772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package</a:t>
            </a:r>
            <a:endParaRPr lang="en-US" dirty="0">
              <a:latin typeface="Abadi" panose="020B0604020104020204" pitchFamily="34" charset="0"/>
            </a:endParaRPr>
          </a:p>
        </p:txBody>
      </p:sp>
      <p:sp>
        <p:nvSpPr>
          <p:cNvPr id="11" name="Content Placeholder 2">
            <a:extLst>
              <a:ext uri="{FF2B5EF4-FFF2-40B4-BE49-F238E27FC236}">
                <a16:creationId xmlns:a16="http://schemas.microsoft.com/office/drawing/2014/main" id="{DBB08BFE-2E23-3D11-4362-661BAA05F0B7}"/>
              </a:ext>
            </a:extLst>
          </p:cNvPr>
          <p:cNvSpPr txBox="1">
            <a:spLocks/>
          </p:cNvSpPr>
          <p:nvPr/>
        </p:nvSpPr>
        <p:spPr bwMode="auto">
          <a:xfrm>
            <a:off x="6817360" y="3331210"/>
            <a:ext cx="207772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private</a:t>
            </a:r>
            <a:endParaRPr lang="en-US" dirty="0">
              <a:latin typeface="Abadi" panose="020B0604020104020204" pitchFamily="34" charset="0"/>
            </a:endParaRPr>
          </a:p>
        </p:txBody>
      </p:sp>
      <p:sp>
        <p:nvSpPr>
          <p:cNvPr id="15" name="Content Placeholder 2">
            <a:extLst>
              <a:ext uri="{FF2B5EF4-FFF2-40B4-BE49-F238E27FC236}">
                <a16:creationId xmlns:a16="http://schemas.microsoft.com/office/drawing/2014/main" id="{CFC545BF-7132-1B8F-BDE8-D447D91AB4F1}"/>
              </a:ext>
            </a:extLst>
          </p:cNvPr>
          <p:cNvSpPr txBox="1">
            <a:spLocks/>
          </p:cNvSpPr>
          <p:nvPr/>
        </p:nvSpPr>
        <p:spPr bwMode="auto">
          <a:xfrm>
            <a:off x="4688840" y="166624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solidFill>
                  <a:schemeClr val="accent6">
                    <a:lumMod val="75000"/>
                  </a:schemeClr>
                </a:solidFill>
                <a:latin typeface="Abadi" panose="020B0604020104020204" pitchFamily="34" charset="0"/>
              </a:rPr>
              <a:t>non-static</a:t>
            </a:r>
          </a:p>
        </p:txBody>
      </p:sp>
      <p:sp>
        <p:nvSpPr>
          <p:cNvPr id="16" name="Content Placeholder 2">
            <a:extLst>
              <a:ext uri="{FF2B5EF4-FFF2-40B4-BE49-F238E27FC236}">
                <a16:creationId xmlns:a16="http://schemas.microsoft.com/office/drawing/2014/main" id="{21D26CE6-2339-1B8A-9126-B121F853A9EF}"/>
              </a:ext>
            </a:extLst>
          </p:cNvPr>
          <p:cNvSpPr txBox="1">
            <a:spLocks/>
          </p:cNvSpPr>
          <p:nvPr/>
        </p:nvSpPr>
        <p:spPr bwMode="auto">
          <a:xfrm>
            <a:off x="4719320" y="244602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solidFill>
                  <a:schemeClr val="accent6">
                    <a:lumMod val="75000"/>
                  </a:schemeClr>
                </a:solidFill>
                <a:latin typeface="Abadi" panose="020B0604020104020204" pitchFamily="34" charset="0"/>
              </a:rPr>
              <a:t>non-final</a:t>
            </a:r>
          </a:p>
        </p:txBody>
      </p:sp>
      <p:sp>
        <p:nvSpPr>
          <p:cNvPr id="17" name="Content Placeholder 2">
            <a:extLst>
              <a:ext uri="{FF2B5EF4-FFF2-40B4-BE49-F238E27FC236}">
                <a16:creationId xmlns:a16="http://schemas.microsoft.com/office/drawing/2014/main" id="{682CF301-BBDA-5635-C4AA-1C8D6133AB40}"/>
              </a:ext>
            </a:extLst>
          </p:cNvPr>
          <p:cNvSpPr txBox="1">
            <a:spLocks/>
          </p:cNvSpPr>
          <p:nvPr/>
        </p:nvSpPr>
        <p:spPr bwMode="auto">
          <a:xfrm>
            <a:off x="4612640" y="3338830"/>
            <a:ext cx="207772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solidFill>
                  <a:schemeClr val="accent6">
                    <a:lumMod val="75000"/>
                  </a:schemeClr>
                </a:solidFill>
                <a:latin typeface="Abadi" panose="020B0604020104020204" pitchFamily="34" charset="0"/>
              </a:rPr>
              <a:t>package</a:t>
            </a:r>
            <a:endParaRPr lang="en-US" dirty="0">
              <a:solidFill>
                <a:schemeClr val="accent6">
                  <a:lumMod val="75000"/>
                </a:schemeClr>
              </a:solidFill>
              <a:latin typeface="Abadi" panose="020B0604020104020204" pitchFamily="34" charset="0"/>
            </a:endParaRPr>
          </a:p>
        </p:txBody>
      </p:sp>
    </p:spTree>
    <p:extLst>
      <p:ext uri="{BB962C8B-B14F-4D97-AF65-F5344CB8AC3E}">
        <p14:creationId xmlns:p14="http://schemas.microsoft.com/office/powerpoint/2010/main" val="3706972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32" presetClass="emph" presetSubtype="0" fill="hold" grpId="1" nodeType="clickEffect">
                                  <p:stCondLst>
                                    <p:cond delay="0"/>
                                  </p:stCondLst>
                                  <p:childTnLst>
                                    <p:animRot by="120000">
                                      <p:cBhvr>
                                        <p:cTn id="12" dur="100" fill="hold">
                                          <p:stCondLst>
                                            <p:cond delay="0"/>
                                          </p:stCondLst>
                                        </p:cTn>
                                        <p:tgtEl>
                                          <p:spTgt spid="5"/>
                                        </p:tgtEl>
                                        <p:attrNameLst>
                                          <p:attrName>r</p:attrName>
                                        </p:attrNameLst>
                                      </p:cBhvr>
                                    </p:animRot>
                                    <p:animRot by="-240000">
                                      <p:cBhvr>
                                        <p:cTn id="13" dur="200" fill="hold">
                                          <p:stCondLst>
                                            <p:cond delay="200"/>
                                          </p:stCondLst>
                                        </p:cTn>
                                        <p:tgtEl>
                                          <p:spTgt spid="5"/>
                                        </p:tgtEl>
                                        <p:attrNameLst>
                                          <p:attrName>r</p:attrName>
                                        </p:attrNameLst>
                                      </p:cBhvr>
                                    </p:animRot>
                                    <p:animRot by="240000">
                                      <p:cBhvr>
                                        <p:cTn id="14" dur="200" fill="hold">
                                          <p:stCondLst>
                                            <p:cond delay="400"/>
                                          </p:stCondLst>
                                        </p:cTn>
                                        <p:tgtEl>
                                          <p:spTgt spid="5"/>
                                        </p:tgtEl>
                                        <p:attrNameLst>
                                          <p:attrName>r</p:attrName>
                                        </p:attrNameLst>
                                      </p:cBhvr>
                                    </p:animRot>
                                    <p:animRot by="-240000">
                                      <p:cBhvr>
                                        <p:cTn id="15" dur="200" fill="hold">
                                          <p:stCondLst>
                                            <p:cond delay="600"/>
                                          </p:stCondLst>
                                        </p:cTn>
                                        <p:tgtEl>
                                          <p:spTgt spid="5"/>
                                        </p:tgtEl>
                                        <p:attrNameLst>
                                          <p:attrName>r</p:attrName>
                                        </p:attrNameLst>
                                      </p:cBhvr>
                                    </p:animRot>
                                    <p:animRot by="120000">
                                      <p:cBhvr>
                                        <p:cTn id="16" dur="200" fill="hold">
                                          <p:stCondLst>
                                            <p:cond delay="800"/>
                                          </p:stCondLst>
                                        </p:cTn>
                                        <p:tgtEl>
                                          <p:spTgt spid="5"/>
                                        </p:tgtEl>
                                        <p:attrNameLst>
                                          <p:attrName>r</p:attrName>
                                        </p:attrNameLst>
                                      </p:cBhvr>
                                    </p:animRot>
                                  </p:childTnLst>
                                </p:cTn>
                              </p:par>
                            </p:childTnLst>
                          </p:cTn>
                        </p:par>
                        <p:par>
                          <p:cTn id="17" fill="hold">
                            <p:stCondLst>
                              <p:cond delay="1000"/>
                            </p:stCondLst>
                            <p:childTnLst>
                              <p:par>
                                <p:cTn id="18" presetID="1" presetClass="entr" presetSubtype="0" fill="hold" grpId="0" nodeType="afterEffect">
                                  <p:stCondLst>
                                    <p:cond delay="300"/>
                                  </p:stCondLst>
                                  <p:childTnLst>
                                    <p:set>
                                      <p:cBhvr>
                                        <p:cTn id="19" dur="1" fill="hold">
                                          <p:stCondLst>
                                            <p:cond delay="0"/>
                                          </p:stCondLst>
                                        </p:cTn>
                                        <p:tgtEl>
                                          <p:spTgt spid="1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barn(inVertical)">
                                      <p:cBhvr>
                                        <p:cTn id="24" dur="500"/>
                                        <p:tgtEl>
                                          <p:spTgt spid="6"/>
                                        </p:tgtEl>
                                      </p:cBhvr>
                                    </p:animEffect>
                                  </p:childTnLst>
                                </p:cTn>
                              </p:par>
                              <p:par>
                                <p:cTn id="25" presetID="16" presetClass="entr" presetSubtype="21"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barn(inVertical)">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27" presetClass="emph" presetSubtype="0" fill="remove" grpId="1" nodeType="clickEffect">
                                  <p:stCondLst>
                                    <p:cond delay="0"/>
                                  </p:stCondLst>
                                  <p:childTnLst>
                                    <p:animClr clrSpc="rgb" dir="cw">
                                      <p:cBhvr override="childStyle">
                                        <p:cTn id="36" dur="250" autoRev="1" fill="remove"/>
                                        <p:tgtEl>
                                          <p:spTgt spid="16"/>
                                        </p:tgtEl>
                                        <p:attrNameLst>
                                          <p:attrName>style.color</p:attrName>
                                        </p:attrNameLst>
                                      </p:cBhvr>
                                      <p:to>
                                        <a:schemeClr val="bg1"/>
                                      </p:to>
                                    </p:animClr>
                                    <p:animClr clrSpc="rgb" dir="cw">
                                      <p:cBhvr>
                                        <p:cTn id="37" dur="250" autoRev="1" fill="remove"/>
                                        <p:tgtEl>
                                          <p:spTgt spid="16"/>
                                        </p:tgtEl>
                                        <p:attrNameLst>
                                          <p:attrName>fillcolor</p:attrName>
                                        </p:attrNameLst>
                                      </p:cBhvr>
                                      <p:to>
                                        <a:schemeClr val="bg1"/>
                                      </p:to>
                                    </p:animClr>
                                    <p:set>
                                      <p:cBhvr>
                                        <p:cTn id="38" dur="250" autoRev="1" fill="remove"/>
                                        <p:tgtEl>
                                          <p:spTgt spid="16"/>
                                        </p:tgtEl>
                                        <p:attrNameLst>
                                          <p:attrName>fill.type</p:attrName>
                                        </p:attrNameLst>
                                      </p:cBhvr>
                                      <p:to>
                                        <p:strVal val="solid"/>
                                      </p:to>
                                    </p:set>
                                    <p:set>
                                      <p:cBhvr>
                                        <p:cTn id="39" dur="250" autoRev="1" fill="remove"/>
                                        <p:tgtEl>
                                          <p:spTgt spid="16"/>
                                        </p:tgtEl>
                                        <p:attrNameLst>
                                          <p:attrName>fill.on</p:attrName>
                                        </p:attrNameLst>
                                      </p:cBhvr>
                                      <p:to>
                                        <p:strVal val="true"/>
                                      </p:to>
                                    </p:set>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fade">
                                      <p:cBhvr>
                                        <p:cTn id="44" dur="1000"/>
                                        <p:tgtEl>
                                          <p:spTgt spid="8"/>
                                        </p:tgtEl>
                                      </p:cBhvr>
                                    </p:animEffect>
                                    <p:anim calcmode="lin" valueType="num">
                                      <p:cBhvr>
                                        <p:cTn id="45" dur="1000" fill="hold"/>
                                        <p:tgtEl>
                                          <p:spTgt spid="8"/>
                                        </p:tgtEl>
                                        <p:attrNameLst>
                                          <p:attrName>ppt_x</p:attrName>
                                        </p:attrNameLst>
                                      </p:cBhvr>
                                      <p:tavLst>
                                        <p:tav tm="0">
                                          <p:val>
                                            <p:strVal val="#ppt_x"/>
                                          </p:val>
                                        </p:tav>
                                        <p:tav tm="100000">
                                          <p:val>
                                            <p:strVal val="#ppt_x"/>
                                          </p:val>
                                        </p:tav>
                                      </p:tavLst>
                                    </p:anim>
                                    <p:anim calcmode="lin" valueType="num">
                                      <p:cBhvr>
                                        <p:cTn id="46" dur="1000" fill="hold"/>
                                        <p:tgtEl>
                                          <p:spTgt spid="8"/>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1000"/>
                                        <p:tgtEl>
                                          <p:spTgt spid="9"/>
                                        </p:tgtEl>
                                      </p:cBhvr>
                                    </p:animEffect>
                                    <p:anim calcmode="lin" valueType="num">
                                      <p:cBhvr>
                                        <p:cTn id="50" dur="1000" fill="hold"/>
                                        <p:tgtEl>
                                          <p:spTgt spid="9"/>
                                        </p:tgtEl>
                                        <p:attrNameLst>
                                          <p:attrName>ppt_x</p:attrName>
                                        </p:attrNameLst>
                                      </p:cBhvr>
                                      <p:tavLst>
                                        <p:tav tm="0">
                                          <p:val>
                                            <p:strVal val="#ppt_x"/>
                                          </p:val>
                                        </p:tav>
                                        <p:tav tm="100000">
                                          <p:val>
                                            <p:strVal val="#ppt_x"/>
                                          </p:val>
                                        </p:tav>
                                      </p:tavLst>
                                    </p:anim>
                                    <p:anim calcmode="lin" valueType="num">
                                      <p:cBhvr>
                                        <p:cTn id="51" dur="1000" fill="hold"/>
                                        <p:tgtEl>
                                          <p:spTgt spid="9"/>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0"/>
                                        </p:tgtEl>
                                        <p:attrNameLst>
                                          <p:attrName>style.visibility</p:attrName>
                                        </p:attrNameLst>
                                      </p:cBhvr>
                                      <p:to>
                                        <p:strVal val="visible"/>
                                      </p:to>
                                    </p:set>
                                    <p:animEffect transition="in" filter="fade">
                                      <p:cBhvr>
                                        <p:cTn id="54" dur="1000"/>
                                        <p:tgtEl>
                                          <p:spTgt spid="10"/>
                                        </p:tgtEl>
                                      </p:cBhvr>
                                    </p:animEffect>
                                    <p:anim calcmode="lin" valueType="num">
                                      <p:cBhvr>
                                        <p:cTn id="55" dur="1000" fill="hold"/>
                                        <p:tgtEl>
                                          <p:spTgt spid="10"/>
                                        </p:tgtEl>
                                        <p:attrNameLst>
                                          <p:attrName>ppt_x</p:attrName>
                                        </p:attrNameLst>
                                      </p:cBhvr>
                                      <p:tavLst>
                                        <p:tav tm="0">
                                          <p:val>
                                            <p:strVal val="#ppt_x"/>
                                          </p:val>
                                        </p:tav>
                                        <p:tav tm="100000">
                                          <p:val>
                                            <p:strVal val="#ppt_x"/>
                                          </p:val>
                                        </p:tav>
                                      </p:tavLst>
                                    </p:anim>
                                    <p:anim calcmode="lin" valueType="num">
                                      <p:cBhvr>
                                        <p:cTn id="56" dur="1000" fill="hold"/>
                                        <p:tgtEl>
                                          <p:spTgt spid="10"/>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fade">
                                      <p:cBhvr>
                                        <p:cTn id="59" dur="1000"/>
                                        <p:tgtEl>
                                          <p:spTgt spid="11"/>
                                        </p:tgtEl>
                                      </p:cBhvr>
                                    </p:animEffect>
                                    <p:anim calcmode="lin" valueType="num">
                                      <p:cBhvr>
                                        <p:cTn id="60" dur="1000" fill="hold"/>
                                        <p:tgtEl>
                                          <p:spTgt spid="11"/>
                                        </p:tgtEl>
                                        <p:attrNameLst>
                                          <p:attrName>ppt_x</p:attrName>
                                        </p:attrNameLst>
                                      </p:cBhvr>
                                      <p:tavLst>
                                        <p:tav tm="0">
                                          <p:val>
                                            <p:strVal val="#ppt_x"/>
                                          </p:val>
                                        </p:tav>
                                        <p:tav tm="100000">
                                          <p:val>
                                            <p:strVal val="#ppt_x"/>
                                          </p:val>
                                        </p:tav>
                                      </p:tavLst>
                                    </p:anim>
                                    <p:anim calcmode="lin" valueType="num">
                                      <p:cBhvr>
                                        <p:cTn id="6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17"/>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8" presetClass="emph" presetSubtype="0" fill="hold" grpId="1" nodeType="clickEffect">
                                  <p:stCondLst>
                                    <p:cond delay="0"/>
                                  </p:stCondLst>
                                  <p:childTnLst>
                                    <p:animRot by="21600000">
                                      <p:cBhvr>
                                        <p:cTn id="69" dur="2000" fill="hold"/>
                                        <p:tgtEl>
                                          <p:spTgt spid="1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5" grpId="1"/>
      <p:bldP spid="6" grpId="0"/>
      <p:bldP spid="7" grpId="0"/>
      <p:bldP spid="8" grpId="0"/>
      <p:bldP spid="9" grpId="0"/>
      <p:bldP spid="10" grpId="0"/>
      <p:bldP spid="11" grpId="0"/>
      <p:bldP spid="15" grpId="0"/>
      <p:bldP spid="16" grpId="0"/>
      <p:bldP spid="16" grpId="1"/>
      <p:bldP spid="17" grpId="0"/>
      <p:bldP spid="17"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99C54-BC66-E966-E034-3133B5074203}"/>
              </a:ext>
            </a:extLst>
          </p:cNvPr>
          <p:cNvSpPr>
            <a:spLocks noGrp="1"/>
          </p:cNvSpPr>
          <p:nvPr>
            <p:ph type="title"/>
          </p:nvPr>
        </p:nvSpPr>
        <p:spPr>
          <a:xfrm>
            <a:off x="685800" y="294640"/>
            <a:ext cx="7772400" cy="1143000"/>
          </a:xfrm>
        </p:spPr>
        <p:txBody>
          <a:bodyPr/>
          <a:lstStyle/>
          <a:p>
            <a:r>
              <a:rPr lang="en-US" b="1" dirty="0">
                <a:latin typeface="Abadi" panose="020B0604020104020204" pitchFamily="34" charset="0"/>
              </a:rPr>
              <a:t>Method defaults in a class</a:t>
            </a:r>
          </a:p>
        </p:txBody>
      </p:sp>
      <p:sp>
        <p:nvSpPr>
          <p:cNvPr id="3" name="Content Placeholder 2">
            <a:extLst>
              <a:ext uri="{FF2B5EF4-FFF2-40B4-BE49-F238E27FC236}">
                <a16:creationId xmlns:a16="http://schemas.microsoft.com/office/drawing/2014/main" id="{024AE975-21A8-46D8-2D21-66448E2EFA47}"/>
              </a:ext>
            </a:extLst>
          </p:cNvPr>
          <p:cNvSpPr>
            <a:spLocks noGrp="1"/>
          </p:cNvSpPr>
          <p:nvPr>
            <p:ph idx="1"/>
          </p:nvPr>
        </p:nvSpPr>
        <p:spPr>
          <a:xfrm>
            <a:off x="1329690" y="1666240"/>
            <a:ext cx="2438400" cy="650240"/>
          </a:xfrm>
        </p:spPr>
        <p:txBody>
          <a:bodyPr/>
          <a:lstStyle/>
          <a:p>
            <a:pPr marL="0" indent="0" algn="ctr">
              <a:buNone/>
            </a:pPr>
            <a:r>
              <a:rPr lang="en-US" sz="4000" dirty="0">
                <a:latin typeface="Abadi" panose="020B0604020104020204" pitchFamily="34" charset="0"/>
              </a:rPr>
              <a:t>static</a:t>
            </a:r>
            <a:endParaRPr lang="en-US" dirty="0">
              <a:latin typeface="Abadi" panose="020B0604020104020204" pitchFamily="34" charset="0"/>
            </a:endParaRPr>
          </a:p>
        </p:txBody>
      </p:sp>
      <p:sp>
        <p:nvSpPr>
          <p:cNvPr id="5" name="Content Placeholder 2">
            <a:extLst>
              <a:ext uri="{FF2B5EF4-FFF2-40B4-BE49-F238E27FC236}">
                <a16:creationId xmlns:a16="http://schemas.microsoft.com/office/drawing/2014/main" id="{1A5E6F95-175B-F428-2166-AC52DFDFE68A}"/>
              </a:ext>
            </a:extLst>
          </p:cNvPr>
          <p:cNvSpPr txBox="1">
            <a:spLocks/>
          </p:cNvSpPr>
          <p:nvPr/>
        </p:nvSpPr>
        <p:spPr bwMode="auto">
          <a:xfrm>
            <a:off x="4688840" y="166624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non-static</a:t>
            </a:r>
          </a:p>
        </p:txBody>
      </p:sp>
      <p:sp>
        <p:nvSpPr>
          <p:cNvPr id="6" name="Content Placeholder 2">
            <a:extLst>
              <a:ext uri="{FF2B5EF4-FFF2-40B4-BE49-F238E27FC236}">
                <a16:creationId xmlns:a16="http://schemas.microsoft.com/office/drawing/2014/main" id="{557955AA-BF7E-46BD-BE24-5DD80030A53C}"/>
              </a:ext>
            </a:extLst>
          </p:cNvPr>
          <p:cNvSpPr txBox="1">
            <a:spLocks/>
          </p:cNvSpPr>
          <p:nvPr/>
        </p:nvSpPr>
        <p:spPr bwMode="auto">
          <a:xfrm>
            <a:off x="1329690" y="243840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final</a:t>
            </a:r>
            <a:endParaRPr lang="en-US" dirty="0">
              <a:latin typeface="Abadi" panose="020B0604020104020204" pitchFamily="34" charset="0"/>
            </a:endParaRPr>
          </a:p>
        </p:txBody>
      </p:sp>
      <p:sp>
        <p:nvSpPr>
          <p:cNvPr id="7" name="Content Placeholder 2">
            <a:extLst>
              <a:ext uri="{FF2B5EF4-FFF2-40B4-BE49-F238E27FC236}">
                <a16:creationId xmlns:a16="http://schemas.microsoft.com/office/drawing/2014/main" id="{AEBD298B-50CC-8305-AFF7-69C5A3442FF6}"/>
              </a:ext>
            </a:extLst>
          </p:cNvPr>
          <p:cNvSpPr txBox="1">
            <a:spLocks/>
          </p:cNvSpPr>
          <p:nvPr/>
        </p:nvSpPr>
        <p:spPr bwMode="auto">
          <a:xfrm>
            <a:off x="4719320" y="243840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non-final</a:t>
            </a:r>
          </a:p>
        </p:txBody>
      </p:sp>
      <p:sp>
        <p:nvSpPr>
          <p:cNvPr id="8" name="Content Placeholder 2">
            <a:extLst>
              <a:ext uri="{FF2B5EF4-FFF2-40B4-BE49-F238E27FC236}">
                <a16:creationId xmlns:a16="http://schemas.microsoft.com/office/drawing/2014/main" id="{FE0602F1-9068-813D-A100-64B1304B9061}"/>
              </a:ext>
            </a:extLst>
          </p:cNvPr>
          <p:cNvSpPr txBox="1">
            <a:spLocks/>
          </p:cNvSpPr>
          <p:nvPr/>
        </p:nvSpPr>
        <p:spPr bwMode="auto">
          <a:xfrm>
            <a:off x="177800" y="3331210"/>
            <a:ext cx="174244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public</a:t>
            </a:r>
            <a:endParaRPr lang="en-US" dirty="0">
              <a:latin typeface="Abadi" panose="020B0604020104020204" pitchFamily="34" charset="0"/>
            </a:endParaRPr>
          </a:p>
        </p:txBody>
      </p:sp>
      <p:sp>
        <p:nvSpPr>
          <p:cNvPr id="9" name="Content Placeholder 2">
            <a:extLst>
              <a:ext uri="{FF2B5EF4-FFF2-40B4-BE49-F238E27FC236}">
                <a16:creationId xmlns:a16="http://schemas.microsoft.com/office/drawing/2014/main" id="{4EFA904D-C76B-BE80-AB14-E4859E998229}"/>
              </a:ext>
            </a:extLst>
          </p:cNvPr>
          <p:cNvSpPr txBox="1">
            <a:spLocks/>
          </p:cNvSpPr>
          <p:nvPr/>
        </p:nvSpPr>
        <p:spPr bwMode="auto">
          <a:xfrm>
            <a:off x="2047240" y="333121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protected</a:t>
            </a:r>
          </a:p>
        </p:txBody>
      </p:sp>
      <p:sp>
        <p:nvSpPr>
          <p:cNvPr id="10" name="Content Placeholder 2">
            <a:extLst>
              <a:ext uri="{FF2B5EF4-FFF2-40B4-BE49-F238E27FC236}">
                <a16:creationId xmlns:a16="http://schemas.microsoft.com/office/drawing/2014/main" id="{A7E744E7-47C3-5C86-AA54-28C093B59001}"/>
              </a:ext>
            </a:extLst>
          </p:cNvPr>
          <p:cNvSpPr txBox="1">
            <a:spLocks/>
          </p:cNvSpPr>
          <p:nvPr/>
        </p:nvSpPr>
        <p:spPr bwMode="auto">
          <a:xfrm>
            <a:off x="4612640" y="3331210"/>
            <a:ext cx="207772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package</a:t>
            </a:r>
            <a:endParaRPr lang="en-US" dirty="0">
              <a:latin typeface="Abadi" panose="020B0604020104020204" pitchFamily="34" charset="0"/>
            </a:endParaRPr>
          </a:p>
        </p:txBody>
      </p:sp>
      <p:sp>
        <p:nvSpPr>
          <p:cNvPr id="11" name="Content Placeholder 2">
            <a:extLst>
              <a:ext uri="{FF2B5EF4-FFF2-40B4-BE49-F238E27FC236}">
                <a16:creationId xmlns:a16="http://schemas.microsoft.com/office/drawing/2014/main" id="{DBB08BFE-2E23-3D11-4362-661BAA05F0B7}"/>
              </a:ext>
            </a:extLst>
          </p:cNvPr>
          <p:cNvSpPr txBox="1">
            <a:spLocks/>
          </p:cNvSpPr>
          <p:nvPr/>
        </p:nvSpPr>
        <p:spPr bwMode="auto">
          <a:xfrm>
            <a:off x="6817360" y="3331210"/>
            <a:ext cx="207772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private</a:t>
            </a:r>
            <a:endParaRPr lang="en-US" dirty="0">
              <a:latin typeface="Abadi" panose="020B0604020104020204" pitchFamily="34" charset="0"/>
            </a:endParaRPr>
          </a:p>
        </p:txBody>
      </p:sp>
      <p:sp>
        <p:nvSpPr>
          <p:cNvPr id="13" name="Content Placeholder 2">
            <a:extLst>
              <a:ext uri="{FF2B5EF4-FFF2-40B4-BE49-F238E27FC236}">
                <a16:creationId xmlns:a16="http://schemas.microsoft.com/office/drawing/2014/main" id="{F2E43BE6-5714-EECD-A1AC-80CECE76CF96}"/>
              </a:ext>
            </a:extLst>
          </p:cNvPr>
          <p:cNvSpPr txBox="1">
            <a:spLocks/>
          </p:cNvSpPr>
          <p:nvPr/>
        </p:nvSpPr>
        <p:spPr bwMode="auto">
          <a:xfrm>
            <a:off x="1203960" y="4345940"/>
            <a:ext cx="256794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concrete</a:t>
            </a:r>
            <a:endParaRPr lang="en-US" dirty="0">
              <a:latin typeface="Abadi" panose="020B0604020104020204" pitchFamily="34" charset="0"/>
            </a:endParaRPr>
          </a:p>
        </p:txBody>
      </p:sp>
      <p:sp>
        <p:nvSpPr>
          <p:cNvPr id="14" name="Content Placeholder 2">
            <a:extLst>
              <a:ext uri="{FF2B5EF4-FFF2-40B4-BE49-F238E27FC236}">
                <a16:creationId xmlns:a16="http://schemas.microsoft.com/office/drawing/2014/main" id="{764A87D2-BA9E-874E-91A0-E5326075701B}"/>
              </a:ext>
            </a:extLst>
          </p:cNvPr>
          <p:cNvSpPr txBox="1">
            <a:spLocks/>
          </p:cNvSpPr>
          <p:nvPr/>
        </p:nvSpPr>
        <p:spPr bwMode="auto">
          <a:xfrm>
            <a:off x="4810760" y="434594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latin typeface="Abadi" panose="020B0604020104020204" pitchFamily="34" charset="0"/>
              </a:rPr>
              <a:t>abstract</a:t>
            </a:r>
          </a:p>
        </p:txBody>
      </p:sp>
      <p:sp>
        <p:nvSpPr>
          <p:cNvPr id="15" name="Content Placeholder 2">
            <a:extLst>
              <a:ext uri="{FF2B5EF4-FFF2-40B4-BE49-F238E27FC236}">
                <a16:creationId xmlns:a16="http://schemas.microsoft.com/office/drawing/2014/main" id="{CFC545BF-7132-1B8F-BDE8-D447D91AB4F1}"/>
              </a:ext>
            </a:extLst>
          </p:cNvPr>
          <p:cNvSpPr txBox="1">
            <a:spLocks/>
          </p:cNvSpPr>
          <p:nvPr/>
        </p:nvSpPr>
        <p:spPr bwMode="auto">
          <a:xfrm>
            <a:off x="4688840" y="166624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solidFill>
                  <a:schemeClr val="accent6">
                    <a:lumMod val="75000"/>
                  </a:schemeClr>
                </a:solidFill>
                <a:latin typeface="Abadi" panose="020B0604020104020204" pitchFamily="34" charset="0"/>
              </a:rPr>
              <a:t>non-static</a:t>
            </a:r>
          </a:p>
        </p:txBody>
      </p:sp>
      <p:sp>
        <p:nvSpPr>
          <p:cNvPr id="16" name="Content Placeholder 2">
            <a:extLst>
              <a:ext uri="{FF2B5EF4-FFF2-40B4-BE49-F238E27FC236}">
                <a16:creationId xmlns:a16="http://schemas.microsoft.com/office/drawing/2014/main" id="{21D26CE6-2339-1B8A-9126-B121F853A9EF}"/>
              </a:ext>
            </a:extLst>
          </p:cNvPr>
          <p:cNvSpPr txBox="1">
            <a:spLocks/>
          </p:cNvSpPr>
          <p:nvPr/>
        </p:nvSpPr>
        <p:spPr bwMode="auto">
          <a:xfrm>
            <a:off x="4719320" y="244602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solidFill>
                  <a:schemeClr val="accent6">
                    <a:lumMod val="75000"/>
                  </a:schemeClr>
                </a:solidFill>
                <a:latin typeface="Abadi" panose="020B0604020104020204" pitchFamily="34" charset="0"/>
              </a:rPr>
              <a:t>non-final</a:t>
            </a:r>
          </a:p>
        </p:txBody>
      </p:sp>
      <p:sp>
        <p:nvSpPr>
          <p:cNvPr id="17" name="Content Placeholder 2">
            <a:extLst>
              <a:ext uri="{FF2B5EF4-FFF2-40B4-BE49-F238E27FC236}">
                <a16:creationId xmlns:a16="http://schemas.microsoft.com/office/drawing/2014/main" id="{682CF301-BBDA-5635-C4AA-1C8D6133AB40}"/>
              </a:ext>
            </a:extLst>
          </p:cNvPr>
          <p:cNvSpPr txBox="1">
            <a:spLocks/>
          </p:cNvSpPr>
          <p:nvPr/>
        </p:nvSpPr>
        <p:spPr bwMode="auto">
          <a:xfrm>
            <a:off x="4612640" y="3338830"/>
            <a:ext cx="207772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solidFill>
                  <a:schemeClr val="accent6">
                    <a:lumMod val="75000"/>
                  </a:schemeClr>
                </a:solidFill>
                <a:latin typeface="Abadi" panose="020B0604020104020204" pitchFamily="34" charset="0"/>
              </a:rPr>
              <a:t>package</a:t>
            </a:r>
            <a:endParaRPr lang="en-US" dirty="0">
              <a:solidFill>
                <a:schemeClr val="accent6">
                  <a:lumMod val="75000"/>
                </a:schemeClr>
              </a:solidFill>
              <a:latin typeface="Abadi" panose="020B0604020104020204" pitchFamily="34" charset="0"/>
            </a:endParaRPr>
          </a:p>
        </p:txBody>
      </p:sp>
      <p:sp>
        <p:nvSpPr>
          <p:cNvPr id="18" name="Content Placeholder 2">
            <a:extLst>
              <a:ext uri="{FF2B5EF4-FFF2-40B4-BE49-F238E27FC236}">
                <a16:creationId xmlns:a16="http://schemas.microsoft.com/office/drawing/2014/main" id="{551A2694-033E-1E59-585C-40E9F95B5028}"/>
              </a:ext>
            </a:extLst>
          </p:cNvPr>
          <p:cNvSpPr txBox="1">
            <a:spLocks/>
          </p:cNvSpPr>
          <p:nvPr/>
        </p:nvSpPr>
        <p:spPr bwMode="auto">
          <a:xfrm>
            <a:off x="1272540" y="4351020"/>
            <a:ext cx="2438400" cy="6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Tx/>
              <a:buNone/>
            </a:pPr>
            <a:r>
              <a:rPr lang="en-US" sz="4000" dirty="0">
                <a:solidFill>
                  <a:schemeClr val="accent6">
                    <a:lumMod val="75000"/>
                  </a:schemeClr>
                </a:solidFill>
                <a:latin typeface="Abadi" panose="020B0604020104020204" pitchFamily="34" charset="0"/>
              </a:rPr>
              <a:t>concrete</a:t>
            </a:r>
            <a:endParaRPr lang="en-US" dirty="0">
              <a:solidFill>
                <a:schemeClr val="accent6">
                  <a:lumMod val="75000"/>
                </a:schemeClr>
              </a:solidFill>
              <a:latin typeface="Abadi" panose="020B0604020104020204" pitchFamily="34" charset="0"/>
            </a:endParaRPr>
          </a:p>
        </p:txBody>
      </p:sp>
    </p:spTree>
    <p:extLst>
      <p:ext uri="{BB962C8B-B14F-4D97-AF65-F5344CB8AC3E}">
        <p14:creationId xmlns:p14="http://schemas.microsoft.com/office/powerpoint/2010/main" val="3050092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barn(inVertical)">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iterate type="lt">
                                    <p:tmPct val="0"/>
                                  </p:iterate>
                                  <p:childTnLst>
                                    <p:set>
                                      <p:cBhvr>
                                        <p:cTn id="14" dur="1" fill="hold">
                                          <p:stCondLst>
                                            <p:cond delay="0"/>
                                          </p:stCondLst>
                                        </p:cTn>
                                        <p:tgtEl>
                                          <p:spTgt spid="18"/>
                                        </p:tgtEl>
                                        <p:attrNameLst>
                                          <p:attrName>style.visibility</p:attrName>
                                        </p:attrNameLst>
                                      </p:cBhvr>
                                      <p:to>
                                        <p:strVal val="visible"/>
                                      </p:to>
                                    </p:set>
                                    <p:animEffect transition="in" filter="barn(inVertical)">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15" presetClass="emph" presetSubtype="0" grpId="1" nodeType="clickEffect">
                                  <p:stCondLst>
                                    <p:cond delay="0"/>
                                  </p:stCondLst>
                                  <p:iterate type="lt">
                                    <p:tmAbs val="25"/>
                                  </p:iterate>
                                  <p:childTnLst>
                                    <p:set>
                                      <p:cBhvr override="childStyle">
                                        <p:cTn id="19" dur="indefinite"/>
                                        <p:tgtEl>
                                          <p:spTgt spid="18"/>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8" grpId="0"/>
      <p:bldP spid="18"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99C54-BC66-E966-E034-3133B5074203}"/>
              </a:ext>
            </a:extLst>
          </p:cNvPr>
          <p:cNvSpPr>
            <a:spLocks noGrp="1"/>
          </p:cNvSpPr>
          <p:nvPr>
            <p:ph type="title"/>
          </p:nvPr>
        </p:nvSpPr>
        <p:spPr>
          <a:xfrm>
            <a:off x="685800" y="294640"/>
            <a:ext cx="7772400" cy="1143000"/>
          </a:xfrm>
        </p:spPr>
        <p:txBody>
          <a:bodyPr/>
          <a:lstStyle/>
          <a:p>
            <a:r>
              <a:rPr lang="en-US" b="1" dirty="0">
                <a:latin typeface="Abadi" panose="020B0604020104020204" pitchFamily="34" charset="0"/>
              </a:rPr>
              <a:t>Defaults in a class</a:t>
            </a:r>
          </a:p>
        </p:txBody>
      </p:sp>
      <p:sp>
        <p:nvSpPr>
          <p:cNvPr id="3" name="Content Placeholder 2">
            <a:extLst>
              <a:ext uri="{FF2B5EF4-FFF2-40B4-BE49-F238E27FC236}">
                <a16:creationId xmlns:a16="http://schemas.microsoft.com/office/drawing/2014/main" id="{024AE975-21A8-46D8-2D21-66448E2EFA47}"/>
              </a:ext>
            </a:extLst>
          </p:cNvPr>
          <p:cNvSpPr>
            <a:spLocks noGrp="1"/>
          </p:cNvSpPr>
          <p:nvPr>
            <p:ph idx="1"/>
          </p:nvPr>
        </p:nvSpPr>
        <p:spPr>
          <a:xfrm>
            <a:off x="541020" y="1666240"/>
            <a:ext cx="8221980" cy="3683000"/>
          </a:xfrm>
        </p:spPr>
        <p:txBody>
          <a:bodyPr/>
          <a:lstStyle/>
          <a:p>
            <a:pPr marL="0" indent="0">
              <a:buNone/>
            </a:pPr>
            <a:r>
              <a:rPr lang="en-US" sz="4000" dirty="0">
                <a:latin typeface="Abadi" panose="020B0604020104020204" pitchFamily="34" charset="0"/>
              </a:rPr>
              <a:t>Variables in a class are non-static, non-final, and package level access.</a:t>
            </a:r>
          </a:p>
          <a:p>
            <a:pPr marL="0" indent="0">
              <a:buNone/>
            </a:pPr>
            <a:endParaRPr lang="en-US" sz="4000" dirty="0">
              <a:latin typeface="Abadi" panose="020B0604020104020204" pitchFamily="34" charset="0"/>
            </a:endParaRPr>
          </a:p>
          <a:p>
            <a:pPr marL="0" indent="0">
              <a:buNone/>
            </a:pPr>
            <a:r>
              <a:rPr lang="en-US" sz="4000" dirty="0">
                <a:latin typeface="Abadi" panose="020B0604020104020204" pitchFamily="34" charset="0"/>
              </a:rPr>
              <a:t>Methods in a class are </a:t>
            </a:r>
            <a:r>
              <a:rPr lang="en-US" sz="4000" b="1" dirty="0">
                <a:latin typeface="Abadi" panose="020B0604020104020204" pitchFamily="34" charset="0"/>
              </a:rPr>
              <a:t>concrete</a:t>
            </a:r>
            <a:r>
              <a:rPr lang="en-US" sz="4000" dirty="0">
                <a:latin typeface="Abadi" panose="020B0604020104020204" pitchFamily="34" charset="0"/>
              </a:rPr>
              <a:t> and non-static, non-final, and package level access.</a:t>
            </a:r>
          </a:p>
        </p:txBody>
      </p:sp>
    </p:spTree>
    <p:extLst>
      <p:ext uri="{BB962C8B-B14F-4D97-AF65-F5344CB8AC3E}">
        <p14:creationId xmlns:p14="http://schemas.microsoft.com/office/powerpoint/2010/main" val="1938125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99C54-BC66-E966-E034-3133B5074203}"/>
              </a:ext>
            </a:extLst>
          </p:cNvPr>
          <p:cNvSpPr>
            <a:spLocks noGrp="1"/>
          </p:cNvSpPr>
          <p:nvPr>
            <p:ph type="title"/>
          </p:nvPr>
        </p:nvSpPr>
        <p:spPr>
          <a:xfrm>
            <a:off x="685800" y="294640"/>
            <a:ext cx="7772400" cy="1143000"/>
          </a:xfrm>
        </p:spPr>
        <p:txBody>
          <a:bodyPr/>
          <a:lstStyle/>
          <a:p>
            <a:r>
              <a:rPr lang="en-US" b="1" dirty="0">
                <a:latin typeface="Abadi" panose="020B0604020104020204" pitchFamily="34" charset="0"/>
              </a:rPr>
              <a:t>Defaults in an Interface</a:t>
            </a:r>
          </a:p>
        </p:txBody>
      </p:sp>
      <p:sp>
        <p:nvSpPr>
          <p:cNvPr id="3" name="Content Placeholder 2">
            <a:extLst>
              <a:ext uri="{FF2B5EF4-FFF2-40B4-BE49-F238E27FC236}">
                <a16:creationId xmlns:a16="http://schemas.microsoft.com/office/drawing/2014/main" id="{024AE975-21A8-46D8-2D21-66448E2EFA47}"/>
              </a:ext>
            </a:extLst>
          </p:cNvPr>
          <p:cNvSpPr>
            <a:spLocks noGrp="1"/>
          </p:cNvSpPr>
          <p:nvPr>
            <p:ph idx="1"/>
          </p:nvPr>
        </p:nvSpPr>
        <p:spPr>
          <a:xfrm>
            <a:off x="541020" y="1666240"/>
            <a:ext cx="8221980" cy="3683000"/>
          </a:xfrm>
        </p:spPr>
        <p:txBody>
          <a:bodyPr/>
          <a:lstStyle/>
          <a:p>
            <a:pPr marL="0" indent="0">
              <a:buNone/>
            </a:pPr>
            <a:r>
              <a:rPr lang="en-US" sz="4000" dirty="0">
                <a:latin typeface="Abadi" panose="020B0604020104020204" pitchFamily="34" charset="0"/>
              </a:rPr>
              <a:t>Variables in an interface are public, static, and final.</a:t>
            </a:r>
          </a:p>
          <a:p>
            <a:pPr marL="0" indent="0">
              <a:buNone/>
            </a:pPr>
            <a:endParaRPr lang="en-US" sz="4000" dirty="0">
              <a:latin typeface="Abadi" panose="020B0604020104020204" pitchFamily="34" charset="0"/>
            </a:endParaRPr>
          </a:p>
          <a:p>
            <a:pPr marL="0" indent="0">
              <a:buNone/>
            </a:pPr>
            <a:r>
              <a:rPr lang="en-US" sz="4000" dirty="0">
                <a:latin typeface="Abadi" panose="020B0604020104020204" pitchFamily="34" charset="0"/>
              </a:rPr>
              <a:t>Methods in an interface are public, abstract, non-static, and non-final.</a:t>
            </a:r>
          </a:p>
        </p:txBody>
      </p:sp>
    </p:spTree>
    <p:extLst>
      <p:ext uri="{BB962C8B-B14F-4D97-AF65-F5344CB8AC3E}">
        <p14:creationId xmlns:p14="http://schemas.microsoft.com/office/powerpoint/2010/main" val="16745931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99A26EF-22EB-4E17-A2C4-431234F8C27A}"/>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53602" name="WordArt 2">
            <a:extLst>
              <a:ext uri="{FF2B5EF4-FFF2-40B4-BE49-F238E27FC236}">
                <a16:creationId xmlns:a16="http://schemas.microsoft.com/office/drawing/2014/main" id="{06DF2F94-5581-4796-94C3-30D459A4AEE9}"/>
              </a:ext>
            </a:extLst>
          </p:cNvPr>
          <p:cNvSpPr>
            <a:spLocks noChangeArrowheads="1" noChangeShapeType="1" noTextEdit="1"/>
          </p:cNvSpPr>
          <p:nvPr/>
        </p:nvSpPr>
        <p:spPr bwMode="auto">
          <a:xfrm>
            <a:off x="685800" y="2362200"/>
            <a:ext cx="7620000" cy="1371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Comparable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ooter Placeholder 3">
            <a:extLst>
              <a:ext uri="{FF2B5EF4-FFF2-40B4-BE49-F238E27FC236}">
                <a16:creationId xmlns:a16="http://schemas.microsoft.com/office/drawing/2014/main" id="{E43C9A49-1933-4B52-AF0D-3E182543B87F}"/>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12643" name="WordArt 3">
            <a:extLst>
              <a:ext uri="{FF2B5EF4-FFF2-40B4-BE49-F238E27FC236}">
                <a16:creationId xmlns:a16="http://schemas.microsoft.com/office/drawing/2014/main" id="{F9B59FBE-503F-4CA5-82D5-77C3BBA4967D}"/>
              </a:ext>
            </a:extLst>
          </p:cNvPr>
          <p:cNvSpPr>
            <a:spLocks noChangeArrowheads="1" noChangeShapeType="1" noTextEdit="1"/>
          </p:cNvSpPr>
          <p:nvPr/>
        </p:nvSpPr>
        <p:spPr bwMode="auto">
          <a:xfrm>
            <a:off x="1371600" y="228600"/>
            <a:ext cx="6019800" cy="6096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3600" kern="10">
                <a:solidFill>
                  <a:srgbClr val="336699"/>
                </a:solidFill>
                <a:effectLst>
                  <a:outerShdw dist="45791" dir="2021404" algn="ctr" rotWithShape="0">
                    <a:srgbClr val="B2B2B2">
                      <a:alpha val="80000"/>
                    </a:srgbClr>
                  </a:outerShdw>
                </a:effectLst>
                <a:latin typeface="Times New Roman" panose="02020603050405020304" pitchFamily="18" charset="0"/>
                <a:cs typeface="Times New Roman" panose="02020603050405020304" pitchFamily="18" charset="0"/>
              </a:rPr>
              <a:t>The Comparable Interface</a:t>
            </a:r>
          </a:p>
        </p:txBody>
      </p:sp>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381000" y="1219200"/>
            <a:ext cx="83058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b="1"/>
              <a:t>Most all of the classes in Java that can be compared implement Comparable. </a:t>
            </a:r>
          </a:p>
        </p:txBody>
      </p:sp>
      <p:sp>
        <p:nvSpPr>
          <p:cNvPr id="112660" name="Text Box 20">
            <a:extLst>
              <a:ext uri="{FF2B5EF4-FFF2-40B4-BE49-F238E27FC236}">
                <a16:creationId xmlns:a16="http://schemas.microsoft.com/office/drawing/2014/main" id="{DAFF76BA-B2A3-4C86-8B55-C8FB5B814FBC}"/>
              </a:ext>
            </a:extLst>
          </p:cNvPr>
          <p:cNvSpPr txBox="1">
            <a:spLocks noChangeArrowheads="1"/>
          </p:cNvSpPr>
          <p:nvPr/>
        </p:nvSpPr>
        <p:spPr bwMode="auto">
          <a:xfrm>
            <a:off x="3505200" y="5486400"/>
            <a:ext cx="3581400" cy="43656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chemeClr val="accent2"/>
                </a:solidFill>
              </a:rPr>
              <a:t>Compare Booleans???????</a:t>
            </a:r>
            <a:endParaRPr lang="en-US" altLang="en-US"/>
          </a:p>
        </p:txBody>
      </p:sp>
      <p:grpSp>
        <p:nvGrpSpPr>
          <p:cNvPr id="2" name="Group 1" descr="The Comparable Interface is implemented by the String class as well as the Wrapper Classes: Integer, Long, Double, Float, Character, and Boolean (among others).">
            <a:extLst>
              <a:ext uri="{FF2B5EF4-FFF2-40B4-BE49-F238E27FC236}">
                <a16:creationId xmlns:a16="http://schemas.microsoft.com/office/drawing/2014/main" id="{695A8812-2DA8-82C5-648B-6B178BEBC4BC}"/>
              </a:ext>
            </a:extLst>
          </p:cNvPr>
          <p:cNvGrpSpPr/>
          <p:nvPr/>
        </p:nvGrpSpPr>
        <p:grpSpPr>
          <a:xfrm>
            <a:off x="304800" y="2438400"/>
            <a:ext cx="8382000" cy="2971800"/>
            <a:chOff x="304800" y="2438400"/>
            <a:chExt cx="8382000" cy="2971800"/>
          </a:xfrm>
        </p:grpSpPr>
        <p:sp>
          <p:nvSpPr>
            <p:cNvPr id="112644" name="Rectangle 4">
              <a:extLst>
                <a:ext uri="{FF2B5EF4-FFF2-40B4-BE49-F238E27FC236}">
                  <a16:creationId xmlns:a16="http://schemas.microsoft.com/office/drawing/2014/main" id="{83FDAEFF-6003-40D5-AAD8-C38365694DD0}"/>
                </a:ext>
              </a:extLst>
            </p:cNvPr>
            <p:cNvSpPr>
              <a:spLocks noChangeArrowheads="1"/>
            </p:cNvSpPr>
            <p:nvPr/>
          </p:nvSpPr>
          <p:spPr bwMode="auto">
            <a:xfrm>
              <a:off x="2819400" y="2438400"/>
              <a:ext cx="28194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Comparable</a:t>
              </a:r>
            </a:p>
          </p:txBody>
        </p:sp>
        <p:sp>
          <p:nvSpPr>
            <p:cNvPr id="112646" name="Line 6">
              <a:extLst>
                <a:ext uri="{FF2B5EF4-FFF2-40B4-BE49-F238E27FC236}">
                  <a16:creationId xmlns:a16="http://schemas.microsoft.com/office/drawing/2014/main" id="{718A3C60-E6AD-4A20-8947-CB178F2EA37A}"/>
                </a:ext>
              </a:extLst>
            </p:cNvPr>
            <p:cNvSpPr>
              <a:spLocks noChangeShapeType="1"/>
            </p:cNvSpPr>
            <p:nvPr/>
          </p:nvSpPr>
          <p:spPr bwMode="auto">
            <a:xfrm flipH="1">
              <a:off x="2057400" y="2971800"/>
              <a:ext cx="533400" cy="12954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647" name="Rectangle 7">
              <a:extLst>
                <a:ext uri="{FF2B5EF4-FFF2-40B4-BE49-F238E27FC236}">
                  <a16:creationId xmlns:a16="http://schemas.microsoft.com/office/drawing/2014/main" id="{3990BF91-6219-4A1F-862E-9315D791E2A6}"/>
                </a:ext>
              </a:extLst>
            </p:cNvPr>
            <p:cNvSpPr>
              <a:spLocks noChangeArrowheads="1"/>
            </p:cNvSpPr>
            <p:nvPr/>
          </p:nvSpPr>
          <p:spPr bwMode="auto">
            <a:xfrm>
              <a:off x="304800" y="2895600"/>
              <a:ext cx="18288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String</a:t>
              </a:r>
            </a:p>
          </p:txBody>
        </p:sp>
        <p:sp>
          <p:nvSpPr>
            <p:cNvPr id="112648" name="Rectangle 8">
              <a:extLst>
                <a:ext uri="{FF2B5EF4-FFF2-40B4-BE49-F238E27FC236}">
                  <a16:creationId xmlns:a16="http://schemas.microsoft.com/office/drawing/2014/main" id="{61E440FA-5452-4BF8-AF3D-50B0D253CDF3}"/>
                </a:ext>
              </a:extLst>
            </p:cNvPr>
            <p:cNvSpPr>
              <a:spLocks noChangeArrowheads="1"/>
            </p:cNvSpPr>
            <p:nvPr/>
          </p:nvSpPr>
          <p:spPr bwMode="auto">
            <a:xfrm>
              <a:off x="838200" y="4419600"/>
              <a:ext cx="23622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Integer</a:t>
              </a:r>
            </a:p>
          </p:txBody>
        </p:sp>
        <p:sp>
          <p:nvSpPr>
            <p:cNvPr id="112649" name="Line 9">
              <a:extLst>
                <a:ext uri="{FF2B5EF4-FFF2-40B4-BE49-F238E27FC236}">
                  <a16:creationId xmlns:a16="http://schemas.microsoft.com/office/drawing/2014/main" id="{2CF389A8-9120-4EBD-B506-9192AF2E3FE2}"/>
                </a:ext>
              </a:extLst>
            </p:cNvPr>
            <p:cNvSpPr>
              <a:spLocks noChangeShapeType="1"/>
            </p:cNvSpPr>
            <p:nvPr/>
          </p:nvSpPr>
          <p:spPr bwMode="auto">
            <a:xfrm>
              <a:off x="5562600" y="2819400"/>
              <a:ext cx="685800" cy="2286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650" name="Line 10">
              <a:extLst>
                <a:ext uri="{FF2B5EF4-FFF2-40B4-BE49-F238E27FC236}">
                  <a16:creationId xmlns:a16="http://schemas.microsoft.com/office/drawing/2014/main" id="{15A1A6BB-62FB-48EE-823A-B0DC5F5C5AB2}"/>
                </a:ext>
              </a:extLst>
            </p:cNvPr>
            <p:cNvSpPr>
              <a:spLocks noChangeShapeType="1"/>
            </p:cNvSpPr>
            <p:nvPr/>
          </p:nvSpPr>
          <p:spPr bwMode="auto">
            <a:xfrm>
              <a:off x="4038600" y="2971800"/>
              <a:ext cx="0" cy="17526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651" name="Rectangle 11">
              <a:extLst>
                <a:ext uri="{FF2B5EF4-FFF2-40B4-BE49-F238E27FC236}">
                  <a16:creationId xmlns:a16="http://schemas.microsoft.com/office/drawing/2014/main" id="{7A18076F-2C11-4F73-B7CE-1AF8885968A0}"/>
                </a:ext>
              </a:extLst>
            </p:cNvPr>
            <p:cNvSpPr>
              <a:spLocks noChangeArrowheads="1"/>
            </p:cNvSpPr>
            <p:nvPr/>
          </p:nvSpPr>
          <p:spPr bwMode="auto">
            <a:xfrm>
              <a:off x="4419600" y="3962400"/>
              <a:ext cx="17526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Double</a:t>
              </a:r>
            </a:p>
          </p:txBody>
        </p:sp>
        <p:sp>
          <p:nvSpPr>
            <p:cNvPr id="112652" name="Line 12">
              <a:extLst>
                <a:ext uri="{FF2B5EF4-FFF2-40B4-BE49-F238E27FC236}">
                  <a16:creationId xmlns:a16="http://schemas.microsoft.com/office/drawing/2014/main" id="{691A2795-5670-4A66-B024-114CAD63291D}"/>
                </a:ext>
              </a:extLst>
            </p:cNvPr>
            <p:cNvSpPr>
              <a:spLocks noChangeShapeType="1"/>
            </p:cNvSpPr>
            <p:nvPr/>
          </p:nvSpPr>
          <p:spPr bwMode="auto">
            <a:xfrm>
              <a:off x="2971800" y="2971800"/>
              <a:ext cx="0" cy="5334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653" name="Rectangle 13">
              <a:extLst>
                <a:ext uri="{FF2B5EF4-FFF2-40B4-BE49-F238E27FC236}">
                  <a16:creationId xmlns:a16="http://schemas.microsoft.com/office/drawing/2014/main" id="{EE3F263D-551E-4557-B303-DB004100F261}"/>
                </a:ext>
              </a:extLst>
            </p:cNvPr>
            <p:cNvSpPr>
              <a:spLocks noChangeArrowheads="1"/>
            </p:cNvSpPr>
            <p:nvPr/>
          </p:nvSpPr>
          <p:spPr bwMode="auto">
            <a:xfrm>
              <a:off x="6400800" y="3810000"/>
              <a:ext cx="15240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Float</a:t>
              </a:r>
            </a:p>
          </p:txBody>
        </p:sp>
        <p:sp>
          <p:nvSpPr>
            <p:cNvPr id="112654" name="Rectangle 14">
              <a:extLst>
                <a:ext uri="{FF2B5EF4-FFF2-40B4-BE49-F238E27FC236}">
                  <a16:creationId xmlns:a16="http://schemas.microsoft.com/office/drawing/2014/main" id="{0DF51385-1858-4D8E-B239-AF9C2F9BC3A2}"/>
                </a:ext>
              </a:extLst>
            </p:cNvPr>
            <p:cNvSpPr>
              <a:spLocks noChangeArrowheads="1"/>
            </p:cNvSpPr>
            <p:nvPr/>
          </p:nvSpPr>
          <p:spPr bwMode="auto">
            <a:xfrm>
              <a:off x="6324600" y="2819400"/>
              <a:ext cx="23622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Character</a:t>
              </a:r>
            </a:p>
          </p:txBody>
        </p:sp>
        <p:sp>
          <p:nvSpPr>
            <p:cNvPr id="112655" name="Line 15">
              <a:extLst>
                <a:ext uri="{FF2B5EF4-FFF2-40B4-BE49-F238E27FC236}">
                  <a16:creationId xmlns:a16="http://schemas.microsoft.com/office/drawing/2014/main" id="{BA4BA551-DD2C-4BAD-B512-2DD0F2AC2A84}"/>
                </a:ext>
              </a:extLst>
            </p:cNvPr>
            <p:cNvSpPr>
              <a:spLocks noChangeShapeType="1"/>
            </p:cNvSpPr>
            <p:nvPr/>
          </p:nvSpPr>
          <p:spPr bwMode="auto">
            <a:xfrm>
              <a:off x="4876800" y="2971800"/>
              <a:ext cx="0" cy="8382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656" name="Rectangle 16">
              <a:extLst>
                <a:ext uri="{FF2B5EF4-FFF2-40B4-BE49-F238E27FC236}">
                  <a16:creationId xmlns:a16="http://schemas.microsoft.com/office/drawing/2014/main" id="{538B9C11-DE03-4C28-BC4B-A1582499DC38}"/>
                </a:ext>
              </a:extLst>
            </p:cNvPr>
            <p:cNvSpPr>
              <a:spLocks noChangeArrowheads="1"/>
            </p:cNvSpPr>
            <p:nvPr/>
          </p:nvSpPr>
          <p:spPr bwMode="auto">
            <a:xfrm>
              <a:off x="2514600" y="3581400"/>
              <a:ext cx="12954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Long</a:t>
              </a:r>
            </a:p>
          </p:txBody>
        </p:sp>
        <p:sp>
          <p:nvSpPr>
            <p:cNvPr id="112657" name="Rectangle 17">
              <a:extLst>
                <a:ext uri="{FF2B5EF4-FFF2-40B4-BE49-F238E27FC236}">
                  <a16:creationId xmlns:a16="http://schemas.microsoft.com/office/drawing/2014/main" id="{CA5D40EE-1883-4B00-A8D7-E4DEAC0F3FAC}"/>
                </a:ext>
              </a:extLst>
            </p:cNvPr>
            <p:cNvSpPr>
              <a:spLocks noChangeArrowheads="1"/>
            </p:cNvSpPr>
            <p:nvPr/>
          </p:nvSpPr>
          <p:spPr bwMode="auto">
            <a:xfrm>
              <a:off x="3505200" y="4800600"/>
              <a:ext cx="23622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Boolean</a:t>
              </a:r>
            </a:p>
          </p:txBody>
        </p:sp>
        <p:sp>
          <p:nvSpPr>
            <p:cNvPr id="112658" name="Line 18">
              <a:extLst>
                <a:ext uri="{FF2B5EF4-FFF2-40B4-BE49-F238E27FC236}">
                  <a16:creationId xmlns:a16="http://schemas.microsoft.com/office/drawing/2014/main" id="{1DB81EC3-FA1C-4E7C-954E-69E1893F94DE}"/>
                </a:ext>
              </a:extLst>
            </p:cNvPr>
            <p:cNvSpPr>
              <a:spLocks noChangeShapeType="1"/>
            </p:cNvSpPr>
            <p:nvPr/>
          </p:nvSpPr>
          <p:spPr bwMode="auto">
            <a:xfrm>
              <a:off x="5334000" y="2971800"/>
              <a:ext cx="1066800" cy="8382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661" name="Line 21">
              <a:extLst>
                <a:ext uri="{FF2B5EF4-FFF2-40B4-BE49-F238E27FC236}">
                  <a16:creationId xmlns:a16="http://schemas.microsoft.com/office/drawing/2014/main" id="{A1AB242A-6439-4F8B-96BB-6ECB647E44F3}"/>
                </a:ext>
              </a:extLst>
            </p:cNvPr>
            <p:cNvSpPr>
              <a:spLocks noChangeShapeType="1"/>
            </p:cNvSpPr>
            <p:nvPr/>
          </p:nvSpPr>
          <p:spPr bwMode="auto">
            <a:xfrm flipH="1">
              <a:off x="2057400" y="2743200"/>
              <a:ext cx="838200" cy="2286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3" name="WordArt 3">
            <a:extLst>
              <a:ext uri="{FF2B5EF4-FFF2-40B4-BE49-F238E27FC236}">
                <a16:creationId xmlns:a16="http://schemas.microsoft.com/office/drawing/2014/main" id="{F9B59FBE-503F-4CA5-82D5-77C3BBA4967D}"/>
              </a:ext>
            </a:extLst>
          </p:cNvPr>
          <p:cNvSpPr>
            <a:spLocks noChangeArrowheads="1" noChangeShapeType="1" noTextEdit="1"/>
          </p:cNvSpPr>
          <p:nvPr/>
        </p:nvSpPr>
        <p:spPr bwMode="auto">
          <a:xfrm>
            <a:off x="1371600" y="228600"/>
            <a:ext cx="6019800" cy="6096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3600" kern="10">
                <a:solidFill>
                  <a:srgbClr val="336699"/>
                </a:solidFill>
                <a:effectLst>
                  <a:outerShdw dist="45791" dir="2021404" algn="ctr" rotWithShape="0">
                    <a:srgbClr val="B2B2B2">
                      <a:alpha val="80000"/>
                    </a:srgbClr>
                  </a:outerShdw>
                </a:effectLst>
                <a:latin typeface="Times New Roman" panose="02020603050405020304" pitchFamily="18" charset="0"/>
                <a:cs typeface="Times New Roman" panose="02020603050405020304" pitchFamily="18" charset="0"/>
              </a:rPr>
              <a:t>The Comparable Interface</a:t>
            </a:r>
          </a:p>
        </p:txBody>
      </p:sp>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323850" y="1600200"/>
            <a:ext cx="84963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fr-FR" sz="3200" b="1" dirty="0">
                <a:solidFill>
                  <a:srgbClr val="941EDF"/>
                </a:solidFill>
                <a:latin typeface="Consolas" panose="020B0609020204030204" pitchFamily="49" charset="0"/>
              </a:rPr>
              <a:t>public</a:t>
            </a:r>
            <a:r>
              <a:rPr lang="fr-FR" sz="3200" b="1" dirty="0">
                <a:solidFill>
                  <a:srgbClr val="000000"/>
                </a:solidFill>
                <a:latin typeface="Consolas" panose="020B0609020204030204" pitchFamily="49" charset="0"/>
              </a:rPr>
              <a:t> </a:t>
            </a:r>
            <a:r>
              <a:rPr lang="fr-FR" sz="3200" b="1" dirty="0">
                <a:solidFill>
                  <a:srgbClr val="941EDF"/>
                </a:solidFill>
                <a:latin typeface="Consolas" panose="020B0609020204030204" pitchFamily="49" charset="0"/>
              </a:rPr>
              <a:t>interface</a:t>
            </a:r>
            <a:r>
              <a:rPr lang="fr-FR" sz="3200" b="1" dirty="0">
                <a:solidFill>
                  <a:srgbClr val="000000"/>
                </a:solidFill>
                <a:latin typeface="Consolas" panose="020B0609020204030204" pitchFamily="49" charset="0"/>
              </a:rPr>
              <a:t> Comparable&lt;T&gt; </a:t>
            </a:r>
          </a:p>
          <a:p>
            <a:pPr>
              <a:spcBef>
                <a:spcPts val="0"/>
              </a:spcBef>
            </a:pPr>
            <a:r>
              <a:rPr lang="fr-FR" sz="3200" b="1" dirty="0">
                <a:solidFill>
                  <a:srgbClr val="000000"/>
                </a:solidFill>
                <a:latin typeface="Consolas" panose="020B0609020204030204" pitchFamily="49" charset="0"/>
              </a:rPr>
              <a:t>{</a:t>
            </a:r>
            <a:br>
              <a:rPr lang="fr-FR" sz="3200" b="1" dirty="0">
                <a:solidFill>
                  <a:srgbClr val="000000"/>
                </a:solidFill>
                <a:latin typeface="Consolas" panose="020B0609020204030204" pitchFamily="49" charset="0"/>
              </a:rPr>
            </a:br>
            <a:br>
              <a:rPr lang="fr-FR" sz="3200" b="1" dirty="0">
                <a:solidFill>
                  <a:srgbClr val="000000"/>
                </a:solidFill>
                <a:latin typeface="Consolas" panose="020B0609020204030204" pitchFamily="49" charset="0"/>
              </a:rPr>
            </a:br>
            <a:r>
              <a:rPr lang="fr-FR" sz="3200" b="1" dirty="0">
                <a:solidFill>
                  <a:srgbClr val="000000"/>
                </a:solidFill>
                <a:latin typeface="Consolas" panose="020B0609020204030204" pitchFamily="49" charset="0"/>
              </a:rPr>
              <a:t>  </a:t>
            </a:r>
            <a:r>
              <a:rPr lang="fr-FR" sz="3200" b="1" dirty="0">
                <a:solidFill>
                  <a:srgbClr val="941EDF"/>
                </a:solidFill>
                <a:latin typeface="Consolas" panose="020B0609020204030204" pitchFamily="49" charset="0"/>
              </a:rPr>
              <a:t>public</a:t>
            </a:r>
            <a:r>
              <a:rPr lang="fr-FR" sz="3200" b="1" dirty="0">
                <a:solidFill>
                  <a:srgbClr val="000000"/>
                </a:solidFill>
                <a:latin typeface="Consolas" panose="020B0609020204030204" pitchFamily="49" charset="0"/>
              </a:rPr>
              <a:t> </a:t>
            </a:r>
            <a:r>
              <a:rPr lang="fr-FR" sz="3200" b="1" dirty="0">
                <a:solidFill>
                  <a:srgbClr val="941EDF"/>
                </a:solidFill>
                <a:latin typeface="Consolas" panose="020B0609020204030204" pitchFamily="49" charset="0"/>
              </a:rPr>
              <a:t>abstract</a:t>
            </a:r>
            <a:r>
              <a:rPr lang="fr-FR" sz="3200" b="1" dirty="0">
                <a:solidFill>
                  <a:srgbClr val="000000"/>
                </a:solidFill>
                <a:latin typeface="Consolas" panose="020B0609020204030204" pitchFamily="49" charset="0"/>
              </a:rPr>
              <a:t> </a:t>
            </a:r>
            <a:r>
              <a:rPr lang="fr-FR" sz="3200" b="1" dirty="0" err="1">
                <a:solidFill>
                  <a:srgbClr val="941EDF"/>
                </a:solidFill>
                <a:latin typeface="Consolas" panose="020B0609020204030204" pitchFamily="49" charset="0"/>
              </a:rPr>
              <a:t>int</a:t>
            </a:r>
            <a:r>
              <a:rPr lang="fr-FR" sz="3200" b="1" dirty="0">
                <a:solidFill>
                  <a:srgbClr val="000000"/>
                </a:solidFill>
                <a:latin typeface="Consolas" panose="020B0609020204030204" pitchFamily="49" charset="0"/>
              </a:rPr>
              <a:t> </a:t>
            </a:r>
            <a:r>
              <a:rPr lang="fr-FR" sz="3200" b="1" dirty="0" err="1">
                <a:solidFill>
                  <a:srgbClr val="000000"/>
                </a:solidFill>
                <a:latin typeface="Consolas" panose="020B0609020204030204" pitchFamily="49" charset="0"/>
              </a:rPr>
              <a:t>compareTo</a:t>
            </a:r>
            <a:r>
              <a:rPr lang="fr-FR" sz="3200" b="1" dirty="0">
                <a:solidFill>
                  <a:srgbClr val="000000"/>
                </a:solidFill>
                <a:latin typeface="Consolas" panose="020B0609020204030204" pitchFamily="49" charset="0"/>
              </a:rPr>
              <a:t>(T o);</a:t>
            </a:r>
            <a:br>
              <a:rPr lang="fr-FR" sz="3200" b="1" dirty="0">
                <a:solidFill>
                  <a:srgbClr val="000000"/>
                </a:solidFill>
                <a:latin typeface="Consolas" panose="020B0609020204030204" pitchFamily="49" charset="0"/>
              </a:rPr>
            </a:br>
            <a:r>
              <a:rPr lang="fr-FR" sz="3200" b="1" dirty="0">
                <a:solidFill>
                  <a:srgbClr val="000000"/>
                </a:solidFill>
                <a:latin typeface="Consolas" panose="020B0609020204030204" pitchFamily="49" charset="0"/>
              </a:rPr>
              <a:t>}</a:t>
            </a:r>
            <a:endParaRPr lang="en-US" altLang="en-US" sz="4800" b="1" dirty="0">
              <a:latin typeface="Consolas" panose="020B0609020204030204" pitchFamily="49" charset="0"/>
            </a:endParaRPr>
          </a:p>
        </p:txBody>
      </p:sp>
    </p:spTree>
    <p:extLst>
      <p:ext uri="{BB962C8B-B14F-4D97-AF65-F5344CB8AC3E}">
        <p14:creationId xmlns:p14="http://schemas.microsoft.com/office/powerpoint/2010/main" val="8224041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457200" y="2133600"/>
            <a:ext cx="84963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800" b="1" dirty="0">
                <a:solidFill>
                  <a:srgbClr val="941EDF"/>
                </a:solidFill>
                <a:latin typeface="Courier New" panose="02070309020205020404" pitchFamily="49" charset="0"/>
              </a:rPr>
              <a:t>public</a:t>
            </a:r>
            <a:r>
              <a:rPr lang="en-US" sz="2800" b="1" dirty="0">
                <a:solidFill>
                  <a:srgbClr val="000000"/>
                </a:solidFill>
                <a:latin typeface="Courier New" panose="02070309020205020404" pitchFamily="49" charset="0"/>
              </a:rPr>
              <a:t> </a:t>
            </a:r>
            <a:r>
              <a:rPr lang="en-US" sz="2800" b="1" dirty="0">
                <a:solidFill>
                  <a:srgbClr val="941EDF"/>
                </a:solidFill>
                <a:latin typeface="Courier New" panose="02070309020205020404" pitchFamily="49" charset="0"/>
              </a:rPr>
              <a:t>int</a:t>
            </a:r>
            <a:r>
              <a:rPr lang="en-US" sz="2800" b="1" dirty="0">
                <a:solidFill>
                  <a:srgbClr val="000000"/>
                </a:solidFill>
                <a:latin typeface="Courier New" panose="02070309020205020404" pitchFamily="49" charset="0"/>
              </a:rPr>
              <a:t> </a:t>
            </a:r>
            <a:r>
              <a:rPr lang="en-US" sz="2800" b="1" dirty="0" err="1">
                <a:solidFill>
                  <a:srgbClr val="000000"/>
                </a:solidFill>
                <a:latin typeface="Courier New" panose="02070309020205020404" pitchFamily="49" charset="0"/>
              </a:rPr>
              <a:t>compareTo</a:t>
            </a:r>
            <a:r>
              <a:rPr lang="en-US" sz="2800" b="1" dirty="0">
                <a:solidFill>
                  <a:srgbClr val="000000"/>
                </a:solidFill>
                <a:latin typeface="Courier New" panose="02070309020205020404" pitchFamily="49" charset="0"/>
              </a:rPr>
              <a:t>(Character other) </a:t>
            </a:r>
          </a:p>
          <a:p>
            <a:pPr>
              <a:spcBef>
                <a:spcPct val="50000"/>
              </a:spcBef>
            </a:pPr>
            <a:r>
              <a:rPr lang="en-US" sz="2800" b="1" dirty="0">
                <a:solidFill>
                  <a:srgbClr val="000000"/>
                </a:solidFill>
                <a:latin typeface="Courier New" panose="02070309020205020404" pitchFamily="49" charset="0"/>
              </a:rPr>
              <a:t>{</a:t>
            </a:r>
            <a:br>
              <a:rPr lang="en-US" sz="2800" b="1" dirty="0">
                <a:solidFill>
                  <a:srgbClr val="000000"/>
                </a:solidFill>
                <a:latin typeface="Courier New" panose="02070309020205020404" pitchFamily="49" charset="0"/>
              </a:rPr>
            </a:br>
            <a:r>
              <a:rPr lang="en-US" sz="2800" b="1" dirty="0">
                <a:solidFill>
                  <a:srgbClr val="000000"/>
                </a:solidFill>
                <a:latin typeface="Courier New" panose="02070309020205020404" pitchFamily="49" charset="0"/>
              </a:rPr>
              <a:t>   </a:t>
            </a:r>
            <a:r>
              <a:rPr lang="en-US" sz="2800" b="1" dirty="0">
                <a:solidFill>
                  <a:srgbClr val="941EDF"/>
                </a:solidFill>
                <a:latin typeface="Courier New" panose="02070309020205020404" pitchFamily="49" charset="0"/>
              </a:rPr>
              <a:t>return</a:t>
            </a:r>
            <a:r>
              <a:rPr lang="en-US" sz="2800" b="1" dirty="0">
                <a:solidFill>
                  <a:srgbClr val="000000"/>
                </a:solidFill>
                <a:latin typeface="Courier New" panose="02070309020205020404" pitchFamily="49" charset="0"/>
              </a:rPr>
              <a:t> </a:t>
            </a:r>
            <a:r>
              <a:rPr lang="en-US" sz="2800" b="1" dirty="0" err="1">
                <a:solidFill>
                  <a:srgbClr val="941EDF"/>
                </a:solidFill>
                <a:latin typeface="Courier New" panose="02070309020205020404" pitchFamily="49" charset="0"/>
              </a:rPr>
              <a:t>this</a:t>
            </a:r>
            <a:r>
              <a:rPr lang="en-US" sz="2800" b="1" dirty="0" err="1">
                <a:solidFill>
                  <a:srgbClr val="000000"/>
                </a:solidFill>
                <a:latin typeface="Courier New" panose="02070309020205020404" pitchFamily="49" charset="0"/>
              </a:rPr>
              <a:t>.value</a:t>
            </a:r>
            <a:r>
              <a:rPr lang="en-US" sz="2800" b="1" dirty="0">
                <a:solidFill>
                  <a:srgbClr val="000000"/>
                </a:solidFill>
                <a:latin typeface="Courier New" panose="02070309020205020404" pitchFamily="49" charset="0"/>
              </a:rPr>
              <a:t> - </a:t>
            </a:r>
            <a:r>
              <a:rPr lang="en-US" sz="2800" b="1" dirty="0" err="1">
                <a:solidFill>
                  <a:srgbClr val="000000"/>
                </a:solidFill>
                <a:latin typeface="Courier New" panose="02070309020205020404" pitchFamily="49" charset="0"/>
              </a:rPr>
              <a:t>other.value</a:t>
            </a:r>
            <a:r>
              <a:rPr lang="en-US" sz="2800" b="1" dirty="0">
                <a:solidFill>
                  <a:srgbClr val="000000"/>
                </a:solidFill>
                <a:latin typeface="Courier New" panose="02070309020205020404" pitchFamily="49" charset="0"/>
              </a:rPr>
              <a:t>;</a:t>
            </a:r>
            <a:br>
              <a:rPr lang="en-US" sz="2800" b="1" dirty="0">
                <a:solidFill>
                  <a:srgbClr val="000000"/>
                </a:solidFill>
                <a:latin typeface="Courier New" panose="02070309020205020404" pitchFamily="49" charset="0"/>
              </a:rPr>
            </a:br>
            <a:r>
              <a:rPr lang="en-US" sz="2800" b="1" dirty="0">
                <a:solidFill>
                  <a:srgbClr val="000000"/>
                </a:solidFill>
                <a:latin typeface="Courier New" panose="02070309020205020404" pitchFamily="49" charset="0"/>
              </a:rPr>
              <a:t>}</a:t>
            </a:r>
            <a:endParaRPr lang="en-US" altLang="en-US" sz="2800" b="1" dirty="0">
              <a:latin typeface="Consolas" panose="020B0609020204030204" pitchFamily="49" charset="0"/>
            </a:endParaRPr>
          </a:p>
        </p:txBody>
      </p:sp>
      <p:sp>
        <p:nvSpPr>
          <p:cNvPr id="2" name="TextBox 1">
            <a:extLst>
              <a:ext uri="{FF2B5EF4-FFF2-40B4-BE49-F238E27FC236}">
                <a16:creationId xmlns:a16="http://schemas.microsoft.com/office/drawing/2014/main" id="{417B5989-8C90-CB5D-D201-35531C5158DE}"/>
              </a:ext>
            </a:extLst>
          </p:cNvPr>
          <p:cNvSpPr txBox="1"/>
          <p:nvPr/>
        </p:nvSpPr>
        <p:spPr>
          <a:xfrm>
            <a:off x="228600" y="381000"/>
            <a:ext cx="8132354" cy="1446550"/>
          </a:xfrm>
          <a:prstGeom prst="rect">
            <a:avLst/>
          </a:prstGeom>
          <a:noFill/>
        </p:spPr>
        <p:txBody>
          <a:bodyPr wrap="none" rtlCol="0">
            <a:spAutoFit/>
          </a:bodyPr>
          <a:lstStyle/>
          <a:p>
            <a:r>
              <a:rPr lang="en-US" sz="2800" dirty="0">
                <a:solidFill>
                  <a:srgbClr val="0000FF"/>
                </a:solidFill>
                <a:latin typeface="Courier New" panose="02070309020205020404" pitchFamily="49" charset="0"/>
              </a:rPr>
              <a:t>class</a:t>
            </a:r>
            <a:r>
              <a:rPr lang="en-US" sz="2800" b="1" dirty="0">
                <a:solidFill>
                  <a:srgbClr val="0000FF"/>
                </a:solidFill>
                <a:latin typeface="Courier New" panose="02070309020205020404" pitchFamily="49" charset="0"/>
              </a:rPr>
              <a:t> Character </a:t>
            </a:r>
            <a:r>
              <a:rPr lang="en-US" sz="2800" dirty="0">
                <a:solidFill>
                  <a:srgbClr val="0000FF"/>
                </a:solidFill>
                <a:latin typeface="Courier New" panose="02070309020205020404" pitchFamily="49" charset="0"/>
              </a:rPr>
              <a:t>implements</a:t>
            </a:r>
            <a:r>
              <a:rPr lang="en-US" sz="2800" b="1" dirty="0">
                <a:solidFill>
                  <a:srgbClr val="0000FF"/>
                </a:solidFill>
                <a:latin typeface="Courier New" panose="02070309020205020404" pitchFamily="49" charset="0"/>
              </a:rPr>
              <a:t> </a:t>
            </a:r>
          </a:p>
          <a:p>
            <a:r>
              <a:rPr lang="en-US" sz="2800" b="1" dirty="0">
                <a:solidFill>
                  <a:srgbClr val="0000FF"/>
                </a:solidFill>
                <a:latin typeface="Courier New" panose="02070309020205020404" pitchFamily="49" charset="0"/>
              </a:rPr>
              <a:t>                Comparable&lt;Character&gt;</a:t>
            </a:r>
            <a:br>
              <a:rPr lang="en-US" sz="2800" b="1" dirty="0">
                <a:solidFill>
                  <a:srgbClr val="0000FF"/>
                </a:solidFill>
                <a:latin typeface="Courier New" panose="02070309020205020404" pitchFamily="49" charset="0"/>
              </a:rPr>
            </a:br>
            <a:endParaRPr lang="en-US" sz="3200" b="1" dirty="0">
              <a:solidFill>
                <a:srgbClr val="0000FF"/>
              </a:solidFill>
            </a:endParaRPr>
          </a:p>
        </p:txBody>
      </p:sp>
    </p:spTree>
    <p:extLst>
      <p:ext uri="{BB962C8B-B14F-4D97-AF65-F5344CB8AC3E}">
        <p14:creationId xmlns:p14="http://schemas.microsoft.com/office/powerpoint/2010/main" val="14915947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WordArt 2">
            <a:extLst>
              <a:ext uri="{FF2B5EF4-FFF2-40B4-BE49-F238E27FC236}">
                <a16:creationId xmlns:a16="http://schemas.microsoft.com/office/drawing/2014/main" id="{CD2651C1-DAF3-49B0-9BD3-9098A1070D71}"/>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226307" name="Text Box 3">
            <a:extLst>
              <a:ext uri="{FF2B5EF4-FFF2-40B4-BE49-F238E27FC236}">
                <a16:creationId xmlns:a16="http://schemas.microsoft.com/office/drawing/2014/main" id="{31BC39DC-E307-4B18-BADF-63F6D38D5286}"/>
              </a:ext>
            </a:extLst>
          </p:cNvPr>
          <p:cNvSpPr txBox="1">
            <a:spLocks noChangeArrowheads="1"/>
          </p:cNvSpPr>
          <p:nvPr/>
        </p:nvSpPr>
        <p:spPr bwMode="auto">
          <a:xfrm>
            <a:off x="838200" y="1828800"/>
            <a:ext cx="6986588"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dirty="0">
                <a:latin typeface="Arial" panose="020B0604020202020204" pitchFamily="34" charset="0"/>
              </a:rPr>
              <a:t>Comparable x = "and";</a:t>
            </a:r>
          </a:p>
          <a:p>
            <a:pPr eaLnBrk="0" hangingPunct="0"/>
            <a:r>
              <a:rPr lang="en-US" altLang="en-US" sz="4000" b="1" dirty="0">
                <a:latin typeface="Arial" panose="020B0604020202020204" pitchFamily="34" charset="0"/>
              </a:rPr>
              <a:t>Comparable y = "art";</a:t>
            </a:r>
          </a:p>
          <a:p>
            <a:pPr eaLnBrk="0" hangingPunct="0"/>
            <a:endParaRPr lang="en-US" altLang="en-US" sz="4000" b="1" dirty="0">
              <a:latin typeface="Arial" panose="020B0604020202020204" pitchFamily="34" charset="0"/>
            </a:endParaRPr>
          </a:p>
          <a:p>
            <a:pPr eaLnBrk="0" hangingPunct="0"/>
            <a:r>
              <a:rPr lang="en-US" altLang="en-US" sz="4000" b="1" dirty="0" err="1">
                <a:latin typeface="Arial" panose="020B0604020202020204" pitchFamily="34" charset="0"/>
              </a:rPr>
              <a:t>out.println</a:t>
            </a:r>
            <a:r>
              <a:rPr lang="en-US" altLang="en-US" sz="4000" b="1" dirty="0">
                <a:latin typeface="Arial" panose="020B0604020202020204" pitchFamily="34" charset="0"/>
              </a:rPr>
              <a:t>(</a:t>
            </a:r>
            <a:r>
              <a:rPr lang="en-US" altLang="en-US" sz="4000" b="1" dirty="0" err="1">
                <a:latin typeface="Arial" panose="020B0604020202020204" pitchFamily="34" charset="0"/>
              </a:rPr>
              <a:t>x.compareTo</a:t>
            </a:r>
            <a:r>
              <a:rPr lang="en-US" altLang="en-US" sz="4000" b="1" dirty="0">
                <a:latin typeface="Arial" panose="020B0604020202020204" pitchFamily="34" charset="0"/>
              </a:rPr>
              <a:t>(y));</a:t>
            </a:r>
          </a:p>
          <a:p>
            <a:pPr eaLnBrk="0" hangingPunct="0"/>
            <a:endParaRPr lang="en-US" altLang="en-US" sz="4000" b="1" dirty="0">
              <a:latin typeface="Arial" panose="020B0604020202020204" pitchFamily="34" charset="0"/>
            </a:endParaRPr>
          </a:p>
          <a:p>
            <a:pPr eaLnBrk="0" hangingPunct="0"/>
            <a:endParaRPr lang="en-US" altLang="en-US" sz="4000" b="1" dirty="0">
              <a:latin typeface="Arial" panose="020B0604020202020204" pitchFamily="34" charset="0"/>
            </a:endParaRPr>
          </a:p>
        </p:txBody>
      </p:sp>
      <p:sp>
        <p:nvSpPr>
          <p:cNvPr id="226308" name="Text Box 4">
            <a:extLst>
              <a:ext uri="{FF2B5EF4-FFF2-40B4-BE49-F238E27FC236}">
                <a16:creationId xmlns:a16="http://schemas.microsoft.com/office/drawing/2014/main" id="{06349024-ED1B-4D43-B46A-220C3EC18E77}"/>
              </a:ext>
            </a:extLst>
          </p:cNvPr>
          <p:cNvSpPr txBox="1">
            <a:spLocks noChangeArrowheads="1"/>
          </p:cNvSpPr>
          <p:nvPr/>
        </p:nvSpPr>
        <p:spPr bwMode="auto">
          <a:xfrm>
            <a:off x="6629400" y="4876800"/>
            <a:ext cx="19050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3200" b="1" u="sng" dirty="0">
                <a:solidFill>
                  <a:srgbClr val="FF0000"/>
                </a:solidFill>
              </a:rPr>
              <a:t>OUTPUT</a:t>
            </a:r>
          </a:p>
          <a:p>
            <a:pPr algn="ctr" eaLnBrk="0" hangingPunct="0">
              <a:spcBef>
                <a:spcPct val="50000"/>
              </a:spcBef>
            </a:pPr>
            <a:r>
              <a:rPr lang="en-US" altLang="en-US" sz="3200" b="1" dirty="0"/>
              <a:t>-4</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WordArt 2">
            <a:extLst>
              <a:ext uri="{FF2B5EF4-FFF2-40B4-BE49-F238E27FC236}">
                <a16:creationId xmlns:a16="http://schemas.microsoft.com/office/drawing/2014/main" id="{CD2651C1-DAF3-49B0-9BD3-9098A1070D71}"/>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226307" name="Text Box 3">
            <a:extLst>
              <a:ext uri="{FF2B5EF4-FFF2-40B4-BE49-F238E27FC236}">
                <a16:creationId xmlns:a16="http://schemas.microsoft.com/office/drawing/2014/main" id="{31BC39DC-E307-4B18-BADF-63F6D38D5286}"/>
              </a:ext>
            </a:extLst>
          </p:cNvPr>
          <p:cNvSpPr txBox="1">
            <a:spLocks noChangeArrowheads="1"/>
          </p:cNvSpPr>
          <p:nvPr/>
        </p:nvSpPr>
        <p:spPr bwMode="auto">
          <a:xfrm>
            <a:off x="838200" y="1828800"/>
            <a:ext cx="6986588"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dirty="0">
                <a:latin typeface="Arial" panose="020B0604020202020204" pitchFamily="34" charset="0"/>
              </a:rPr>
              <a:t>Comparable x = "ants";</a:t>
            </a:r>
          </a:p>
          <a:p>
            <a:pPr eaLnBrk="0" hangingPunct="0"/>
            <a:r>
              <a:rPr lang="en-US" altLang="en-US" sz="4000" b="1" dirty="0">
                <a:latin typeface="Arial" panose="020B0604020202020204" pitchFamily="34" charset="0"/>
              </a:rPr>
              <a:t>Comparable y = "an";</a:t>
            </a:r>
          </a:p>
          <a:p>
            <a:pPr eaLnBrk="0" hangingPunct="0"/>
            <a:endParaRPr lang="en-US" altLang="en-US" sz="4000" b="1" dirty="0">
              <a:latin typeface="Arial" panose="020B0604020202020204" pitchFamily="34" charset="0"/>
            </a:endParaRPr>
          </a:p>
          <a:p>
            <a:pPr eaLnBrk="0" hangingPunct="0"/>
            <a:r>
              <a:rPr lang="en-US" altLang="en-US" sz="4000" b="1" dirty="0" err="1">
                <a:latin typeface="Arial" panose="020B0604020202020204" pitchFamily="34" charset="0"/>
              </a:rPr>
              <a:t>out.println</a:t>
            </a:r>
            <a:r>
              <a:rPr lang="en-US" altLang="en-US" sz="4000" b="1" dirty="0">
                <a:latin typeface="Arial" panose="020B0604020202020204" pitchFamily="34" charset="0"/>
              </a:rPr>
              <a:t>(</a:t>
            </a:r>
            <a:r>
              <a:rPr lang="en-US" altLang="en-US" sz="4000" b="1" dirty="0" err="1">
                <a:latin typeface="Arial" panose="020B0604020202020204" pitchFamily="34" charset="0"/>
              </a:rPr>
              <a:t>x.compareTo</a:t>
            </a:r>
            <a:r>
              <a:rPr lang="en-US" altLang="en-US" sz="4000" b="1" dirty="0">
                <a:latin typeface="Arial" panose="020B0604020202020204" pitchFamily="34" charset="0"/>
              </a:rPr>
              <a:t>(y));</a:t>
            </a:r>
          </a:p>
          <a:p>
            <a:pPr eaLnBrk="0" hangingPunct="0"/>
            <a:endParaRPr lang="en-US" altLang="en-US" sz="4000" b="1" dirty="0">
              <a:latin typeface="Arial" panose="020B0604020202020204" pitchFamily="34" charset="0"/>
            </a:endParaRPr>
          </a:p>
          <a:p>
            <a:pPr eaLnBrk="0" hangingPunct="0"/>
            <a:endParaRPr lang="en-US" altLang="en-US" sz="4000" b="1" dirty="0">
              <a:latin typeface="Arial" panose="020B0604020202020204" pitchFamily="34" charset="0"/>
            </a:endParaRPr>
          </a:p>
        </p:txBody>
      </p:sp>
      <p:sp>
        <p:nvSpPr>
          <p:cNvPr id="226308" name="Text Box 4">
            <a:extLst>
              <a:ext uri="{FF2B5EF4-FFF2-40B4-BE49-F238E27FC236}">
                <a16:creationId xmlns:a16="http://schemas.microsoft.com/office/drawing/2014/main" id="{06349024-ED1B-4D43-B46A-220C3EC18E77}"/>
              </a:ext>
            </a:extLst>
          </p:cNvPr>
          <p:cNvSpPr txBox="1">
            <a:spLocks noChangeArrowheads="1"/>
          </p:cNvSpPr>
          <p:nvPr/>
        </p:nvSpPr>
        <p:spPr bwMode="auto">
          <a:xfrm>
            <a:off x="6629400" y="4876800"/>
            <a:ext cx="19050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3200" b="1" u="sng" dirty="0">
                <a:solidFill>
                  <a:srgbClr val="FF0000"/>
                </a:solidFill>
              </a:rPr>
              <a:t>OUTPUT</a:t>
            </a:r>
          </a:p>
          <a:p>
            <a:pPr algn="ctr" eaLnBrk="0" hangingPunct="0">
              <a:spcBef>
                <a:spcPct val="50000"/>
              </a:spcBef>
            </a:pPr>
            <a:r>
              <a:rPr lang="en-US" altLang="en-US" sz="3200" b="1" dirty="0"/>
              <a:t>2</a:t>
            </a:r>
          </a:p>
        </p:txBody>
      </p:sp>
    </p:spTree>
    <p:extLst>
      <p:ext uri="{BB962C8B-B14F-4D97-AF65-F5344CB8AC3E}">
        <p14:creationId xmlns:p14="http://schemas.microsoft.com/office/powerpoint/2010/main" val="6368892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208252" y="1425000"/>
            <a:ext cx="6116347"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sz="1600" b="1" dirty="0">
                <a:solidFill>
                  <a:srgbClr val="941EDF"/>
                </a:solidFill>
                <a:latin typeface="Courier New" panose="02070309020205020404" pitchFamily="49" charset="0"/>
              </a:rPr>
              <a:t>public</a:t>
            </a: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a:t>
            </a:r>
            <a:r>
              <a:rPr lang="en-US" sz="1600" b="1" dirty="0" err="1">
                <a:solidFill>
                  <a:srgbClr val="000000"/>
                </a:solidFill>
                <a:latin typeface="Courier New" panose="02070309020205020404" pitchFamily="49" charset="0"/>
              </a:rPr>
              <a:t>compareTo</a:t>
            </a:r>
            <a:r>
              <a:rPr lang="en-US" sz="1600" b="1" dirty="0">
                <a:solidFill>
                  <a:srgbClr val="000000"/>
                </a:solidFill>
                <a:latin typeface="Courier New" panose="02070309020205020404" pitchFamily="49" charset="0"/>
              </a:rPr>
              <a:t>(String </a:t>
            </a:r>
            <a:r>
              <a:rPr lang="en-US" sz="1600" b="1" dirty="0" err="1">
                <a:solidFill>
                  <a:srgbClr val="000000"/>
                </a:solidFill>
                <a:latin typeface="Courier New" panose="02070309020205020404" pitchFamily="49" charset="0"/>
              </a:rPr>
              <a:t>anotherString</a:t>
            </a:r>
            <a:r>
              <a:rPr lang="en-US" sz="1600" b="1" dirty="0">
                <a:solidFill>
                  <a:srgbClr val="000000"/>
                </a:solidFill>
                <a:latin typeface="Courier New" panose="02070309020205020404" pitchFamily="49" charset="0"/>
              </a:rPr>
              <a:t>) </a:t>
            </a:r>
          </a:p>
          <a:p>
            <a:pPr>
              <a:spcBef>
                <a:spcPts val="0"/>
              </a:spcBef>
            </a:pPr>
            <a:r>
              <a:rPr lang="en-US" sz="1600" b="1" dirty="0">
                <a:solidFill>
                  <a:srgbClr val="000000"/>
                </a:solidFill>
                <a:latin typeface="Courier New" panose="02070309020205020404" pitchFamily="49" charset="0"/>
              </a:rPr>
              <a: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len1 = count;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len2 = </a:t>
            </a:r>
            <a:r>
              <a:rPr lang="en-US" sz="1600" b="1" dirty="0" err="1">
                <a:solidFill>
                  <a:srgbClr val="000000"/>
                </a:solidFill>
                <a:latin typeface="Courier New" panose="02070309020205020404" pitchFamily="49" charset="0"/>
              </a:rPr>
              <a:t>anotherString.count</a:t>
            </a:r>
            <a:r>
              <a:rPr lang="en-US" sz="1600" b="1" dirty="0">
                <a:solidFill>
                  <a:srgbClr val="000000"/>
                </a:solidFill>
                <a:latin typeface="Courier New" panose="02070309020205020404" pitchFamily="49" charset="0"/>
              </a:rPr>
              <a: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n = </a:t>
            </a:r>
            <a:r>
              <a:rPr lang="en-US" sz="1600" b="1" dirty="0" err="1">
                <a:solidFill>
                  <a:srgbClr val="000000"/>
                </a:solidFill>
                <a:latin typeface="Courier New" panose="02070309020205020404" pitchFamily="49" charset="0"/>
              </a:rPr>
              <a:t>Math.min</a:t>
            </a:r>
            <a:r>
              <a:rPr lang="en-US" sz="1600" b="1" dirty="0">
                <a:solidFill>
                  <a:srgbClr val="000000"/>
                </a:solidFill>
                <a:latin typeface="Courier New" panose="02070309020205020404" pitchFamily="49" charset="0"/>
              </a:rPr>
              <a:t>(len1, len2);</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char</a:t>
            </a:r>
            <a:r>
              <a:rPr lang="en-US" sz="1600" b="1" dirty="0">
                <a:solidFill>
                  <a:srgbClr val="000000"/>
                </a:solidFill>
                <a:latin typeface="Courier New" panose="02070309020205020404" pitchFamily="49" charset="0"/>
              </a:rPr>
              <a:t> v1[] = value;</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char</a:t>
            </a:r>
            <a:r>
              <a:rPr lang="en-US" sz="1600" b="1" dirty="0">
                <a:solidFill>
                  <a:srgbClr val="000000"/>
                </a:solidFill>
                <a:latin typeface="Courier New" panose="02070309020205020404" pitchFamily="49" charset="0"/>
              </a:rPr>
              <a:t> v2[] = </a:t>
            </a:r>
            <a:r>
              <a:rPr lang="en-US" sz="1600" b="1" dirty="0" err="1">
                <a:solidFill>
                  <a:srgbClr val="000000"/>
                </a:solidFill>
                <a:latin typeface="Courier New" panose="02070309020205020404" pitchFamily="49" charset="0"/>
              </a:rPr>
              <a:t>anotherString.value</a:t>
            </a:r>
            <a:r>
              <a:rPr lang="en-US" sz="1600" b="1" dirty="0">
                <a:solidFill>
                  <a:srgbClr val="000000"/>
                </a:solidFill>
                <a:latin typeface="Courier New" panose="02070309020205020404" pitchFamily="49" charset="0"/>
              </a:rPr>
              <a: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i = offset;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j = </a:t>
            </a:r>
            <a:r>
              <a:rPr lang="en-US" sz="1600" b="1" dirty="0" err="1">
                <a:solidFill>
                  <a:srgbClr val="000000"/>
                </a:solidFill>
                <a:latin typeface="Courier New" panose="02070309020205020404" pitchFamily="49" charset="0"/>
              </a:rPr>
              <a:t>anotherString.offset</a:t>
            </a:r>
            <a:r>
              <a:rPr lang="en-US" sz="1600" b="1" dirty="0">
                <a:solidFill>
                  <a:srgbClr val="000000"/>
                </a:solidFill>
                <a:latin typeface="Courier New" panose="02070309020205020404" pitchFamily="49" charset="0"/>
              </a:rPr>
              <a: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highlight>
                  <a:srgbClr val="FFFF00"/>
                </a:highlight>
                <a:latin typeface="Courier New" panose="02070309020205020404" pitchFamily="49" charset="0"/>
              </a:rPr>
              <a:t>if</a:t>
            </a:r>
            <a:r>
              <a:rPr lang="en-US" sz="1600" b="1" dirty="0">
                <a:solidFill>
                  <a:srgbClr val="000000"/>
                </a:solidFill>
                <a:highlight>
                  <a:srgbClr val="FFFF00"/>
                </a:highlight>
                <a:latin typeface="Courier New" panose="02070309020205020404" pitchFamily="49" charset="0"/>
              </a:rPr>
              <a:t> (i == j) </a:t>
            </a:r>
            <a:r>
              <a:rPr lang="en-US" sz="1600" b="1" dirty="0">
                <a:solidFill>
                  <a:srgbClr val="000000"/>
                </a:solidFill>
                <a:latin typeface="Courier New" panose="02070309020205020404" pitchFamily="49" charset="0"/>
              </a:rPr>
              <a: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k = i;</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int</a:t>
            </a:r>
            <a:r>
              <a:rPr lang="en-US" sz="1600" b="1" dirty="0">
                <a:solidFill>
                  <a:srgbClr val="000000"/>
                </a:solidFill>
                <a:latin typeface="Courier New" panose="02070309020205020404" pitchFamily="49" charset="0"/>
              </a:rPr>
              <a:t> </a:t>
            </a:r>
            <a:r>
              <a:rPr lang="en-US" sz="1600" b="1" dirty="0" err="1">
                <a:solidFill>
                  <a:srgbClr val="000000"/>
                </a:solidFill>
                <a:latin typeface="Courier New" panose="02070309020205020404" pitchFamily="49" charset="0"/>
              </a:rPr>
              <a:t>lim</a:t>
            </a:r>
            <a:r>
              <a:rPr lang="en-US" sz="1600" b="1" dirty="0">
                <a:solidFill>
                  <a:srgbClr val="000000"/>
                </a:solidFill>
                <a:latin typeface="Courier New" panose="02070309020205020404" pitchFamily="49" charset="0"/>
              </a:rPr>
              <a:t> = n + i;</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while</a:t>
            </a:r>
            <a:r>
              <a:rPr lang="en-US" sz="1600" b="1" dirty="0">
                <a:solidFill>
                  <a:srgbClr val="000000"/>
                </a:solidFill>
                <a:latin typeface="Courier New" panose="02070309020205020404" pitchFamily="49" charset="0"/>
              </a:rPr>
              <a:t> (k &lt; </a:t>
            </a:r>
            <a:r>
              <a:rPr lang="en-US" sz="1600" b="1" dirty="0" err="1">
                <a:solidFill>
                  <a:srgbClr val="000000"/>
                </a:solidFill>
                <a:latin typeface="Courier New" panose="02070309020205020404" pitchFamily="49" charset="0"/>
              </a:rPr>
              <a:t>lim</a:t>
            </a: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char</a:t>
            </a:r>
            <a:r>
              <a:rPr lang="en-US" sz="1600" b="1" dirty="0">
                <a:solidFill>
                  <a:srgbClr val="000000"/>
                </a:solidFill>
                <a:latin typeface="Courier New" panose="02070309020205020404" pitchFamily="49" charset="0"/>
              </a:rPr>
              <a:t> c1 = v1[k];</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char</a:t>
            </a:r>
            <a:r>
              <a:rPr lang="en-US" sz="1600" b="1" dirty="0">
                <a:solidFill>
                  <a:srgbClr val="000000"/>
                </a:solidFill>
                <a:latin typeface="Courier New" panose="02070309020205020404" pitchFamily="49" charset="0"/>
              </a:rPr>
              <a:t> c2 = v2[k];</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highlight>
                  <a:srgbClr val="FFFF00"/>
                </a:highlight>
                <a:latin typeface="Courier New" panose="02070309020205020404" pitchFamily="49" charset="0"/>
              </a:rPr>
              <a:t>if</a:t>
            </a:r>
            <a:r>
              <a:rPr lang="en-US" sz="1600" b="1" dirty="0">
                <a:solidFill>
                  <a:srgbClr val="000000"/>
                </a:solidFill>
                <a:highlight>
                  <a:srgbClr val="FFFF00"/>
                </a:highlight>
                <a:latin typeface="Courier New" panose="02070309020205020404" pitchFamily="49" charset="0"/>
              </a:rPr>
              <a:t> (c1 != c2)</a:t>
            </a: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highlight>
                  <a:srgbClr val="FFFF00"/>
                </a:highlight>
                <a:latin typeface="Courier New" panose="02070309020205020404" pitchFamily="49" charset="0"/>
              </a:rPr>
              <a:t>return</a:t>
            </a:r>
            <a:r>
              <a:rPr lang="en-US" sz="1600" b="1" dirty="0">
                <a:solidFill>
                  <a:srgbClr val="000000"/>
                </a:solidFill>
                <a:highlight>
                  <a:srgbClr val="FFFF00"/>
                </a:highlight>
                <a:latin typeface="Courier New" panose="02070309020205020404" pitchFamily="49" charset="0"/>
              </a:rPr>
              <a:t> c1 - c2</a:t>
            </a:r>
            <a:r>
              <a:rPr lang="en-US" sz="1600" b="1" dirty="0">
                <a:solidFill>
                  <a:srgbClr val="000000"/>
                </a:solidFill>
                <a:latin typeface="Courier New" panose="02070309020205020404" pitchFamily="49" charset="0"/>
              </a:rPr>
              <a:t>;</a:t>
            </a:r>
            <a:br>
              <a:rPr lang="en-US" sz="1600" b="1" dirty="0">
                <a:solidFill>
                  <a:srgbClr val="000000"/>
                </a:solidFill>
                <a:highlight>
                  <a:srgbClr val="FFFF00"/>
                </a:highlight>
                <a:latin typeface="Courier New" panose="02070309020205020404" pitchFamily="49" charset="0"/>
              </a:rPr>
            </a:b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k++;</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endParaRPr lang="en-US" altLang="en-US" sz="2400" b="1" dirty="0">
              <a:latin typeface="Consolas" panose="020B0609020204030204" pitchFamily="49" charset="0"/>
            </a:endParaRPr>
          </a:p>
        </p:txBody>
      </p:sp>
      <p:sp>
        <p:nvSpPr>
          <p:cNvPr id="2" name="TextBox 1">
            <a:extLst>
              <a:ext uri="{FF2B5EF4-FFF2-40B4-BE49-F238E27FC236}">
                <a16:creationId xmlns:a16="http://schemas.microsoft.com/office/drawing/2014/main" id="{417B5989-8C90-CB5D-D201-35531C5158DE}"/>
              </a:ext>
            </a:extLst>
          </p:cNvPr>
          <p:cNvSpPr txBox="1"/>
          <p:nvPr/>
        </p:nvSpPr>
        <p:spPr>
          <a:xfrm>
            <a:off x="762000" y="228600"/>
            <a:ext cx="7487947" cy="1446550"/>
          </a:xfrm>
          <a:prstGeom prst="rect">
            <a:avLst/>
          </a:prstGeom>
          <a:noFill/>
        </p:spPr>
        <p:txBody>
          <a:bodyPr wrap="none" rtlCol="0">
            <a:spAutoFit/>
          </a:bodyPr>
          <a:lstStyle/>
          <a:p>
            <a:r>
              <a:rPr lang="en-US" sz="2800" dirty="0">
                <a:solidFill>
                  <a:srgbClr val="0000FF"/>
                </a:solidFill>
                <a:latin typeface="Courier New" panose="02070309020205020404" pitchFamily="49" charset="0"/>
              </a:rPr>
              <a:t>class</a:t>
            </a:r>
            <a:r>
              <a:rPr lang="en-US" sz="2800" b="1" dirty="0">
                <a:solidFill>
                  <a:srgbClr val="0000FF"/>
                </a:solidFill>
                <a:latin typeface="Courier New" panose="02070309020205020404" pitchFamily="49" charset="0"/>
              </a:rPr>
              <a:t> String </a:t>
            </a:r>
            <a:r>
              <a:rPr lang="en-US" sz="2800" dirty="0">
                <a:solidFill>
                  <a:srgbClr val="0000FF"/>
                </a:solidFill>
                <a:latin typeface="Courier New" panose="02070309020205020404" pitchFamily="49" charset="0"/>
              </a:rPr>
              <a:t>implements</a:t>
            </a:r>
            <a:r>
              <a:rPr lang="en-US" sz="2800" b="1" dirty="0">
                <a:solidFill>
                  <a:srgbClr val="0000FF"/>
                </a:solidFill>
                <a:latin typeface="Courier New" panose="02070309020205020404" pitchFamily="49" charset="0"/>
              </a:rPr>
              <a:t> </a:t>
            </a:r>
          </a:p>
          <a:p>
            <a:r>
              <a:rPr lang="en-US" sz="2800" b="1" dirty="0">
                <a:solidFill>
                  <a:srgbClr val="0000FF"/>
                </a:solidFill>
                <a:latin typeface="Courier New" panose="02070309020205020404" pitchFamily="49" charset="0"/>
              </a:rPr>
              <a:t>                Comparable&lt;String&gt;</a:t>
            </a:r>
            <a:br>
              <a:rPr lang="en-US" sz="2800" b="1" dirty="0">
                <a:solidFill>
                  <a:srgbClr val="0000FF"/>
                </a:solidFill>
                <a:latin typeface="Courier New" panose="02070309020205020404" pitchFamily="49" charset="0"/>
              </a:rPr>
            </a:br>
            <a:endParaRPr lang="en-US" sz="3200" b="1" dirty="0">
              <a:solidFill>
                <a:srgbClr val="0000FF"/>
              </a:solidFill>
            </a:endParaRPr>
          </a:p>
        </p:txBody>
      </p:sp>
      <p:sp>
        <p:nvSpPr>
          <p:cNvPr id="4" name="TextBox 3">
            <a:extLst>
              <a:ext uri="{FF2B5EF4-FFF2-40B4-BE49-F238E27FC236}">
                <a16:creationId xmlns:a16="http://schemas.microsoft.com/office/drawing/2014/main" id="{28382394-E19D-A169-86E8-E887AE5D8854}"/>
              </a:ext>
            </a:extLst>
          </p:cNvPr>
          <p:cNvSpPr txBox="1"/>
          <p:nvPr/>
        </p:nvSpPr>
        <p:spPr>
          <a:xfrm>
            <a:off x="5105400" y="3886200"/>
            <a:ext cx="4572000" cy="3046988"/>
          </a:xfrm>
          <a:prstGeom prst="rect">
            <a:avLst/>
          </a:prstGeom>
          <a:noFill/>
        </p:spPr>
        <p:txBody>
          <a:bodyPr wrap="square">
            <a:spAutoFit/>
          </a:bodyPr>
          <a:lstStyle/>
          <a:p>
            <a:r>
              <a:rPr lang="en-US" sz="1600" b="1" dirty="0">
                <a:solidFill>
                  <a:srgbClr val="941EDF"/>
                </a:solidFill>
                <a:latin typeface="Courier New" panose="02070309020205020404" pitchFamily="49" charset="0"/>
              </a:rPr>
              <a:t>else</a:t>
            </a: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while</a:t>
            </a:r>
            <a:r>
              <a:rPr lang="en-US" sz="1600" b="1" dirty="0">
                <a:solidFill>
                  <a:srgbClr val="000000"/>
                </a:solidFill>
                <a:latin typeface="Courier New" panose="02070309020205020404" pitchFamily="49" charset="0"/>
              </a:rPr>
              <a:t> (n-- != 0)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char</a:t>
            </a:r>
            <a:r>
              <a:rPr lang="en-US" sz="1600" b="1" dirty="0">
                <a:solidFill>
                  <a:srgbClr val="000000"/>
                </a:solidFill>
                <a:latin typeface="Courier New" panose="02070309020205020404" pitchFamily="49" charset="0"/>
              </a:rPr>
              <a:t> c1 = v1[i++];</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latin typeface="Courier New" panose="02070309020205020404" pitchFamily="49" charset="0"/>
              </a:rPr>
              <a:t>char</a:t>
            </a:r>
            <a:r>
              <a:rPr lang="en-US" sz="1600" b="1" dirty="0">
                <a:solidFill>
                  <a:srgbClr val="000000"/>
                </a:solidFill>
                <a:latin typeface="Courier New" panose="02070309020205020404" pitchFamily="49" charset="0"/>
              </a:rPr>
              <a:t> c2 = v2[</a:t>
            </a:r>
            <a:r>
              <a:rPr lang="en-US" sz="1600" b="1" dirty="0" err="1">
                <a:solidFill>
                  <a:srgbClr val="000000"/>
                </a:solidFill>
                <a:latin typeface="Courier New" panose="02070309020205020404" pitchFamily="49" charset="0"/>
              </a:rPr>
              <a:t>j++</a:t>
            </a:r>
            <a:r>
              <a:rPr lang="en-US" sz="1600" b="1" dirty="0">
                <a:solidFill>
                  <a:srgbClr val="000000"/>
                </a:solidFill>
                <a:latin typeface="Courier New" panose="02070309020205020404" pitchFamily="49" charset="0"/>
              </a:rPr>
              <a: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highlight>
                  <a:srgbClr val="FFFF00"/>
                </a:highlight>
                <a:latin typeface="Courier New" panose="02070309020205020404" pitchFamily="49" charset="0"/>
              </a:rPr>
              <a:t>if</a:t>
            </a:r>
            <a:r>
              <a:rPr lang="en-US" sz="1600" b="1" dirty="0">
                <a:solidFill>
                  <a:srgbClr val="000000"/>
                </a:solidFill>
                <a:highlight>
                  <a:srgbClr val="FFFF00"/>
                </a:highlight>
                <a:latin typeface="Courier New" panose="02070309020205020404" pitchFamily="49" charset="0"/>
              </a:rPr>
              <a:t> (c1 != c2)</a:t>
            </a: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highlight>
                  <a:srgbClr val="FFFF00"/>
                </a:highlight>
                <a:latin typeface="Courier New" panose="02070309020205020404" pitchFamily="49" charset="0"/>
              </a:rPr>
              <a:t>return</a:t>
            </a:r>
            <a:r>
              <a:rPr lang="en-US" sz="1600" b="1" dirty="0">
                <a:solidFill>
                  <a:srgbClr val="000000"/>
                </a:solidFill>
                <a:highlight>
                  <a:srgbClr val="FFFF00"/>
                </a:highlight>
                <a:latin typeface="Courier New" panose="02070309020205020404" pitchFamily="49" charset="0"/>
              </a:rPr>
              <a:t> c1 - c2</a:t>
            </a:r>
            <a:r>
              <a:rPr lang="en-US" sz="1600" b="1" dirty="0">
                <a:solidFill>
                  <a:srgbClr val="000000"/>
                </a:solidFill>
                <a:latin typeface="Courier New" panose="02070309020205020404" pitchFamily="49" charset="0"/>
              </a:rPr>
              <a: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r>
              <a:rPr lang="en-US" sz="1600" b="1" dirty="0">
                <a:solidFill>
                  <a:srgbClr val="941EDF"/>
                </a:solidFill>
                <a:highlight>
                  <a:srgbClr val="FFFF00"/>
                </a:highlight>
                <a:latin typeface="Courier New" panose="02070309020205020404" pitchFamily="49" charset="0"/>
              </a:rPr>
              <a:t>return</a:t>
            </a:r>
            <a:r>
              <a:rPr lang="en-US" sz="1600" b="1" dirty="0">
                <a:solidFill>
                  <a:srgbClr val="000000"/>
                </a:solidFill>
                <a:highlight>
                  <a:srgbClr val="FFFF00"/>
                </a:highlight>
                <a:latin typeface="Courier New" panose="02070309020205020404" pitchFamily="49" charset="0"/>
              </a:rPr>
              <a:t> len1 - len2</a:t>
            </a:r>
            <a:r>
              <a:rPr lang="en-US" sz="1600" b="1" dirty="0">
                <a:solidFill>
                  <a:srgbClr val="000000"/>
                </a:solidFill>
                <a:latin typeface="Courier New" panose="02070309020205020404" pitchFamily="49" charset="0"/>
              </a:rPr>
              <a:t>;</a:t>
            </a:r>
            <a:br>
              <a:rPr lang="en-US" sz="1600" b="1" dirty="0">
                <a:solidFill>
                  <a:srgbClr val="000000"/>
                </a:solidFill>
                <a:latin typeface="Courier New" panose="02070309020205020404" pitchFamily="49" charset="0"/>
              </a:rPr>
            </a:br>
            <a:r>
              <a:rPr lang="en-US" sz="1600" b="1" dirty="0">
                <a:solidFill>
                  <a:srgbClr val="000000"/>
                </a:solidFill>
                <a:latin typeface="Courier New" panose="02070309020205020404" pitchFamily="49" charset="0"/>
              </a:rPr>
              <a:t>   }</a:t>
            </a:r>
            <a:br>
              <a:rPr lang="en-US" sz="1600" b="1" dirty="0">
                <a:solidFill>
                  <a:srgbClr val="000000"/>
                </a:solidFill>
                <a:latin typeface="Courier New" panose="02070309020205020404" pitchFamily="49" charset="0"/>
              </a:rPr>
            </a:br>
            <a:endParaRPr lang="en-US" sz="1600" dirty="0"/>
          </a:p>
        </p:txBody>
      </p:sp>
    </p:spTree>
    <p:extLst>
      <p:ext uri="{BB962C8B-B14F-4D97-AF65-F5344CB8AC3E}">
        <p14:creationId xmlns:p14="http://schemas.microsoft.com/office/powerpoint/2010/main" val="28133492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419100" y="1524000"/>
            <a:ext cx="84963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2400" b="1" dirty="0">
                <a:solidFill>
                  <a:srgbClr val="941EDF"/>
                </a:solidFill>
                <a:latin typeface="Courier New" panose="02070309020205020404" pitchFamily="49" charset="0"/>
              </a:rPr>
              <a:t>public</a:t>
            </a: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int</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compareTo</a:t>
            </a:r>
            <a:r>
              <a:rPr lang="en-US" sz="2400" b="1" dirty="0">
                <a:solidFill>
                  <a:srgbClr val="000000"/>
                </a:solidFill>
                <a:latin typeface="Courier New" panose="02070309020205020404" pitchFamily="49" charset="0"/>
              </a:rPr>
              <a:t>(Integer other) {</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int</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thisVal</a:t>
            </a:r>
            <a:r>
              <a:rPr lang="en-US" sz="2400" b="1" dirty="0">
                <a:solidFill>
                  <a:srgbClr val="000000"/>
                </a:solidFill>
                <a:latin typeface="Courier New" panose="02070309020205020404" pitchFamily="49" charset="0"/>
              </a:rPr>
              <a:t> = </a:t>
            </a:r>
            <a:r>
              <a:rPr lang="en-US" sz="2400" b="1" dirty="0" err="1">
                <a:solidFill>
                  <a:srgbClr val="941EDF"/>
                </a:solidFill>
                <a:latin typeface="Courier New" panose="02070309020205020404" pitchFamily="49" charset="0"/>
              </a:rPr>
              <a:t>this</a:t>
            </a:r>
            <a:r>
              <a:rPr lang="en-US" sz="2400" b="1" dirty="0" err="1">
                <a:solidFill>
                  <a:srgbClr val="000000"/>
                </a:solidFill>
                <a:latin typeface="Courier New" panose="02070309020205020404" pitchFamily="49" charset="0"/>
              </a:rPr>
              <a:t>.value</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int</a:t>
            </a:r>
            <a:r>
              <a:rPr lang="en-US" sz="2400" b="1" dirty="0">
                <a:solidFill>
                  <a:srgbClr val="000000"/>
                </a:solidFill>
                <a:latin typeface="Courier New" panose="02070309020205020404" pitchFamily="49" charset="0"/>
              </a:rPr>
              <a:t> other = </a:t>
            </a:r>
            <a:r>
              <a:rPr lang="en-US" sz="2400" b="1" dirty="0" err="1">
                <a:solidFill>
                  <a:srgbClr val="000000"/>
                </a:solidFill>
                <a:latin typeface="Courier New" panose="02070309020205020404" pitchFamily="49" charset="0"/>
              </a:rPr>
              <a:t>other.value</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return</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thisVal</a:t>
            </a:r>
            <a:r>
              <a:rPr lang="en-US" sz="2400" b="1" dirty="0">
                <a:solidFill>
                  <a:srgbClr val="000000"/>
                </a:solidFill>
                <a:latin typeface="Courier New" panose="02070309020205020404" pitchFamily="49" charset="0"/>
              </a:rPr>
              <a:t>&lt; other ? -1 : </a:t>
            </a:r>
          </a:p>
          <a:p>
            <a:pPr>
              <a:spcBef>
                <a:spcPct val="50000"/>
              </a:spcBef>
            </a:pP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thisVal</a:t>
            </a:r>
            <a:r>
              <a:rPr lang="en-US" sz="2400" b="1" dirty="0">
                <a:solidFill>
                  <a:srgbClr val="000000"/>
                </a:solidFill>
                <a:latin typeface="Courier New" panose="02070309020205020404" pitchFamily="49" charset="0"/>
              </a:rPr>
              <a:t>== other ? 0 : 1));</a:t>
            </a:r>
            <a:br>
              <a:rPr lang="en-US" sz="2400" b="1" dirty="0">
                <a:solidFill>
                  <a:srgbClr val="000000"/>
                </a:solidFill>
                <a:latin typeface="Courier New" panose="02070309020205020404" pitchFamily="49" charset="0"/>
              </a:rPr>
            </a:br>
            <a:endParaRPr lang="en-US" sz="2400" b="1" dirty="0">
              <a:solidFill>
                <a:srgbClr val="000000"/>
              </a:solidFill>
              <a:latin typeface="Courier New" panose="02070309020205020404" pitchFamily="49" charset="0"/>
            </a:endParaRPr>
          </a:p>
          <a:p>
            <a:pPr>
              <a:spcBef>
                <a:spcPct val="50000"/>
              </a:spcBef>
            </a:pPr>
            <a:r>
              <a:rPr lang="en-US" sz="2400" dirty="0">
                <a:solidFill>
                  <a:srgbClr val="E65D00"/>
                </a:solidFill>
                <a:latin typeface="Courier New" panose="02070309020205020404" pitchFamily="49" charset="0"/>
              </a:rPr>
              <a:t>// Equivalent to:</a:t>
            </a:r>
            <a:br>
              <a:rPr lang="en-US" sz="2400" dirty="0">
                <a:solidFill>
                  <a:srgbClr val="E65D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if</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thisVal</a:t>
            </a:r>
            <a:r>
              <a:rPr lang="en-US" sz="2400" b="1" dirty="0">
                <a:solidFill>
                  <a:srgbClr val="000000"/>
                </a:solidFill>
                <a:latin typeface="Courier New" panose="02070309020205020404" pitchFamily="49" charset="0"/>
              </a:rPr>
              <a:t> &lt; </a:t>
            </a:r>
            <a:r>
              <a:rPr lang="en-US" sz="2400" b="1" dirty="0" err="1">
                <a:solidFill>
                  <a:srgbClr val="000000"/>
                </a:solidFill>
                <a:latin typeface="Courier New" panose="02070309020205020404" pitchFamily="49" charset="0"/>
              </a:rPr>
              <a:t>anotherVal</a:t>
            </a:r>
            <a:r>
              <a:rPr lang="en-US" sz="2400" b="1" dirty="0">
                <a:solidFill>
                  <a:srgbClr val="000000"/>
                </a:solidFill>
                <a:latin typeface="Courier New" panose="02070309020205020404" pitchFamily="49" charset="0"/>
              </a:rPr>
              <a:t>) </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return</a:t>
            </a:r>
            <a:r>
              <a:rPr lang="en-US" sz="2400" b="1" dirty="0">
                <a:solidFill>
                  <a:srgbClr val="000000"/>
                </a:solidFill>
                <a:latin typeface="Courier New" panose="02070309020205020404" pitchFamily="49" charset="0"/>
              </a:rPr>
              <a:t> -1;</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else</a:t>
            </a: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if</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thisVal</a:t>
            </a:r>
            <a:r>
              <a:rPr lang="en-US" sz="2400" b="1" dirty="0">
                <a:solidFill>
                  <a:srgbClr val="000000"/>
                </a:solidFill>
                <a:latin typeface="Courier New" panose="02070309020205020404" pitchFamily="49" charset="0"/>
              </a:rPr>
              <a:t> == </a:t>
            </a:r>
            <a:r>
              <a:rPr lang="en-US" sz="2400" b="1" dirty="0" err="1">
                <a:solidFill>
                  <a:srgbClr val="000000"/>
                </a:solidFill>
                <a:latin typeface="Courier New" panose="02070309020205020404" pitchFamily="49" charset="0"/>
              </a:rPr>
              <a:t>anotherVal</a:t>
            </a:r>
            <a:r>
              <a:rPr lang="en-US" sz="2400" b="1" dirty="0">
                <a:solidFill>
                  <a:srgbClr val="000000"/>
                </a:solidFill>
                <a:latin typeface="Courier New" panose="02070309020205020404" pitchFamily="49" charset="0"/>
              </a:rPr>
              <a:t>) </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return</a:t>
            </a:r>
            <a:r>
              <a:rPr lang="en-US" sz="2400" b="1" dirty="0">
                <a:solidFill>
                  <a:srgbClr val="000000"/>
                </a:solidFill>
                <a:latin typeface="Courier New" panose="02070309020205020404" pitchFamily="49" charset="0"/>
              </a:rPr>
              <a:t> 0;</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else</a:t>
            </a:r>
            <a:r>
              <a:rPr lang="en-US" sz="2400" b="1" dirty="0">
                <a:solidFill>
                  <a:srgbClr val="000000"/>
                </a:solidFill>
                <a:latin typeface="Courier New" panose="02070309020205020404" pitchFamily="49" charset="0"/>
              </a:rPr>
              <a:t> </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return</a:t>
            </a:r>
            <a:r>
              <a:rPr lang="en-US" sz="2400" b="1" dirty="0">
                <a:solidFill>
                  <a:srgbClr val="000000"/>
                </a:solidFill>
                <a:latin typeface="Courier New" panose="02070309020205020404" pitchFamily="49" charset="0"/>
              </a:rPr>
              <a:t> 1;</a:t>
            </a:r>
            <a:endParaRPr lang="en-US" altLang="en-US" sz="3600" b="1" dirty="0">
              <a:latin typeface="Consolas" panose="020B0609020204030204" pitchFamily="49" charset="0"/>
            </a:endParaRPr>
          </a:p>
        </p:txBody>
      </p:sp>
      <p:sp>
        <p:nvSpPr>
          <p:cNvPr id="2" name="TextBox 1">
            <a:extLst>
              <a:ext uri="{FF2B5EF4-FFF2-40B4-BE49-F238E27FC236}">
                <a16:creationId xmlns:a16="http://schemas.microsoft.com/office/drawing/2014/main" id="{417B5989-8C90-CB5D-D201-35531C5158DE}"/>
              </a:ext>
            </a:extLst>
          </p:cNvPr>
          <p:cNvSpPr txBox="1"/>
          <p:nvPr/>
        </p:nvSpPr>
        <p:spPr>
          <a:xfrm>
            <a:off x="0" y="152400"/>
            <a:ext cx="9144000" cy="1446550"/>
          </a:xfrm>
          <a:prstGeom prst="rect">
            <a:avLst/>
          </a:prstGeom>
          <a:noFill/>
        </p:spPr>
        <p:txBody>
          <a:bodyPr wrap="square" rtlCol="0">
            <a:spAutoFit/>
          </a:bodyPr>
          <a:lstStyle/>
          <a:p>
            <a:r>
              <a:rPr lang="en-US" sz="2800" dirty="0">
                <a:solidFill>
                  <a:srgbClr val="0000FF"/>
                </a:solidFill>
                <a:latin typeface="Courier New" panose="02070309020205020404" pitchFamily="49" charset="0"/>
              </a:rPr>
              <a:t>class</a:t>
            </a:r>
            <a:r>
              <a:rPr lang="en-US" sz="2800" b="1" dirty="0">
                <a:solidFill>
                  <a:srgbClr val="0000FF"/>
                </a:solidFill>
                <a:latin typeface="Courier New" panose="02070309020205020404" pitchFamily="49" charset="0"/>
              </a:rPr>
              <a:t> Integer </a:t>
            </a:r>
            <a:r>
              <a:rPr lang="en-US" sz="2800" dirty="0">
                <a:solidFill>
                  <a:srgbClr val="0000FF"/>
                </a:solidFill>
                <a:latin typeface="Courier New" panose="02070309020205020404" pitchFamily="49" charset="0"/>
              </a:rPr>
              <a:t>extends </a:t>
            </a:r>
            <a:r>
              <a:rPr lang="en-US" sz="2800" b="1" dirty="0">
                <a:solidFill>
                  <a:srgbClr val="0000FF"/>
                </a:solidFill>
                <a:latin typeface="Courier New" panose="02070309020205020404" pitchFamily="49" charset="0"/>
              </a:rPr>
              <a:t>Number</a:t>
            </a:r>
          </a:p>
          <a:p>
            <a:r>
              <a:rPr lang="en-US" sz="2800" b="1" dirty="0">
                <a:solidFill>
                  <a:srgbClr val="0000FF"/>
                </a:solidFill>
                <a:latin typeface="Courier New" panose="02070309020205020404" pitchFamily="49" charset="0"/>
              </a:rPr>
              <a:t>            </a:t>
            </a:r>
            <a:r>
              <a:rPr lang="en-US" sz="2800" dirty="0">
                <a:solidFill>
                  <a:srgbClr val="0000FF"/>
                </a:solidFill>
                <a:latin typeface="Courier New" panose="02070309020205020404" pitchFamily="49" charset="0"/>
              </a:rPr>
              <a:t>implements</a:t>
            </a:r>
            <a:r>
              <a:rPr lang="en-US" sz="2800" b="1" dirty="0">
                <a:solidFill>
                  <a:srgbClr val="0000FF"/>
                </a:solidFill>
                <a:latin typeface="Courier New" panose="02070309020205020404" pitchFamily="49" charset="0"/>
              </a:rPr>
              <a:t> Comparable&lt;Integer&gt;</a:t>
            </a:r>
            <a:br>
              <a:rPr lang="en-US" sz="2800" b="1" dirty="0">
                <a:solidFill>
                  <a:srgbClr val="0000FF"/>
                </a:solidFill>
                <a:latin typeface="Courier New" panose="02070309020205020404" pitchFamily="49" charset="0"/>
              </a:rPr>
            </a:br>
            <a:endParaRPr lang="en-US" sz="3200" b="1" dirty="0">
              <a:solidFill>
                <a:srgbClr val="0000FF"/>
              </a:solidFill>
            </a:endParaRPr>
          </a:p>
        </p:txBody>
      </p:sp>
    </p:spTree>
    <p:extLst>
      <p:ext uri="{BB962C8B-B14F-4D97-AF65-F5344CB8AC3E}">
        <p14:creationId xmlns:p14="http://schemas.microsoft.com/office/powerpoint/2010/main" val="1005060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18824C4C-9DF1-4CCB-A984-8ECB8472EFDE}"/>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92162" name="WordArt 2">
            <a:extLst>
              <a:ext uri="{FF2B5EF4-FFF2-40B4-BE49-F238E27FC236}">
                <a16:creationId xmlns:a16="http://schemas.microsoft.com/office/drawing/2014/main" id="{7247F030-1087-4A1A-839A-DC007D9AFA68}"/>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92163" name="Text Box 3">
            <a:extLst>
              <a:ext uri="{FF2B5EF4-FFF2-40B4-BE49-F238E27FC236}">
                <a16:creationId xmlns:a16="http://schemas.microsoft.com/office/drawing/2014/main" id="{83978960-231D-4EC2-B632-7CFD642C67A0}"/>
              </a:ext>
            </a:extLst>
          </p:cNvPr>
          <p:cNvSpPr txBox="1">
            <a:spLocks noChangeArrowheads="1"/>
          </p:cNvSpPr>
          <p:nvPr/>
        </p:nvSpPr>
        <p:spPr bwMode="auto">
          <a:xfrm>
            <a:off x="838200" y="1828800"/>
            <a:ext cx="6986588"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a:latin typeface="Arial" panose="020B0604020202020204" pitchFamily="34" charset="0"/>
              </a:rPr>
              <a:t>Comparable x = 54;</a:t>
            </a:r>
          </a:p>
          <a:p>
            <a:pPr eaLnBrk="0" hangingPunct="0"/>
            <a:r>
              <a:rPr lang="en-US" altLang="en-US" sz="4000" b="1">
                <a:latin typeface="Arial" panose="020B0604020202020204" pitchFamily="34" charset="0"/>
              </a:rPr>
              <a:t>Comparable y = 67;</a:t>
            </a:r>
          </a:p>
          <a:p>
            <a:pPr eaLnBrk="0" hangingPunct="0"/>
            <a:endParaRPr lang="en-US" altLang="en-US" sz="4000" b="1">
              <a:latin typeface="Arial" panose="020B0604020202020204" pitchFamily="34" charset="0"/>
            </a:endParaRPr>
          </a:p>
          <a:p>
            <a:pPr eaLnBrk="0" hangingPunct="0"/>
            <a:r>
              <a:rPr lang="en-US" altLang="en-US" sz="4000" b="1">
                <a:latin typeface="Arial" panose="020B0604020202020204" pitchFamily="34" charset="0"/>
              </a:rPr>
              <a:t>out.println(x.compareTo(y));</a:t>
            </a:r>
          </a:p>
          <a:p>
            <a:pPr eaLnBrk="0" hangingPunct="0"/>
            <a:endParaRPr lang="en-US" altLang="en-US" sz="4000" b="1">
              <a:latin typeface="Arial" panose="020B0604020202020204" pitchFamily="34" charset="0"/>
            </a:endParaRPr>
          </a:p>
          <a:p>
            <a:pPr eaLnBrk="0" hangingPunct="0"/>
            <a:r>
              <a:rPr lang="en-US" altLang="en-US" sz="4000" b="1">
                <a:solidFill>
                  <a:schemeClr val="accent2"/>
                </a:solidFill>
                <a:latin typeface="Arial" panose="020B0604020202020204" pitchFamily="34" charset="0"/>
              </a:rPr>
              <a:t>Why is this okay??</a:t>
            </a:r>
          </a:p>
        </p:txBody>
      </p:sp>
      <p:sp>
        <p:nvSpPr>
          <p:cNvPr id="92164" name="Text Box 4">
            <a:extLst>
              <a:ext uri="{FF2B5EF4-FFF2-40B4-BE49-F238E27FC236}">
                <a16:creationId xmlns:a16="http://schemas.microsoft.com/office/drawing/2014/main" id="{2C442C2A-93FC-42AE-B846-71BAA064F5B8}"/>
              </a:ext>
            </a:extLst>
          </p:cNvPr>
          <p:cNvSpPr txBox="1">
            <a:spLocks noChangeArrowheads="1"/>
          </p:cNvSpPr>
          <p:nvPr/>
        </p:nvSpPr>
        <p:spPr bwMode="auto">
          <a:xfrm>
            <a:off x="6781800" y="4648200"/>
            <a:ext cx="19050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3200" b="1" u="sng">
                <a:solidFill>
                  <a:srgbClr val="FF0000"/>
                </a:solidFill>
              </a:rPr>
              <a:t>OUTPUT</a:t>
            </a:r>
          </a:p>
          <a:p>
            <a:pPr algn="ctr" eaLnBrk="0" hangingPunct="0">
              <a:spcBef>
                <a:spcPct val="50000"/>
              </a:spcBef>
            </a:pPr>
            <a:r>
              <a:rPr lang="en-US" altLang="en-US" sz="3200" b="1"/>
              <a:t>-1</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76200" y="1219200"/>
            <a:ext cx="8953500"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sz="2400" b="1" dirty="0">
                <a:solidFill>
                  <a:srgbClr val="941EDF"/>
                </a:solidFill>
                <a:latin typeface="Courier New" panose="02070309020205020404" pitchFamily="49" charset="0"/>
              </a:rPr>
              <a:t>public</a:t>
            </a: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int</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compareTo</a:t>
            </a:r>
            <a:r>
              <a:rPr lang="en-US" sz="2400" b="1" dirty="0">
                <a:solidFill>
                  <a:srgbClr val="000000"/>
                </a:solidFill>
                <a:latin typeface="Courier New" panose="02070309020205020404" pitchFamily="49" charset="0"/>
              </a:rPr>
              <a:t>(Double other) {</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return</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Double.compare</a:t>
            </a:r>
            <a:r>
              <a:rPr lang="en-US" sz="2400" b="1" dirty="0">
                <a:solidFill>
                  <a:srgbClr val="000000"/>
                </a:solidFill>
                <a:latin typeface="Courier New" panose="02070309020205020404" pitchFamily="49" charset="0"/>
              </a:rPr>
              <a:t>(value, </a:t>
            </a:r>
            <a:r>
              <a:rPr lang="en-US" sz="2400" b="1" dirty="0" err="1">
                <a:solidFill>
                  <a:srgbClr val="000000"/>
                </a:solidFill>
                <a:latin typeface="Courier New" panose="02070309020205020404" pitchFamily="49" charset="0"/>
              </a:rPr>
              <a:t>other.value</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a:t>
            </a:r>
          </a:p>
          <a:p>
            <a:pPr>
              <a:spcBef>
                <a:spcPts val="0"/>
              </a:spcBef>
            </a:pPr>
            <a:endParaRPr lang="en-US" altLang="en-US" sz="1800" b="1" dirty="0">
              <a:solidFill>
                <a:srgbClr val="000000"/>
              </a:solidFill>
              <a:latin typeface="Courier New" panose="02070309020205020404" pitchFamily="49" charset="0"/>
            </a:endParaRPr>
          </a:p>
          <a:p>
            <a:pPr>
              <a:spcBef>
                <a:spcPts val="0"/>
              </a:spcBef>
            </a:pPr>
            <a:r>
              <a:rPr lang="en-US" sz="2400" dirty="0">
                <a:solidFill>
                  <a:srgbClr val="941EDF"/>
                </a:solidFill>
                <a:latin typeface="Courier New" panose="02070309020205020404" pitchFamily="49" charset="0"/>
              </a:rPr>
              <a:t>public</a:t>
            </a: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static</a:t>
            </a: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int</a:t>
            </a:r>
            <a:r>
              <a:rPr lang="en-US" sz="2400" dirty="0">
                <a:solidFill>
                  <a:srgbClr val="000000"/>
                </a:solidFill>
                <a:latin typeface="Courier New" panose="02070309020205020404" pitchFamily="49" charset="0"/>
              </a:rPr>
              <a:t> compare(</a:t>
            </a:r>
            <a:r>
              <a:rPr lang="en-US" sz="2400" dirty="0">
                <a:solidFill>
                  <a:srgbClr val="941EDF"/>
                </a:solidFill>
                <a:latin typeface="Courier New" panose="02070309020205020404" pitchFamily="49" charset="0"/>
              </a:rPr>
              <a:t>double</a:t>
            </a:r>
            <a:r>
              <a:rPr lang="en-US" sz="2400" dirty="0">
                <a:solidFill>
                  <a:srgbClr val="000000"/>
                </a:solidFill>
                <a:latin typeface="Courier New" panose="02070309020205020404" pitchFamily="49" charset="0"/>
              </a:rPr>
              <a:t> d1, </a:t>
            </a:r>
            <a:r>
              <a:rPr lang="en-US" sz="2400" dirty="0">
                <a:solidFill>
                  <a:srgbClr val="941EDF"/>
                </a:solidFill>
                <a:latin typeface="Courier New" panose="02070309020205020404" pitchFamily="49" charset="0"/>
              </a:rPr>
              <a:t>double</a:t>
            </a:r>
            <a:r>
              <a:rPr lang="en-US" sz="2400" dirty="0">
                <a:solidFill>
                  <a:srgbClr val="000000"/>
                </a:solidFill>
                <a:latin typeface="Courier New" panose="02070309020205020404" pitchFamily="49" charset="0"/>
              </a:rPr>
              <a:t> d2){</a:t>
            </a:r>
            <a:br>
              <a:rPr lang="en-US" sz="2400" dirty="0">
                <a:solidFill>
                  <a:srgbClr val="0000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if</a:t>
            </a:r>
            <a:r>
              <a:rPr lang="en-US" sz="2400" dirty="0">
                <a:solidFill>
                  <a:srgbClr val="000000"/>
                </a:solidFill>
                <a:latin typeface="Courier New" panose="02070309020205020404" pitchFamily="49" charset="0"/>
              </a:rPr>
              <a:t> (d1 &lt; d2)</a:t>
            </a:r>
            <a:br>
              <a:rPr lang="en-US" sz="2400" dirty="0">
                <a:solidFill>
                  <a:srgbClr val="0000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return</a:t>
            </a:r>
            <a:r>
              <a:rPr lang="en-US" sz="2400" dirty="0">
                <a:solidFill>
                  <a:srgbClr val="000000"/>
                </a:solidFill>
                <a:latin typeface="Courier New" panose="02070309020205020404" pitchFamily="49" charset="0"/>
              </a:rPr>
              <a:t> -1;  </a:t>
            </a:r>
            <a:br>
              <a:rPr lang="en-US" sz="2400" dirty="0">
                <a:solidFill>
                  <a:srgbClr val="E65D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if</a:t>
            </a:r>
            <a:r>
              <a:rPr lang="en-US" sz="2400" dirty="0">
                <a:solidFill>
                  <a:srgbClr val="000000"/>
                </a:solidFill>
                <a:latin typeface="Courier New" panose="02070309020205020404" pitchFamily="49" charset="0"/>
              </a:rPr>
              <a:t> (d1 &gt; d2)</a:t>
            </a:r>
            <a:br>
              <a:rPr lang="en-US" sz="2400" dirty="0">
                <a:solidFill>
                  <a:srgbClr val="0000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return</a:t>
            </a:r>
            <a:r>
              <a:rPr lang="en-US" sz="2400" dirty="0">
                <a:solidFill>
                  <a:srgbClr val="000000"/>
                </a:solidFill>
                <a:latin typeface="Courier New" panose="02070309020205020404" pitchFamily="49" charset="0"/>
              </a:rPr>
              <a:t> 1;   </a:t>
            </a:r>
            <a:br>
              <a:rPr lang="en-US" sz="2400" dirty="0">
                <a:solidFill>
                  <a:srgbClr val="E65D00"/>
                </a:solidFill>
                <a:latin typeface="Courier New" panose="02070309020205020404" pitchFamily="49" charset="0"/>
              </a:rPr>
            </a:br>
            <a:br>
              <a:rPr lang="en-US" sz="1400" dirty="0">
                <a:solidFill>
                  <a:srgbClr val="E65D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long</a:t>
            </a:r>
            <a:r>
              <a:rPr lang="en-US" sz="2400" dirty="0">
                <a:solidFill>
                  <a:srgbClr val="000000"/>
                </a:solidFill>
                <a:latin typeface="Courier New" panose="02070309020205020404" pitchFamily="49" charset="0"/>
              </a:rPr>
              <a:t> </a:t>
            </a:r>
            <a:r>
              <a:rPr lang="en-US" sz="2400" dirty="0" err="1">
                <a:solidFill>
                  <a:srgbClr val="000000"/>
                </a:solidFill>
                <a:latin typeface="Courier New" panose="02070309020205020404" pitchFamily="49" charset="0"/>
              </a:rPr>
              <a:t>thisBits</a:t>
            </a:r>
            <a:r>
              <a:rPr lang="en-US" sz="2400" dirty="0">
                <a:solidFill>
                  <a:srgbClr val="000000"/>
                </a:solidFill>
                <a:latin typeface="Courier New" panose="02070309020205020404" pitchFamily="49" charset="0"/>
              </a:rPr>
              <a:t> = </a:t>
            </a:r>
            <a:r>
              <a:rPr lang="en-US" sz="2400" dirty="0" err="1">
                <a:solidFill>
                  <a:srgbClr val="000000"/>
                </a:solidFill>
                <a:latin typeface="Courier New" panose="02070309020205020404" pitchFamily="49" charset="0"/>
              </a:rPr>
              <a:t>Double.doubleToLongBits</a:t>
            </a:r>
            <a:r>
              <a:rPr lang="en-US" sz="2400" dirty="0">
                <a:solidFill>
                  <a:srgbClr val="000000"/>
                </a:solidFill>
                <a:latin typeface="Courier New" panose="02070309020205020404" pitchFamily="49" charset="0"/>
              </a:rPr>
              <a:t>(d1);</a:t>
            </a:r>
            <a:br>
              <a:rPr lang="en-US" sz="2400" dirty="0">
                <a:solidFill>
                  <a:srgbClr val="0000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long</a:t>
            </a:r>
            <a:r>
              <a:rPr lang="en-US" sz="2400" dirty="0">
                <a:solidFill>
                  <a:srgbClr val="000000"/>
                </a:solidFill>
                <a:latin typeface="Courier New" panose="02070309020205020404" pitchFamily="49" charset="0"/>
              </a:rPr>
              <a:t> </a:t>
            </a:r>
            <a:r>
              <a:rPr lang="en-US" sz="2400" dirty="0" err="1">
                <a:solidFill>
                  <a:srgbClr val="000000"/>
                </a:solidFill>
                <a:latin typeface="Courier New" panose="02070309020205020404" pitchFamily="49" charset="0"/>
              </a:rPr>
              <a:t>otherBits</a:t>
            </a:r>
            <a:r>
              <a:rPr lang="en-US" sz="2400" dirty="0">
                <a:solidFill>
                  <a:srgbClr val="000000"/>
                </a:solidFill>
                <a:latin typeface="Courier New" panose="02070309020205020404" pitchFamily="49" charset="0"/>
              </a:rPr>
              <a:t> = </a:t>
            </a:r>
            <a:r>
              <a:rPr lang="en-US" sz="2400" dirty="0" err="1">
                <a:solidFill>
                  <a:srgbClr val="000000"/>
                </a:solidFill>
                <a:latin typeface="Courier New" panose="02070309020205020404" pitchFamily="49" charset="0"/>
              </a:rPr>
              <a:t>Double.doubleToLongBits</a:t>
            </a:r>
            <a:r>
              <a:rPr lang="en-US" sz="2400" dirty="0">
                <a:solidFill>
                  <a:srgbClr val="000000"/>
                </a:solidFill>
                <a:latin typeface="Courier New" panose="02070309020205020404" pitchFamily="49" charset="0"/>
              </a:rPr>
              <a:t>(d2);</a:t>
            </a:r>
            <a:br>
              <a:rPr lang="en-US" sz="2400" dirty="0">
                <a:solidFill>
                  <a:srgbClr val="000000"/>
                </a:solidFill>
                <a:latin typeface="Courier New" panose="02070309020205020404" pitchFamily="49" charset="0"/>
              </a:rPr>
            </a:br>
            <a:br>
              <a:rPr lang="en-US" sz="2400" dirty="0">
                <a:solidFill>
                  <a:srgbClr val="0000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a:solidFill>
                  <a:srgbClr val="941EDF"/>
                </a:solidFill>
                <a:latin typeface="Courier New" panose="02070309020205020404" pitchFamily="49" charset="0"/>
              </a:rPr>
              <a:t>return</a:t>
            </a:r>
            <a:r>
              <a:rPr lang="en-US" sz="2400" dirty="0">
                <a:solidFill>
                  <a:srgbClr val="000000"/>
                </a:solidFill>
                <a:latin typeface="Courier New" panose="02070309020205020404" pitchFamily="49" charset="0"/>
              </a:rPr>
              <a:t> (</a:t>
            </a:r>
            <a:r>
              <a:rPr lang="en-US" sz="2400" dirty="0" err="1">
                <a:solidFill>
                  <a:srgbClr val="000000"/>
                </a:solidFill>
                <a:latin typeface="Courier New" panose="02070309020205020404" pitchFamily="49" charset="0"/>
              </a:rPr>
              <a:t>thisBits</a:t>
            </a:r>
            <a:r>
              <a:rPr lang="en-US" sz="2400" dirty="0">
                <a:solidFill>
                  <a:srgbClr val="000000"/>
                </a:solidFill>
                <a:latin typeface="Courier New" panose="02070309020205020404" pitchFamily="49" charset="0"/>
              </a:rPr>
              <a:t> == </a:t>
            </a:r>
            <a:r>
              <a:rPr lang="en-US" sz="2400" dirty="0" err="1">
                <a:solidFill>
                  <a:srgbClr val="000000"/>
                </a:solidFill>
                <a:latin typeface="Courier New" panose="02070309020205020404" pitchFamily="49" charset="0"/>
              </a:rPr>
              <a:t>otherBits</a:t>
            </a:r>
            <a:r>
              <a:rPr lang="en-US" sz="2400" dirty="0">
                <a:solidFill>
                  <a:srgbClr val="000000"/>
                </a:solidFill>
                <a:latin typeface="Courier New" panose="02070309020205020404" pitchFamily="49" charset="0"/>
              </a:rPr>
              <a:t> ?  0 :</a:t>
            </a:r>
            <a:br>
              <a:rPr lang="en-US" sz="2400" dirty="0">
                <a:solidFill>
                  <a:srgbClr val="E65D00"/>
                </a:solidFill>
                <a:latin typeface="Courier New" panose="02070309020205020404" pitchFamily="49" charset="0"/>
              </a:rPr>
            </a:br>
            <a:r>
              <a:rPr lang="en-US" sz="2400" dirty="0">
                <a:solidFill>
                  <a:srgbClr val="000000"/>
                </a:solidFill>
                <a:latin typeface="Courier New" panose="02070309020205020404" pitchFamily="49" charset="0"/>
              </a:rPr>
              <a:t>           (</a:t>
            </a:r>
            <a:r>
              <a:rPr lang="en-US" sz="2400" dirty="0" err="1">
                <a:solidFill>
                  <a:srgbClr val="000000"/>
                </a:solidFill>
                <a:latin typeface="Courier New" panose="02070309020205020404" pitchFamily="49" charset="0"/>
              </a:rPr>
              <a:t>thisBits</a:t>
            </a:r>
            <a:r>
              <a:rPr lang="en-US" sz="2400" dirty="0">
                <a:solidFill>
                  <a:srgbClr val="000000"/>
                </a:solidFill>
                <a:latin typeface="Courier New" panose="02070309020205020404" pitchFamily="49" charset="0"/>
              </a:rPr>
              <a:t> &lt; </a:t>
            </a:r>
            <a:r>
              <a:rPr lang="en-US" sz="2400" dirty="0" err="1">
                <a:solidFill>
                  <a:srgbClr val="000000"/>
                </a:solidFill>
                <a:latin typeface="Courier New" panose="02070309020205020404" pitchFamily="49" charset="0"/>
              </a:rPr>
              <a:t>otherBits</a:t>
            </a:r>
            <a:r>
              <a:rPr lang="en-US" sz="2400" dirty="0">
                <a:solidFill>
                  <a:srgbClr val="000000"/>
                </a:solidFill>
                <a:latin typeface="Courier New" panose="02070309020205020404" pitchFamily="49" charset="0"/>
              </a:rPr>
              <a:t> ? -1 : 1));</a:t>
            </a:r>
            <a:endParaRPr lang="en-US" sz="2400" dirty="0">
              <a:solidFill>
                <a:srgbClr val="E65D00"/>
              </a:solidFill>
              <a:latin typeface="Courier New" panose="02070309020205020404" pitchFamily="49" charset="0"/>
            </a:endParaRPr>
          </a:p>
          <a:p>
            <a:pPr>
              <a:spcBef>
                <a:spcPts val="0"/>
              </a:spcBef>
            </a:pPr>
            <a:r>
              <a:rPr lang="en-US" sz="2400" dirty="0">
                <a:solidFill>
                  <a:srgbClr val="000000"/>
                </a:solidFill>
                <a:latin typeface="Courier New" panose="02070309020205020404" pitchFamily="49" charset="0"/>
              </a:rPr>
              <a:t>}</a:t>
            </a:r>
            <a:endParaRPr lang="en-US" altLang="en-US" sz="4400" b="1" dirty="0">
              <a:latin typeface="Consolas" panose="020B0609020204030204" pitchFamily="49" charset="0"/>
            </a:endParaRPr>
          </a:p>
        </p:txBody>
      </p:sp>
      <p:sp>
        <p:nvSpPr>
          <p:cNvPr id="2" name="TextBox 1">
            <a:extLst>
              <a:ext uri="{FF2B5EF4-FFF2-40B4-BE49-F238E27FC236}">
                <a16:creationId xmlns:a16="http://schemas.microsoft.com/office/drawing/2014/main" id="{417B5989-8C90-CB5D-D201-35531C5158DE}"/>
              </a:ext>
            </a:extLst>
          </p:cNvPr>
          <p:cNvSpPr txBox="1"/>
          <p:nvPr/>
        </p:nvSpPr>
        <p:spPr>
          <a:xfrm>
            <a:off x="0" y="152400"/>
            <a:ext cx="9144000" cy="954107"/>
          </a:xfrm>
          <a:prstGeom prst="rect">
            <a:avLst/>
          </a:prstGeom>
          <a:noFill/>
        </p:spPr>
        <p:txBody>
          <a:bodyPr wrap="square" rtlCol="0">
            <a:spAutoFit/>
          </a:bodyPr>
          <a:lstStyle/>
          <a:p>
            <a:r>
              <a:rPr lang="en-US" sz="2800" dirty="0">
                <a:solidFill>
                  <a:srgbClr val="0000FF"/>
                </a:solidFill>
                <a:latin typeface="Courier New" panose="02070309020205020404" pitchFamily="49" charset="0"/>
              </a:rPr>
              <a:t>class</a:t>
            </a:r>
            <a:r>
              <a:rPr lang="en-US" sz="2800" b="1" dirty="0">
                <a:solidFill>
                  <a:srgbClr val="0000FF"/>
                </a:solidFill>
                <a:latin typeface="Courier New" panose="02070309020205020404" pitchFamily="49" charset="0"/>
              </a:rPr>
              <a:t> Double </a:t>
            </a:r>
            <a:r>
              <a:rPr lang="en-US" sz="2800" dirty="0">
                <a:solidFill>
                  <a:srgbClr val="0000FF"/>
                </a:solidFill>
                <a:latin typeface="Courier New" panose="02070309020205020404" pitchFamily="49" charset="0"/>
              </a:rPr>
              <a:t>extends</a:t>
            </a:r>
            <a:r>
              <a:rPr lang="en-US" sz="2800" b="1" dirty="0">
                <a:solidFill>
                  <a:srgbClr val="0000FF"/>
                </a:solidFill>
                <a:latin typeface="Courier New" panose="02070309020205020404" pitchFamily="49" charset="0"/>
              </a:rPr>
              <a:t> Number</a:t>
            </a:r>
          </a:p>
          <a:p>
            <a:r>
              <a:rPr lang="en-US" sz="2800" dirty="0">
                <a:solidFill>
                  <a:srgbClr val="0000FF"/>
                </a:solidFill>
                <a:latin typeface="Courier New" panose="02070309020205020404" pitchFamily="49" charset="0"/>
              </a:rPr>
              <a:t>             implements</a:t>
            </a:r>
            <a:r>
              <a:rPr lang="en-US" sz="2800" b="1" dirty="0">
                <a:solidFill>
                  <a:srgbClr val="0000FF"/>
                </a:solidFill>
                <a:latin typeface="Courier New" panose="02070309020205020404" pitchFamily="49" charset="0"/>
              </a:rPr>
              <a:t> Comparable&lt;Double&gt;</a:t>
            </a:r>
            <a:endParaRPr lang="en-US" sz="3200" b="1" dirty="0">
              <a:solidFill>
                <a:srgbClr val="0000FF"/>
              </a:solidFill>
            </a:endParaRPr>
          </a:p>
        </p:txBody>
      </p:sp>
    </p:spTree>
    <p:extLst>
      <p:ext uri="{BB962C8B-B14F-4D97-AF65-F5344CB8AC3E}">
        <p14:creationId xmlns:p14="http://schemas.microsoft.com/office/powerpoint/2010/main" val="27747599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A0B36-42C5-6208-F01B-7DB2D1BEC5C9}"/>
            </a:ext>
          </a:extLst>
        </p:cNvPr>
        <p:cNvGrpSpPr/>
        <p:nvPr/>
      </p:nvGrpSpPr>
      <p:grpSpPr>
        <a:xfrm>
          <a:off x="0" y="0"/>
          <a:ext cx="0" cy="0"/>
          <a:chOff x="0" y="0"/>
          <a:chExt cx="0" cy="0"/>
        </a:xfrm>
      </p:grpSpPr>
      <p:sp>
        <p:nvSpPr>
          <p:cNvPr id="112659" name="Text Box 19">
            <a:extLst>
              <a:ext uri="{FF2B5EF4-FFF2-40B4-BE49-F238E27FC236}">
                <a16:creationId xmlns:a16="http://schemas.microsoft.com/office/drawing/2014/main" id="{1A2FAFEA-20A6-3BEF-DAA1-D954833CD8C8}"/>
              </a:ext>
            </a:extLst>
          </p:cNvPr>
          <p:cNvSpPr txBox="1">
            <a:spLocks noChangeArrowheads="1"/>
          </p:cNvSpPr>
          <p:nvPr/>
        </p:nvSpPr>
        <p:spPr bwMode="auto">
          <a:xfrm>
            <a:off x="76200" y="1219200"/>
            <a:ext cx="895350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br>
              <a:rPr lang="en-US" sz="1400" b="1" dirty="0">
                <a:solidFill>
                  <a:srgbClr val="E65D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long</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thisBits</a:t>
            </a:r>
            <a:r>
              <a:rPr lang="en-US" sz="2400" b="1" dirty="0">
                <a:solidFill>
                  <a:srgbClr val="000000"/>
                </a:solidFill>
                <a:latin typeface="Courier New" panose="02070309020205020404" pitchFamily="49" charset="0"/>
              </a:rPr>
              <a:t> = </a:t>
            </a:r>
            <a:r>
              <a:rPr lang="en-US" sz="2400" b="1" dirty="0" err="1">
                <a:solidFill>
                  <a:srgbClr val="000000"/>
                </a:solidFill>
                <a:latin typeface="Courier New" panose="02070309020205020404" pitchFamily="49" charset="0"/>
              </a:rPr>
              <a:t>Double.doubleToLongBits</a:t>
            </a:r>
            <a:r>
              <a:rPr lang="en-US" sz="2400" b="1" dirty="0">
                <a:solidFill>
                  <a:srgbClr val="000000"/>
                </a:solidFill>
                <a:latin typeface="Courier New" panose="02070309020205020404" pitchFamily="49" charset="0"/>
              </a:rPr>
              <a:t>(d1);</a:t>
            </a:r>
            <a:endParaRPr lang="en-US" altLang="en-US" sz="4400" b="1" dirty="0">
              <a:latin typeface="Consolas" panose="020B0609020204030204" pitchFamily="49" charset="0"/>
            </a:endParaRPr>
          </a:p>
        </p:txBody>
      </p:sp>
      <p:sp>
        <p:nvSpPr>
          <p:cNvPr id="2" name="TextBox 1">
            <a:extLst>
              <a:ext uri="{FF2B5EF4-FFF2-40B4-BE49-F238E27FC236}">
                <a16:creationId xmlns:a16="http://schemas.microsoft.com/office/drawing/2014/main" id="{D3E2A7B4-116F-011B-5781-345BDDAEA93A}"/>
              </a:ext>
            </a:extLst>
          </p:cNvPr>
          <p:cNvSpPr txBox="1"/>
          <p:nvPr/>
        </p:nvSpPr>
        <p:spPr>
          <a:xfrm>
            <a:off x="0" y="152400"/>
            <a:ext cx="9144000" cy="954107"/>
          </a:xfrm>
          <a:prstGeom prst="rect">
            <a:avLst/>
          </a:prstGeom>
          <a:noFill/>
        </p:spPr>
        <p:txBody>
          <a:bodyPr wrap="square" rtlCol="0">
            <a:spAutoFit/>
          </a:bodyPr>
          <a:lstStyle/>
          <a:p>
            <a:r>
              <a:rPr lang="en-US" sz="2800" dirty="0">
                <a:solidFill>
                  <a:srgbClr val="0000FF"/>
                </a:solidFill>
                <a:latin typeface="Courier New" panose="02070309020205020404" pitchFamily="49" charset="0"/>
              </a:rPr>
              <a:t>class</a:t>
            </a:r>
            <a:r>
              <a:rPr lang="en-US" sz="2800" b="1" dirty="0">
                <a:solidFill>
                  <a:srgbClr val="0000FF"/>
                </a:solidFill>
                <a:latin typeface="Courier New" panose="02070309020205020404" pitchFamily="49" charset="0"/>
              </a:rPr>
              <a:t> Double </a:t>
            </a:r>
            <a:r>
              <a:rPr lang="en-US" sz="2800" dirty="0">
                <a:solidFill>
                  <a:srgbClr val="0000FF"/>
                </a:solidFill>
                <a:latin typeface="Courier New" panose="02070309020205020404" pitchFamily="49" charset="0"/>
              </a:rPr>
              <a:t>extends</a:t>
            </a:r>
            <a:r>
              <a:rPr lang="en-US" sz="2800" b="1" dirty="0">
                <a:solidFill>
                  <a:srgbClr val="0000FF"/>
                </a:solidFill>
                <a:latin typeface="Courier New" panose="02070309020205020404" pitchFamily="49" charset="0"/>
              </a:rPr>
              <a:t> Number</a:t>
            </a:r>
          </a:p>
          <a:p>
            <a:r>
              <a:rPr lang="en-US" sz="2800" dirty="0">
                <a:solidFill>
                  <a:srgbClr val="0000FF"/>
                </a:solidFill>
                <a:latin typeface="Courier New" panose="02070309020205020404" pitchFamily="49" charset="0"/>
              </a:rPr>
              <a:t>             implements</a:t>
            </a:r>
            <a:r>
              <a:rPr lang="en-US" sz="2800" b="1" dirty="0">
                <a:solidFill>
                  <a:srgbClr val="0000FF"/>
                </a:solidFill>
                <a:latin typeface="Courier New" panose="02070309020205020404" pitchFamily="49" charset="0"/>
              </a:rPr>
              <a:t> Comparable&lt;Double&gt;</a:t>
            </a:r>
            <a:endParaRPr lang="en-US" sz="3200" b="1" dirty="0">
              <a:solidFill>
                <a:srgbClr val="0000FF"/>
              </a:solidFill>
            </a:endParaRPr>
          </a:p>
        </p:txBody>
      </p:sp>
      <p:sp>
        <p:nvSpPr>
          <p:cNvPr id="3" name="Rectangle 1">
            <a:extLst>
              <a:ext uri="{FF2B5EF4-FFF2-40B4-BE49-F238E27FC236}">
                <a16:creationId xmlns:a16="http://schemas.microsoft.com/office/drawing/2014/main" id="{D3120EC7-8C24-F0A4-5A60-4807D309FC1C}"/>
              </a:ext>
            </a:extLst>
          </p:cNvPr>
          <p:cNvSpPr>
            <a:spLocks noChangeArrowheads="1"/>
          </p:cNvSpPr>
          <p:nvPr/>
        </p:nvSpPr>
        <p:spPr bwMode="auto">
          <a:xfrm>
            <a:off x="393193" y="2513237"/>
            <a:ext cx="8293608" cy="385232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50784"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ts val="1200"/>
              </a:spcAft>
              <a:buClrTx/>
              <a:buSzTx/>
              <a:buFontTx/>
              <a:buNone/>
              <a:tabLst/>
            </a:pPr>
            <a:r>
              <a:rPr kumimoji="0" lang="en-US" altLang="en-US" sz="3200" b="0" i="0" u="none" strike="noStrike" cap="none" normalizeH="0" baseline="0" dirty="0">
                <a:ln>
                  <a:noFill/>
                </a:ln>
                <a:solidFill>
                  <a:srgbClr val="474747"/>
                </a:solidFill>
                <a:effectLst/>
                <a:latin typeface="DejaVu Serif"/>
              </a:rPr>
              <a:t>Returns a 64 representation of the specified floating-point value :</a:t>
            </a:r>
            <a:endParaRPr kumimoji="0" lang="en-US" altLang="en-US" sz="1800" b="0" i="0" u="none" strike="noStrike" cap="none" normalizeH="0" baseline="0" dirty="0">
              <a:ln>
                <a:noFill/>
              </a:ln>
              <a:solidFill>
                <a:schemeClr val="tx1"/>
              </a:solidFill>
              <a:effectLst/>
            </a:endParaRPr>
          </a:p>
          <a:p>
            <a:pPr marL="457200" marR="0" lvl="0" indent="-45720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3200" b="0" i="0" u="none" strike="noStrike" cap="none" normalizeH="0" baseline="0" dirty="0">
                <a:ln>
                  <a:noFill/>
                </a:ln>
                <a:solidFill>
                  <a:srgbClr val="474747"/>
                </a:solidFill>
                <a:effectLst/>
                <a:latin typeface="DejaVu Serif"/>
              </a:rPr>
              <a:t>Bit 63 represents the sign of the floating-point number. </a:t>
            </a:r>
          </a:p>
          <a:p>
            <a:pPr marL="457200" marR="0" lvl="0" indent="-457200" algn="l" defTabSz="914400" rtl="0" eaLnBrk="0" fontAlgn="base" latinLnBrk="0" hangingPunct="0">
              <a:lnSpc>
                <a:spcPct val="100000"/>
              </a:lnSpc>
              <a:spcBef>
                <a:spcPct val="0"/>
              </a:spcBef>
              <a:spcAft>
                <a:spcPts val="600"/>
              </a:spcAft>
              <a:buClrTx/>
              <a:buSzTx/>
              <a:buFont typeface="Arial" panose="020B0604020202020204" pitchFamily="34" charset="0"/>
              <a:buChar char="•"/>
              <a:tabLst/>
            </a:pPr>
            <a:r>
              <a:rPr kumimoji="0" lang="en-US" altLang="en-US" sz="3200" b="0" i="0" u="none" strike="noStrike" cap="none" normalizeH="0" baseline="0" dirty="0">
                <a:ln>
                  <a:noFill/>
                </a:ln>
                <a:solidFill>
                  <a:srgbClr val="474747"/>
                </a:solidFill>
                <a:effectLst/>
                <a:latin typeface="DejaVu Serif"/>
              </a:rPr>
              <a:t>Bits 62-52 represent the exponent.</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200" b="0" i="0" u="none" strike="noStrike" cap="none" normalizeH="0" baseline="0" dirty="0">
                <a:ln>
                  <a:noFill/>
                </a:ln>
                <a:solidFill>
                  <a:srgbClr val="474747"/>
                </a:solidFill>
                <a:effectLst/>
                <a:latin typeface="DejaVu Serif"/>
              </a:rPr>
              <a:t>Bits 51-0 represent the significand (a.k.a. the mantissa) of the floating-point number.</a:t>
            </a:r>
            <a:endParaRPr kumimoji="0" lang="en-US" altLang="en-US" sz="6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329301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C70D45D2-9F3F-4819-A290-C37011945BF5}"/>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20834" name="WordArt 2">
            <a:extLst>
              <a:ext uri="{FF2B5EF4-FFF2-40B4-BE49-F238E27FC236}">
                <a16:creationId xmlns:a16="http://schemas.microsoft.com/office/drawing/2014/main" id="{830D06B0-D3D7-46E0-9BD8-EA57A6619577}"/>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120835" name="Text Box 3">
            <a:extLst>
              <a:ext uri="{FF2B5EF4-FFF2-40B4-BE49-F238E27FC236}">
                <a16:creationId xmlns:a16="http://schemas.microsoft.com/office/drawing/2014/main" id="{CDBAA474-5CCB-49A4-9581-CC60886B0FEE}"/>
              </a:ext>
            </a:extLst>
          </p:cNvPr>
          <p:cNvSpPr txBox="1">
            <a:spLocks noChangeArrowheads="1"/>
          </p:cNvSpPr>
          <p:nvPr/>
        </p:nvSpPr>
        <p:spPr bwMode="auto">
          <a:xfrm>
            <a:off x="838200" y="1828800"/>
            <a:ext cx="6986588"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a:latin typeface="Arial" panose="020B0604020202020204" pitchFamily="34" charset="0"/>
              </a:rPr>
              <a:t>Comparable x = 9.21;</a:t>
            </a:r>
          </a:p>
          <a:p>
            <a:pPr eaLnBrk="0" hangingPunct="0"/>
            <a:r>
              <a:rPr lang="en-US" altLang="en-US" sz="4000" b="1">
                <a:latin typeface="Arial" panose="020B0604020202020204" pitchFamily="34" charset="0"/>
              </a:rPr>
              <a:t>Comparable y = 8.54;</a:t>
            </a:r>
          </a:p>
          <a:p>
            <a:pPr eaLnBrk="0" hangingPunct="0"/>
            <a:endParaRPr lang="en-US" altLang="en-US" sz="4000" b="1">
              <a:latin typeface="Arial" panose="020B0604020202020204" pitchFamily="34" charset="0"/>
            </a:endParaRPr>
          </a:p>
          <a:p>
            <a:pPr eaLnBrk="0" hangingPunct="0"/>
            <a:r>
              <a:rPr lang="en-US" altLang="en-US" sz="4000" b="1">
                <a:latin typeface="Arial" panose="020B0604020202020204" pitchFamily="34" charset="0"/>
              </a:rPr>
              <a:t>out.println(x.compareTo(y));</a:t>
            </a:r>
          </a:p>
          <a:p>
            <a:pPr eaLnBrk="0" hangingPunct="0"/>
            <a:endParaRPr lang="en-US" altLang="en-US" sz="4000" b="1">
              <a:latin typeface="Arial" panose="020B0604020202020204" pitchFamily="34" charset="0"/>
            </a:endParaRPr>
          </a:p>
          <a:p>
            <a:pPr eaLnBrk="0" hangingPunct="0"/>
            <a:endParaRPr lang="en-US" altLang="en-US" sz="4000" b="1">
              <a:latin typeface="Arial" panose="020B0604020202020204" pitchFamily="34" charset="0"/>
            </a:endParaRPr>
          </a:p>
        </p:txBody>
      </p:sp>
      <p:sp>
        <p:nvSpPr>
          <p:cNvPr id="120836" name="Text Box 4">
            <a:extLst>
              <a:ext uri="{FF2B5EF4-FFF2-40B4-BE49-F238E27FC236}">
                <a16:creationId xmlns:a16="http://schemas.microsoft.com/office/drawing/2014/main" id="{CE7A51F3-04DB-45D5-AED2-137D20CC6D0B}"/>
              </a:ext>
            </a:extLst>
          </p:cNvPr>
          <p:cNvSpPr txBox="1">
            <a:spLocks noChangeArrowheads="1"/>
          </p:cNvSpPr>
          <p:nvPr/>
        </p:nvSpPr>
        <p:spPr bwMode="auto">
          <a:xfrm>
            <a:off x="6629400" y="4876800"/>
            <a:ext cx="1905000" cy="13239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3200" b="1" u="sng">
                <a:solidFill>
                  <a:srgbClr val="FF0000"/>
                </a:solidFill>
              </a:rPr>
              <a:t>OUTPUT</a:t>
            </a:r>
          </a:p>
          <a:p>
            <a:pPr algn="ctr" eaLnBrk="0" hangingPunct="0">
              <a:spcBef>
                <a:spcPct val="50000"/>
              </a:spcBef>
            </a:pPr>
            <a:r>
              <a:rPr lang="en-US" altLang="en-US" sz="3200" b="1"/>
              <a:t>1</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225136" y="1752600"/>
            <a:ext cx="8309264"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sz="3200" b="1" dirty="0">
                <a:solidFill>
                  <a:srgbClr val="941EDF"/>
                </a:solidFill>
                <a:latin typeface="Courier New" panose="02070309020205020404" pitchFamily="49" charset="0"/>
              </a:rPr>
              <a:t>public</a:t>
            </a:r>
            <a:r>
              <a:rPr lang="en-US" sz="3200" b="1" dirty="0">
                <a:solidFill>
                  <a:srgbClr val="000000"/>
                </a:solidFill>
                <a:latin typeface="Courier New" panose="02070309020205020404" pitchFamily="49" charset="0"/>
              </a:rPr>
              <a:t> </a:t>
            </a:r>
            <a:r>
              <a:rPr lang="en-US" sz="3200" b="1" dirty="0">
                <a:solidFill>
                  <a:srgbClr val="941EDF"/>
                </a:solidFill>
                <a:latin typeface="Courier New" panose="02070309020205020404" pitchFamily="49" charset="0"/>
              </a:rPr>
              <a:t>int</a:t>
            </a:r>
            <a:r>
              <a:rPr lang="en-US" sz="3200" b="1" dirty="0">
                <a:solidFill>
                  <a:srgbClr val="000000"/>
                </a:solidFill>
                <a:latin typeface="Courier New" panose="02070309020205020404" pitchFamily="49" charset="0"/>
              </a:rPr>
              <a:t> </a:t>
            </a:r>
            <a:r>
              <a:rPr lang="en-US" sz="3200" b="1" dirty="0" err="1">
                <a:solidFill>
                  <a:srgbClr val="000000"/>
                </a:solidFill>
                <a:latin typeface="Courier New" panose="02070309020205020404" pitchFamily="49" charset="0"/>
              </a:rPr>
              <a:t>compareTo</a:t>
            </a:r>
            <a:r>
              <a:rPr lang="en-US" sz="3200" b="1" dirty="0">
                <a:solidFill>
                  <a:srgbClr val="000000"/>
                </a:solidFill>
                <a:latin typeface="Courier New" panose="02070309020205020404" pitchFamily="49" charset="0"/>
              </a:rPr>
              <a:t>(Boolean b) </a:t>
            </a:r>
          </a:p>
          <a:p>
            <a:pPr>
              <a:spcBef>
                <a:spcPts val="0"/>
              </a:spcBef>
            </a:pPr>
            <a:r>
              <a:rPr lang="en-US" sz="3200" b="1" dirty="0">
                <a:solidFill>
                  <a:srgbClr val="000000"/>
                </a:solidFill>
                <a:latin typeface="Courier New" panose="02070309020205020404" pitchFamily="49" charset="0"/>
              </a:rPr>
              <a:t>{</a:t>
            </a:r>
            <a:br>
              <a:rPr lang="en-US" sz="3200" b="1" dirty="0">
                <a:solidFill>
                  <a:srgbClr val="000000"/>
                </a:solidFill>
                <a:latin typeface="Courier New" panose="02070309020205020404" pitchFamily="49" charset="0"/>
              </a:rPr>
            </a:br>
            <a:r>
              <a:rPr lang="en-US" sz="3200" b="1" dirty="0">
                <a:solidFill>
                  <a:srgbClr val="000000"/>
                </a:solidFill>
                <a:latin typeface="Courier New" panose="02070309020205020404" pitchFamily="49" charset="0"/>
              </a:rPr>
              <a:t>   </a:t>
            </a:r>
            <a:r>
              <a:rPr lang="en-US" sz="3200" b="1" dirty="0">
                <a:solidFill>
                  <a:srgbClr val="941EDF"/>
                </a:solidFill>
                <a:latin typeface="Courier New" panose="02070309020205020404" pitchFamily="49" charset="0"/>
              </a:rPr>
              <a:t>return</a:t>
            </a:r>
            <a:r>
              <a:rPr lang="en-US" sz="3200" b="1" dirty="0">
                <a:solidFill>
                  <a:srgbClr val="000000"/>
                </a:solidFill>
                <a:latin typeface="Courier New" panose="02070309020205020404" pitchFamily="49" charset="0"/>
              </a:rPr>
              <a:t> (</a:t>
            </a:r>
            <a:r>
              <a:rPr lang="en-US" sz="3200" b="1" dirty="0" err="1">
                <a:solidFill>
                  <a:srgbClr val="000000"/>
                </a:solidFill>
                <a:latin typeface="Courier New" panose="02070309020205020404" pitchFamily="49" charset="0"/>
              </a:rPr>
              <a:t>b.value</a:t>
            </a:r>
            <a:r>
              <a:rPr lang="en-US" sz="3200" b="1" dirty="0">
                <a:solidFill>
                  <a:srgbClr val="000000"/>
                </a:solidFill>
                <a:latin typeface="Courier New" panose="02070309020205020404" pitchFamily="49" charset="0"/>
              </a:rPr>
              <a:t> == value </a:t>
            </a:r>
          </a:p>
          <a:p>
            <a:pPr>
              <a:spcBef>
                <a:spcPts val="0"/>
              </a:spcBef>
            </a:pPr>
            <a:r>
              <a:rPr lang="en-US" sz="3200" b="1" dirty="0">
                <a:solidFill>
                  <a:srgbClr val="000000"/>
                </a:solidFill>
                <a:latin typeface="Courier New" panose="02070309020205020404" pitchFamily="49" charset="0"/>
              </a:rPr>
              <a:t>           ? 0 </a:t>
            </a:r>
          </a:p>
          <a:p>
            <a:pPr>
              <a:spcBef>
                <a:spcPts val="0"/>
              </a:spcBef>
            </a:pPr>
            <a:r>
              <a:rPr lang="en-US" sz="3200" b="1" dirty="0">
                <a:solidFill>
                  <a:srgbClr val="000000"/>
                </a:solidFill>
                <a:latin typeface="Courier New" panose="02070309020205020404" pitchFamily="49" charset="0"/>
              </a:rPr>
              <a:t>           : (value ? 1 : -1));</a:t>
            </a:r>
            <a:br>
              <a:rPr lang="en-US" sz="3200" b="1" dirty="0">
                <a:solidFill>
                  <a:srgbClr val="000000"/>
                </a:solidFill>
                <a:latin typeface="Courier New" panose="02070309020205020404" pitchFamily="49" charset="0"/>
              </a:rPr>
            </a:br>
            <a:r>
              <a:rPr lang="en-US" sz="3200" b="1" dirty="0">
                <a:solidFill>
                  <a:srgbClr val="000000"/>
                </a:solidFill>
                <a:latin typeface="Courier New" panose="02070309020205020404" pitchFamily="49" charset="0"/>
              </a:rPr>
              <a:t>}</a:t>
            </a:r>
            <a:endParaRPr lang="en-US" altLang="en-US" sz="6600" b="1" dirty="0">
              <a:latin typeface="Consolas" panose="020B0609020204030204" pitchFamily="49" charset="0"/>
            </a:endParaRPr>
          </a:p>
        </p:txBody>
      </p:sp>
      <p:sp>
        <p:nvSpPr>
          <p:cNvPr id="2" name="TextBox 1">
            <a:extLst>
              <a:ext uri="{FF2B5EF4-FFF2-40B4-BE49-F238E27FC236}">
                <a16:creationId xmlns:a16="http://schemas.microsoft.com/office/drawing/2014/main" id="{417B5989-8C90-CB5D-D201-35531C5158DE}"/>
              </a:ext>
            </a:extLst>
          </p:cNvPr>
          <p:cNvSpPr txBox="1"/>
          <p:nvPr/>
        </p:nvSpPr>
        <p:spPr>
          <a:xfrm>
            <a:off x="0" y="152400"/>
            <a:ext cx="9144000" cy="954107"/>
          </a:xfrm>
          <a:prstGeom prst="rect">
            <a:avLst/>
          </a:prstGeom>
          <a:noFill/>
        </p:spPr>
        <p:txBody>
          <a:bodyPr wrap="square" rtlCol="0">
            <a:spAutoFit/>
          </a:bodyPr>
          <a:lstStyle/>
          <a:p>
            <a:r>
              <a:rPr lang="en-US" sz="2800" dirty="0">
                <a:solidFill>
                  <a:srgbClr val="0000FF"/>
                </a:solidFill>
                <a:latin typeface="Courier New" panose="02070309020205020404" pitchFamily="49" charset="0"/>
              </a:rPr>
              <a:t>class</a:t>
            </a:r>
            <a:r>
              <a:rPr lang="en-US" sz="2800" b="1" dirty="0">
                <a:solidFill>
                  <a:srgbClr val="0000FF"/>
                </a:solidFill>
                <a:latin typeface="Courier New" panose="02070309020205020404" pitchFamily="49" charset="0"/>
              </a:rPr>
              <a:t> Boolean </a:t>
            </a:r>
            <a:r>
              <a:rPr lang="en-US" sz="2800" dirty="0">
                <a:solidFill>
                  <a:srgbClr val="0000FF"/>
                </a:solidFill>
                <a:latin typeface="Courier New" panose="02070309020205020404" pitchFamily="49" charset="0"/>
              </a:rPr>
              <a:t>implements</a:t>
            </a:r>
            <a:r>
              <a:rPr lang="en-US" sz="2800" b="1" dirty="0">
                <a:solidFill>
                  <a:srgbClr val="0000FF"/>
                </a:solidFill>
                <a:latin typeface="Courier New" panose="02070309020205020404" pitchFamily="49" charset="0"/>
              </a:rPr>
              <a:t> </a:t>
            </a:r>
          </a:p>
          <a:p>
            <a:r>
              <a:rPr lang="en-US" sz="2800" b="1" dirty="0">
                <a:solidFill>
                  <a:srgbClr val="0000FF"/>
                </a:solidFill>
                <a:latin typeface="Courier New" panose="02070309020205020404" pitchFamily="49" charset="0"/>
              </a:rPr>
              <a:t>                       Comparable&lt;Boolean&gt;</a:t>
            </a:r>
            <a:endParaRPr lang="en-US" sz="3200" b="1" dirty="0">
              <a:solidFill>
                <a:srgbClr val="0000FF"/>
              </a:solidFill>
            </a:endParaRPr>
          </a:p>
        </p:txBody>
      </p:sp>
    </p:spTree>
    <p:extLst>
      <p:ext uri="{BB962C8B-B14F-4D97-AF65-F5344CB8AC3E}">
        <p14:creationId xmlns:p14="http://schemas.microsoft.com/office/powerpoint/2010/main" val="5438343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225136" y="1752600"/>
            <a:ext cx="85344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sz="2400" b="1" dirty="0">
                <a:solidFill>
                  <a:srgbClr val="941EDF"/>
                </a:solidFill>
                <a:latin typeface="Courier New" panose="02070309020205020404" pitchFamily="49" charset="0"/>
              </a:rPr>
              <a:t>public</a:t>
            </a: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int</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compareTo</a:t>
            </a:r>
            <a:r>
              <a:rPr lang="en-US" sz="2400" b="1" dirty="0">
                <a:solidFill>
                  <a:srgbClr val="000000"/>
                </a:solidFill>
                <a:latin typeface="Courier New" panose="02070309020205020404" pitchFamily="49" charset="0"/>
              </a:rPr>
              <a:t>(Date </a:t>
            </a:r>
            <a:r>
              <a:rPr lang="en-US" sz="2400" b="1" dirty="0" err="1">
                <a:solidFill>
                  <a:srgbClr val="000000"/>
                </a:solidFill>
                <a:latin typeface="Courier New" panose="02070309020205020404" pitchFamily="49" charset="0"/>
              </a:rPr>
              <a:t>otherDate</a:t>
            </a:r>
            <a:r>
              <a:rPr lang="en-US" sz="2400" b="1" dirty="0">
                <a:solidFill>
                  <a:srgbClr val="000000"/>
                </a:solidFill>
                <a:latin typeface="Courier New" panose="02070309020205020404" pitchFamily="49" charset="0"/>
              </a:rPr>
              <a:t>) </a:t>
            </a:r>
          </a:p>
          <a:p>
            <a:pPr>
              <a:spcBef>
                <a:spcPts val="0"/>
              </a:spcBef>
            </a:pP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long</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thisTime</a:t>
            </a:r>
            <a:r>
              <a:rPr lang="en-US" sz="2400" b="1" dirty="0">
                <a:solidFill>
                  <a:srgbClr val="000000"/>
                </a:solidFill>
                <a:latin typeface="Courier New" panose="02070309020205020404" pitchFamily="49" charset="0"/>
              </a:rPr>
              <a:t> = </a:t>
            </a:r>
            <a:r>
              <a:rPr lang="en-US" sz="2400" b="1" dirty="0" err="1">
                <a:solidFill>
                  <a:srgbClr val="000000"/>
                </a:solidFill>
                <a:latin typeface="Courier New" panose="02070309020205020404" pitchFamily="49" charset="0"/>
              </a:rPr>
              <a:t>getMillisOf</a:t>
            </a:r>
            <a:r>
              <a:rPr lang="en-US" sz="2400" b="1" dirty="0">
                <a:solidFill>
                  <a:srgbClr val="000000"/>
                </a:solidFill>
                <a:latin typeface="Courier New" panose="02070309020205020404" pitchFamily="49" charset="0"/>
              </a:rPr>
              <a:t>(</a:t>
            </a:r>
            <a:r>
              <a:rPr lang="en-US" sz="2400" b="1" dirty="0">
                <a:solidFill>
                  <a:srgbClr val="941EDF"/>
                </a:solidFill>
                <a:latin typeface="Courier New" panose="02070309020205020404" pitchFamily="49" charset="0"/>
              </a:rPr>
              <a:t>this</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long</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otherTime</a:t>
            </a:r>
            <a:r>
              <a:rPr lang="en-US" sz="2400" b="1" dirty="0">
                <a:solidFill>
                  <a:srgbClr val="000000"/>
                </a:solidFill>
                <a:latin typeface="Courier New" panose="02070309020205020404" pitchFamily="49" charset="0"/>
              </a:rPr>
              <a:t> = </a:t>
            </a:r>
            <a:r>
              <a:rPr lang="en-US" sz="2400" b="1" dirty="0" err="1">
                <a:solidFill>
                  <a:srgbClr val="000000"/>
                </a:solidFill>
                <a:latin typeface="Courier New" panose="02070309020205020404" pitchFamily="49" charset="0"/>
              </a:rPr>
              <a:t>getMillisOf</a:t>
            </a:r>
            <a:r>
              <a:rPr lang="en-US" sz="2400" b="1" dirty="0">
                <a:solidFill>
                  <a:srgbClr val="000000"/>
                </a:solidFill>
                <a:latin typeface="Courier New" panose="02070309020205020404" pitchFamily="49" charset="0"/>
              </a:rPr>
              <a:t>(</a:t>
            </a:r>
            <a:r>
              <a:rPr lang="en-US" sz="2400" b="1" dirty="0" err="1">
                <a:solidFill>
                  <a:srgbClr val="000000"/>
                </a:solidFill>
                <a:latin typeface="Courier New" panose="02070309020205020404" pitchFamily="49" charset="0"/>
              </a:rPr>
              <a:t>otherDate</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return</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thisTime</a:t>
            </a:r>
            <a:r>
              <a:rPr lang="en-US" sz="2400" b="1" dirty="0">
                <a:solidFill>
                  <a:srgbClr val="000000"/>
                </a:solidFill>
                <a:latin typeface="Courier New" panose="02070309020205020404" pitchFamily="49" charset="0"/>
              </a:rPr>
              <a:t>&lt;</a:t>
            </a:r>
            <a:r>
              <a:rPr lang="en-US" sz="2400" b="1" dirty="0" err="1">
                <a:solidFill>
                  <a:srgbClr val="000000"/>
                </a:solidFill>
                <a:latin typeface="Courier New" panose="02070309020205020404" pitchFamily="49" charset="0"/>
              </a:rPr>
              <a:t>otherTime</a:t>
            </a:r>
            <a:r>
              <a:rPr lang="en-US" sz="2400" b="1" dirty="0">
                <a:solidFill>
                  <a:srgbClr val="000000"/>
                </a:solidFill>
                <a:latin typeface="Courier New" panose="02070309020205020404" pitchFamily="49" charset="0"/>
              </a:rPr>
              <a:t> </a:t>
            </a:r>
          </a:p>
          <a:p>
            <a:pPr>
              <a:spcBef>
                <a:spcPts val="0"/>
              </a:spcBef>
            </a:pPr>
            <a:r>
              <a:rPr lang="en-US" sz="2400" b="1" dirty="0">
                <a:solidFill>
                  <a:srgbClr val="000000"/>
                </a:solidFill>
                <a:latin typeface="Courier New" panose="02070309020205020404" pitchFamily="49" charset="0"/>
              </a:rPr>
              <a:t>           ? -1 </a:t>
            </a:r>
          </a:p>
          <a:p>
            <a:pPr>
              <a:spcBef>
                <a:spcPts val="0"/>
              </a:spcBef>
            </a:pPr>
            <a:r>
              <a:rPr lang="en-US" sz="2400" b="1" dirty="0">
                <a:solidFill>
                  <a:srgbClr val="000000"/>
                </a:solidFill>
                <a:latin typeface="Courier New" panose="02070309020205020404" pitchFamily="49" charset="0"/>
              </a:rPr>
              <a:t>           : (</a:t>
            </a:r>
            <a:r>
              <a:rPr lang="en-US" sz="2400" b="1" dirty="0" err="1">
                <a:solidFill>
                  <a:srgbClr val="000000"/>
                </a:solidFill>
                <a:latin typeface="Courier New" panose="02070309020205020404" pitchFamily="49" charset="0"/>
              </a:rPr>
              <a:t>thisTime</a:t>
            </a:r>
            <a:r>
              <a:rPr lang="en-US" sz="2400" b="1" dirty="0">
                <a:solidFill>
                  <a:srgbClr val="000000"/>
                </a:solidFill>
                <a:latin typeface="Courier New" panose="02070309020205020404" pitchFamily="49" charset="0"/>
              </a:rPr>
              <a:t>==</a:t>
            </a:r>
            <a:r>
              <a:rPr lang="en-US" sz="2400" b="1" dirty="0" err="1">
                <a:solidFill>
                  <a:srgbClr val="000000"/>
                </a:solidFill>
                <a:latin typeface="Courier New" panose="02070309020205020404" pitchFamily="49" charset="0"/>
              </a:rPr>
              <a:t>otherTime</a:t>
            </a:r>
            <a:r>
              <a:rPr lang="en-US" sz="2400" b="1" dirty="0">
                <a:solidFill>
                  <a:srgbClr val="000000"/>
                </a:solidFill>
                <a:latin typeface="Courier New" panose="02070309020205020404" pitchFamily="49" charset="0"/>
              </a:rPr>
              <a:t> ? 0 : 1));</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a:t>
            </a:r>
            <a:endParaRPr lang="en-US" altLang="en-US" sz="8000" b="1" dirty="0">
              <a:latin typeface="Consolas" panose="020B0609020204030204" pitchFamily="49" charset="0"/>
            </a:endParaRPr>
          </a:p>
        </p:txBody>
      </p:sp>
      <p:sp>
        <p:nvSpPr>
          <p:cNvPr id="2" name="TextBox 1">
            <a:extLst>
              <a:ext uri="{FF2B5EF4-FFF2-40B4-BE49-F238E27FC236}">
                <a16:creationId xmlns:a16="http://schemas.microsoft.com/office/drawing/2014/main" id="{417B5989-8C90-CB5D-D201-35531C5158DE}"/>
              </a:ext>
            </a:extLst>
          </p:cNvPr>
          <p:cNvSpPr txBox="1"/>
          <p:nvPr/>
        </p:nvSpPr>
        <p:spPr>
          <a:xfrm>
            <a:off x="304800" y="304800"/>
            <a:ext cx="8534400" cy="523220"/>
          </a:xfrm>
          <a:prstGeom prst="rect">
            <a:avLst/>
          </a:prstGeom>
          <a:noFill/>
        </p:spPr>
        <p:txBody>
          <a:bodyPr wrap="square" rtlCol="0">
            <a:spAutoFit/>
          </a:bodyPr>
          <a:lstStyle/>
          <a:p>
            <a:r>
              <a:rPr lang="en-US" sz="2800" dirty="0">
                <a:solidFill>
                  <a:srgbClr val="0000FF"/>
                </a:solidFill>
                <a:latin typeface="Courier New" panose="02070309020205020404" pitchFamily="49" charset="0"/>
              </a:rPr>
              <a:t>class</a:t>
            </a:r>
            <a:r>
              <a:rPr lang="en-US" sz="2800" b="1" dirty="0">
                <a:solidFill>
                  <a:srgbClr val="0000FF"/>
                </a:solidFill>
                <a:latin typeface="Courier New" panose="02070309020205020404" pitchFamily="49" charset="0"/>
              </a:rPr>
              <a:t> Date </a:t>
            </a:r>
            <a:r>
              <a:rPr lang="en-US" sz="2800" dirty="0">
                <a:solidFill>
                  <a:srgbClr val="0000FF"/>
                </a:solidFill>
                <a:latin typeface="Courier New" panose="02070309020205020404" pitchFamily="49" charset="0"/>
              </a:rPr>
              <a:t>implements</a:t>
            </a:r>
            <a:r>
              <a:rPr lang="en-US" sz="2800" b="1" dirty="0">
                <a:solidFill>
                  <a:srgbClr val="0000FF"/>
                </a:solidFill>
                <a:latin typeface="Courier New" panose="02070309020205020404" pitchFamily="49" charset="0"/>
              </a:rPr>
              <a:t> Comparable&lt;Date&gt;</a:t>
            </a:r>
            <a:endParaRPr lang="en-US" sz="3200" b="1" dirty="0">
              <a:solidFill>
                <a:srgbClr val="0000FF"/>
              </a:solidFill>
            </a:endParaRPr>
          </a:p>
        </p:txBody>
      </p:sp>
    </p:spTree>
    <p:extLst>
      <p:ext uri="{BB962C8B-B14F-4D97-AF65-F5344CB8AC3E}">
        <p14:creationId xmlns:p14="http://schemas.microsoft.com/office/powerpoint/2010/main" val="12497158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225136" y="1752600"/>
            <a:ext cx="8309264"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sz="2000" dirty="0">
                <a:solidFill>
                  <a:srgbClr val="941EDF"/>
                </a:solidFill>
                <a:latin typeface="Courier New" panose="02070309020205020404" pitchFamily="49" charset="0"/>
              </a:rPr>
              <a:t>public</a:t>
            </a: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int</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compareTo</a:t>
            </a:r>
            <a:r>
              <a:rPr lang="en-US" sz="2000" dirty="0">
                <a:solidFill>
                  <a:srgbClr val="000000"/>
                </a:solidFill>
                <a:latin typeface="Courier New" panose="02070309020205020404" pitchFamily="49" charset="0"/>
              </a:rPr>
              <a:t>(</a:t>
            </a:r>
            <a:r>
              <a:rPr lang="en-US" sz="2000" dirty="0" err="1">
                <a:solidFill>
                  <a:srgbClr val="000000"/>
                </a:solidFill>
                <a:latin typeface="Courier New" panose="02070309020205020404" pitchFamily="49" charset="0"/>
              </a:rPr>
              <a:t>ChronoLocalDate</a:t>
            </a:r>
            <a:r>
              <a:rPr lang="en-US" sz="2000" dirty="0">
                <a:solidFill>
                  <a:srgbClr val="000000"/>
                </a:solidFill>
                <a:latin typeface="Courier New" panose="02070309020205020404" pitchFamily="49" charset="0"/>
              </a:rPr>
              <a:t> other)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if</a:t>
            </a:r>
            <a:r>
              <a:rPr lang="en-US" sz="2000" dirty="0">
                <a:solidFill>
                  <a:srgbClr val="000000"/>
                </a:solidFill>
                <a:latin typeface="Courier New" panose="02070309020205020404" pitchFamily="49" charset="0"/>
              </a:rPr>
              <a:t> (other </a:t>
            </a:r>
            <a:r>
              <a:rPr lang="en-US" sz="2000" dirty="0" err="1">
                <a:solidFill>
                  <a:srgbClr val="941EDF"/>
                </a:solidFill>
                <a:latin typeface="Courier New" panose="02070309020205020404" pitchFamily="49" charset="0"/>
              </a:rPr>
              <a:t>instanceof</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LocalDate</a:t>
            </a:r>
            <a:r>
              <a:rPr lang="en-US" sz="2000" dirty="0">
                <a:solidFill>
                  <a:srgbClr val="000000"/>
                </a:solidFill>
                <a:latin typeface="Courier New" panose="02070309020205020404" pitchFamily="49" charset="0"/>
              </a:rPr>
              <a:t>)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return</a:t>
            </a:r>
            <a:r>
              <a:rPr lang="en-US" sz="2000" dirty="0">
                <a:solidFill>
                  <a:srgbClr val="000000"/>
                </a:solidFill>
                <a:latin typeface="Courier New" panose="02070309020205020404" pitchFamily="49" charset="0"/>
              </a:rPr>
              <a:t> compareTo0((</a:t>
            </a:r>
            <a:r>
              <a:rPr lang="en-US" sz="2000" dirty="0" err="1">
                <a:solidFill>
                  <a:srgbClr val="000000"/>
                </a:solidFill>
                <a:latin typeface="Courier New" panose="02070309020205020404" pitchFamily="49" charset="0"/>
              </a:rPr>
              <a:t>LocalDate</a:t>
            </a:r>
            <a:r>
              <a:rPr lang="en-US" sz="2000" dirty="0">
                <a:solidFill>
                  <a:srgbClr val="000000"/>
                </a:solidFill>
                <a:latin typeface="Courier New" panose="02070309020205020404" pitchFamily="49" charset="0"/>
              </a:rPr>
              <a:t>) other);</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return</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ChronoLocalDate.</a:t>
            </a:r>
            <a:r>
              <a:rPr lang="en-US" sz="2000" dirty="0" err="1">
                <a:solidFill>
                  <a:srgbClr val="941EDF"/>
                </a:solidFill>
                <a:latin typeface="Courier New" panose="02070309020205020404" pitchFamily="49" charset="0"/>
              </a:rPr>
              <a:t>super</a:t>
            </a:r>
            <a:r>
              <a:rPr lang="en-US" sz="2000" dirty="0" err="1">
                <a:solidFill>
                  <a:srgbClr val="000000"/>
                </a:solidFill>
                <a:latin typeface="Courier New" panose="02070309020205020404" pitchFamily="49" charset="0"/>
              </a:rPr>
              <a:t>.compareTo</a:t>
            </a:r>
            <a:r>
              <a:rPr lang="en-US" sz="2000" dirty="0">
                <a:solidFill>
                  <a:srgbClr val="000000"/>
                </a:solidFill>
                <a:latin typeface="Courier New" panose="02070309020205020404" pitchFamily="49" charset="0"/>
              </a:rPr>
              <a:t>(other);</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a:t>
            </a:r>
          </a:p>
          <a:p>
            <a:pPr>
              <a:spcBef>
                <a:spcPts val="0"/>
              </a:spcBef>
            </a:pPr>
            <a:endParaRPr lang="en-US" sz="2000" dirty="0">
              <a:solidFill>
                <a:srgbClr val="000000"/>
              </a:solidFill>
              <a:latin typeface="Courier New" panose="02070309020205020404" pitchFamily="49" charset="0"/>
            </a:endParaRPr>
          </a:p>
          <a:p>
            <a:pPr>
              <a:spcBef>
                <a:spcPts val="0"/>
              </a:spcBef>
            </a:pPr>
            <a:r>
              <a:rPr lang="en-US" sz="2000" dirty="0">
                <a:solidFill>
                  <a:srgbClr val="941EDF"/>
                </a:solidFill>
                <a:latin typeface="Courier New" panose="02070309020205020404" pitchFamily="49" charset="0"/>
              </a:rPr>
              <a:t>int</a:t>
            </a:r>
            <a:r>
              <a:rPr lang="en-US" sz="2000" dirty="0">
                <a:solidFill>
                  <a:srgbClr val="000000"/>
                </a:solidFill>
                <a:latin typeface="Courier New" panose="02070309020205020404" pitchFamily="49" charset="0"/>
              </a:rPr>
              <a:t> compareTo0(</a:t>
            </a:r>
            <a:r>
              <a:rPr lang="en-US" sz="2000" dirty="0" err="1">
                <a:solidFill>
                  <a:srgbClr val="000000"/>
                </a:solidFill>
                <a:latin typeface="Courier New" panose="02070309020205020404" pitchFamily="49" charset="0"/>
              </a:rPr>
              <a:t>LocalDate</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otherDate</a:t>
            </a:r>
            <a:r>
              <a:rPr lang="en-US" sz="2000" dirty="0">
                <a:solidFill>
                  <a:srgbClr val="000000"/>
                </a:solidFill>
                <a:latin typeface="Courier New" panose="02070309020205020404" pitchFamily="49" charset="0"/>
              </a:rPr>
              <a:t>)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int</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cmp</a:t>
            </a:r>
            <a:r>
              <a:rPr lang="en-US" sz="2000" dirty="0">
                <a:solidFill>
                  <a:srgbClr val="000000"/>
                </a:solidFill>
                <a:latin typeface="Courier New" panose="02070309020205020404" pitchFamily="49" charset="0"/>
              </a:rPr>
              <a:t> = (year - </a:t>
            </a:r>
            <a:r>
              <a:rPr lang="en-US" sz="2000" dirty="0" err="1">
                <a:solidFill>
                  <a:srgbClr val="000000"/>
                </a:solidFill>
                <a:latin typeface="Courier New" panose="02070309020205020404" pitchFamily="49" charset="0"/>
              </a:rPr>
              <a:t>otherDate.year</a:t>
            </a:r>
            <a:r>
              <a:rPr lang="en-US" sz="2000" dirty="0">
                <a:solidFill>
                  <a:srgbClr val="000000"/>
                </a:solidFill>
                <a:latin typeface="Courier New" panose="02070309020205020404" pitchFamily="49" charset="0"/>
              </a:rPr>
              <a:t>);</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if</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cmp</a:t>
            </a:r>
            <a:r>
              <a:rPr lang="en-US" sz="2000" dirty="0">
                <a:solidFill>
                  <a:srgbClr val="000000"/>
                </a:solidFill>
                <a:latin typeface="Courier New" panose="02070309020205020404" pitchFamily="49" charset="0"/>
              </a:rPr>
              <a:t> == 0)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cmp</a:t>
            </a:r>
            <a:r>
              <a:rPr lang="en-US" sz="2000" dirty="0">
                <a:solidFill>
                  <a:srgbClr val="000000"/>
                </a:solidFill>
                <a:latin typeface="Courier New" panose="02070309020205020404" pitchFamily="49" charset="0"/>
              </a:rPr>
              <a:t> = (month - </a:t>
            </a:r>
            <a:r>
              <a:rPr lang="en-US" sz="2000" dirty="0" err="1">
                <a:solidFill>
                  <a:srgbClr val="000000"/>
                </a:solidFill>
                <a:latin typeface="Courier New" panose="02070309020205020404" pitchFamily="49" charset="0"/>
              </a:rPr>
              <a:t>otherDate.month</a:t>
            </a:r>
            <a:r>
              <a:rPr lang="en-US" sz="2000" dirty="0">
                <a:solidFill>
                  <a:srgbClr val="000000"/>
                </a:solidFill>
                <a:latin typeface="Courier New" panose="02070309020205020404" pitchFamily="49" charset="0"/>
              </a:rPr>
              <a:t>);</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if</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cmp</a:t>
            </a:r>
            <a:r>
              <a:rPr lang="en-US" sz="2000" dirty="0">
                <a:solidFill>
                  <a:srgbClr val="000000"/>
                </a:solidFill>
                <a:latin typeface="Courier New" panose="02070309020205020404" pitchFamily="49" charset="0"/>
              </a:rPr>
              <a:t> == 0)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cmp</a:t>
            </a:r>
            <a:r>
              <a:rPr lang="en-US" sz="2000" dirty="0">
                <a:solidFill>
                  <a:srgbClr val="000000"/>
                </a:solidFill>
                <a:latin typeface="Courier New" panose="02070309020205020404" pitchFamily="49" charset="0"/>
              </a:rPr>
              <a:t> = (day - </a:t>
            </a:r>
            <a:r>
              <a:rPr lang="en-US" sz="2000" dirty="0" err="1">
                <a:solidFill>
                  <a:srgbClr val="000000"/>
                </a:solidFill>
                <a:latin typeface="Courier New" panose="02070309020205020404" pitchFamily="49" charset="0"/>
              </a:rPr>
              <a:t>otherDate.day</a:t>
            </a:r>
            <a:r>
              <a:rPr lang="en-US" sz="2000" dirty="0">
                <a:solidFill>
                  <a:srgbClr val="000000"/>
                </a:solidFill>
                <a:latin typeface="Courier New" panose="02070309020205020404" pitchFamily="49" charset="0"/>
              </a:rPr>
              <a:t>);</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   </a:t>
            </a:r>
            <a:r>
              <a:rPr lang="en-US" sz="2000" dirty="0">
                <a:solidFill>
                  <a:srgbClr val="941EDF"/>
                </a:solidFill>
                <a:latin typeface="Courier New" panose="02070309020205020404" pitchFamily="49" charset="0"/>
              </a:rPr>
              <a:t>return</a:t>
            </a:r>
            <a:r>
              <a:rPr lang="en-US" sz="2000" dirty="0">
                <a:solidFill>
                  <a:srgbClr val="000000"/>
                </a:solidFill>
                <a:latin typeface="Courier New" panose="02070309020205020404" pitchFamily="49" charset="0"/>
              </a:rPr>
              <a:t> </a:t>
            </a:r>
            <a:r>
              <a:rPr lang="en-US" sz="2000" dirty="0" err="1">
                <a:solidFill>
                  <a:srgbClr val="000000"/>
                </a:solidFill>
                <a:latin typeface="Courier New" panose="02070309020205020404" pitchFamily="49" charset="0"/>
              </a:rPr>
              <a:t>cmp</a:t>
            </a:r>
            <a:r>
              <a:rPr lang="en-US" sz="2000" dirty="0">
                <a:solidFill>
                  <a:srgbClr val="000000"/>
                </a:solidFill>
                <a:latin typeface="Courier New" panose="02070309020205020404" pitchFamily="49" charset="0"/>
              </a:rPr>
              <a:t>;</a:t>
            </a:r>
            <a:br>
              <a:rPr lang="en-US" sz="2000" dirty="0">
                <a:solidFill>
                  <a:srgbClr val="000000"/>
                </a:solidFill>
                <a:latin typeface="Courier New" panose="02070309020205020404" pitchFamily="49" charset="0"/>
              </a:rPr>
            </a:br>
            <a:r>
              <a:rPr lang="en-US" sz="2000" dirty="0">
                <a:solidFill>
                  <a:srgbClr val="000000"/>
                </a:solidFill>
                <a:latin typeface="Courier New" panose="02070309020205020404" pitchFamily="49" charset="0"/>
              </a:rPr>
              <a:t>}</a:t>
            </a:r>
          </a:p>
        </p:txBody>
      </p:sp>
      <p:sp>
        <p:nvSpPr>
          <p:cNvPr id="2" name="TextBox 1">
            <a:extLst>
              <a:ext uri="{FF2B5EF4-FFF2-40B4-BE49-F238E27FC236}">
                <a16:creationId xmlns:a16="http://schemas.microsoft.com/office/drawing/2014/main" id="{417B5989-8C90-CB5D-D201-35531C5158DE}"/>
              </a:ext>
            </a:extLst>
          </p:cNvPr>
          <p:cNvSpPr txBox="1"/>
          <p:nvPr/>
        </p:nvSpPr>
        <p:spPr>
          <a:xfrm>
            <a:off x="349827" y="457200"/>
            <a:ext cx="8444346" cy="830997"/>
          </a:xfrm>
          <a:prstGeom prst="rect">
            <a:avLst/>
          </a:prstGeom>
          <a:noFill/>
        </p:spPr>
        <p:txBody>
          <a:bodyPr wrap="square" rtlCol="0">
            <a:spAutoFit/>
          </a:bodyPr>
          <a:lstStyle/>
          <a:p>
            <a:r>
              <a:rPr lang="en-US" sz="2400" dirty="0">
                <a:solidFill>
                  <a:srgbClr val="0000FF"/>
                </a:solidFill>
                <a:latin typeface="Courier New" panose="02070309020205020404" pitchFamily="49" charset="0"/>
              </a:rPr>
              <a:t>public final class </a:t>
            </a:r>
            <a:r>
              <a:rPr lang="en-US" sz="2400" b="1" dirty="0" err="1">
                <a:solidFill>
                  <a:srgbClr val="0000FF"/>
                </a:solidFill>
                <a:latin typeface="Courier New" panose="02070309020205020404" pitchFamily="49" charset="0"/>
              </a:rPr>
              <a:t>LocalDate</a:t>
            </a:r>
            <a:br>
              <a:rPr lang="en-US" sz="2400" dirty="0">
                <a:solidFill>
                  <a:srgbClr val="0000FF"/>
                </a:solidFill>
                <a:latin typeface="Courier New" panose="02070309020205020404" pitchFamily="49" charset="0"/>
              </a:rPr>
            </a:br>
            <a:r>
              <a:rPr lang="en-US" sz="2400" dirty="0">
                <a:solidFill>
                  <a:srgbClr val="0000FF"/>
                </a:solidFill>
                <a:latin typeface="Courier New" panose="02070309020205020404" pitchFamily="49" charset="0"/>
              </a:rPr>
              <a:t>                   implements </a:t>
            </a:r>
            <a:r>
              <a:rPr lang="en-US" sz="2400" b="1" dirty="0" err="1">
                <a:solidFill>
                  <a:srgbClr val="0000FF"/>
                </a:solidFill>
                <a:latin typeface="Courier New" panose="02070309020205020404" pitchFamily="49" charset="0"/>
              </a:rPr>
              <a:t>ChronoLocalDate</a:t>
            </a:r>
            <a:endParaRPr lang="en-US" sz="4000" b="1" dirty="0">
              <a:solidFill>
                <a:srgbClr val="0000FF"/>
              </a:solidFill>
            </a:endParaRPr>
          </a:p>
        </p:txBody>
      </p:sp>
    </p:spTree>
    <p:extLst>
      <p:ext uri="{BB962C8B-B14F-4D97-AF65-F5344CB8AC3E}">
        <p14:creationId xmlns:p14="http://schemas.microsoft.com/office/powerpoint/2010/main" val="344799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9" name="Text Box 19">
            <a:extLst>
              <a:ext uri="{FF2B5EF4-FFF2-40B4-BE49-F238E27FC236}">
                <a16:creationId xmlns:a16="http://schemas.microsoft.com/office/drawing/2014/main" id="{2BFE4B27-D12C-4C9E-9CF1-9C9C17C12694}"/>
              </a:ext>
            </a:extLst>
          </p:cNvPr>
          <p:cNvSpPr txBox="1">
            <a:spLocks noChangeArrowheads="1"/>
          </p:cNvSpPr>
          <p:nvPr/>
        </p:nvSpPr>
        <p:spPr bwMode="auto">
          <a:xfrm>
            <a:off x="0" y="1752600"/>
            <a:ext cx="91440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0"/>
              </a:spcBef>
            </a:pPr>
            <a:r>
              <a:rPr lang="en-US" sz="2400" b="1" dirty="0">
                <a:solidFill>
                  <a:srgbClr val="941EDF"/>
                </a:solidFill>
                <a:latin typeface="Courier New" panose="02070309020205020404" pitchFamily="49" charset="0"/>
              </a:rPr>
              <a:t>default</a:t>
            </a: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int</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compareTo</a:t>
            </a:r>
            <a:r>
              <a:rPr lang="en-US" sz="2400" b="1" dirty="0">
                <a:solidFill>
                  <a:srgbClr val="000000"/>
                </a:solidFill>
                <a:latin typeface="Courier New" panose="02070309020205020404" pitchFamily="49" charset="0"/>
              </a:rPr>
              <a:t>(</a:t>
            </a:r>
            <a:r>
              <a:rPr lang="en-US" sz="2400" b="1" dirty="0" err="1">
                <a:solidFill>
                  <a:srgbClr val="000000"/>
                </a:solidFill>
                <a:latin typeface="Courier New" panose="02070309020205020404" pitchFamily="49" charset="0"/>
              </a:rPr>
              <a:t>ChronoLocalDate</a:t>
            </a:r>
            <a:r>
              <a:rPr lang="en-US" sz="2400" b="1" dirty="0">
                <a:solidFill>
                  <a:srgbClr val="000000"/>
                </a:solidFill>
                <a:latin typeface="Courier New" panose="02070309020205020404" pitchFamily="49" charset="0"/>
              </a:rPr>
              <a:t> other)</a:t>
            </a:r>
          </a:p>
          <a:p>
            <a:pPr>
              <a:spcBef>
                <a:spcPts val="0"/>
              </a:spcBef>
            </a:pP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int</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cmp</a:t>
            </a:r>
            <a:r>
              <a:rPr lang="en-US" sz="2400" b="1" dirty="0">
                <a:solidFill>
                  <a:srgbClr val="000000"/>
                </a:solidFill>
                <a:latin typeface="Courier New" panose="02070309020205020404" pitchFamily="49" charset="0"/>
              </a:rPr>
              <a:t> = </a:t>
            </a:r>
            <a:r>
              <a:rPr lang="en-US" sz="2400" b="1" dirty="0" err="1">
                <a:solidFill>
                  <a:srgbClr val="000000"/>
                </a:solidFill>
                <a:latin typeface="Courier New" panose="02070309020205020404" pitchFamily="49" charset="0"/>
              </a:rPr>
              <a:t>Long.compare</a:t>
            </a:r>
            <a:r>
              <a:rPr lang="en-US" sz="2400" b="1" dirty="0">
                <a:solidFill>
                  <a:srgbClr val="000000"/>
                </a:solidFill>
                <a:latin typeface="Courier New" panose="02070309020205020404" pitchFamily="49" charset="0"/>
              </a:rPr>
              <a:t>(</a:t>
            </a:r>
            <a:r>
              <a:rPr lang="en-US" sz="2400" b="1" dirty="0" err="1">
                <a:solidFill>
                  <a:srgbClr val="000000"/>
                </a:solidFill>
                <a:latin typeface="Courier New" panose="02070309020205020404" pitchFamily="49" charset="0"/>
              </a:rPr>
              <a:t>toEpochDay</a:t>
            </a:r>
            <a:r>
              <a:rPr lang="en-US" sz="2400" b="1" dirty="0">
                <a:solidFill>
                  <a:srgbClr val="000000"/>
                </a:solidFill>
                <a:latin typeface="Courier New" panose="02070309020205020404" pitchFamily="49" charset="0"/>
              </a:rPr>
              <a:t>(), </a:t>
            </a:r>
          </a:p>
          <a:p>
            <a:pPr>
              <a:spcBef>
                <a:spcPts val="0"/>
              </a:spcBef>
            </a:pP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other.toEpochDay</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if</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cmp</a:t>
            </a:r>
            <a:r>
              <a:rPr lang="en-US" sz="2400" b="1" dirty="0">
                <a:solidFill>
                  <a:srgbClr val="000000"/>
                </a:solidFill>
                <a:latin typeface="Courier New" panose="02070309020205020404" pitchFamily="49" charset="0"/>
              </a:rPr>
              <a:t> == 0) {</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cmp</a:t>
            </a:r>
            <a:r>
              <a:rPr lang="en-US" sz="2400" b="1" dirty="0">
                <a:solidFill>
                  <a:srgbClr val="000000"/>
                </a:solidFill>
                <a:latin typeface="Courier New" panose="02070309020205020404" pitchFamily="49" charset="0"/>
              </a:rPr>
              <a:t> = </a:t>
            </a:r>
            <a:r>
              <a:rPr lang="en-US" sz="2400" b="1" dirty="0" err="1">
                <a:solidFill>
                  <a:srgbClr val="000000"/>
                </a:solidFill>
                <a:latin typeface="Courier New" panose="02070309020205020404" pitchFamily="49" charset="0"/>
              </a:rPr>
              <a:t>getChronology</a:t>
            </a:r>
            <a:r>
              <a:rPr lang="en-US" sz="2400" b="1" dirty="0">
                <a:solidFill>
                  <a:srgbClr val="000000"/>
                </a:solidFill>
                <a:latin typeface="Courier New" panose="02070309020205020404" pitchFamily="49" charset="0"/>
              </a:rPr>
              <a:t>().</a:t>
            </a:r>
            <a:r>
              <a:rPr lang="en-US" sz="2400" b="1" dirty="0" err="1">
                <a:solidFill>
                  <a:srgbClr val="000000"/>
                </a:solidFill>
                <a:latin typeface="Courier New" panose="02070309020205020404" pitchFamily="49" charset="0"/>
              </a:rPr>
              <a:t>compareTo</a:t>
            </a:r>
            <a:r>
              <a:rPr lang="en-US" sz="2400" b="1" dirty="0">
                <a:solidFill>
                  <a:srgbClr val="000000"/>
                </a:solidFill>
                <a:latin typeface="Courier New" panose="02070309020205020404" pitchFamily="49" charset="0"/>
              </a:rPr>
              <a:t>(</a:t>
            </a:r>
          </a:p>
          <a:p>
            <a:pPr>
              <a:spcBef>
                <a:spcPts val="0"/>
              </a:spcBef>
            </a:pP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other.getChronology</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  </a:t>
            </a:r>
            <a:r>
              <a:rPr lang="en-US" sz="2400" b="1" dirty="0">
                <a:solidFill>
                  <a:srgbClr val="941EDF"/>
                </a:solidFill>
                <a:latin typeface="Courier New" panose="02070309020205020404" pitchFamily="49" charset="0"/>
              </a:rPr>
              <a:t>return</a:t>
            </a:r>
            <a:r>
              <a:rPr lang="en-US" sz="2400" b="1" dirty="0">
                <a:solidFill>
                  <a:srgbClr val="000000"/>
                </a:solidFill>
                <a:latin typeface="Courier New" panose="02070309020205020404" pitchFamily="49" charset="0"/>
              </a:rPr>
              <a:t> </a:t>
            </a:r>
            <a:r>
              <a:rPr lang="en-US" sz="2400" b="1" dirty="0" err="1">
                <a:solidFill>
                  <a:srgbClr val="000000"/>
                </a:solidFill>
                <a:latin typeface="Courier New" panose="02070309020205020404" pitchFamily="49" charset="0"/>
              </a:rPr>
              <a:t>cmp</a:t>
            </a:r>
            <a:r>
              <a:rPr lang="en-US" sz="2400" b="1" dirty="0">
                <a:solidFill>
                  <a:srgbClr val="000000"/>
                </a:solidFill>
                <a:latin typeface="Courier New" panose="02070309020205020404" pitchFamily="49" charset="0"/>
              </a:rPr>
              <a:t>;</a:t>
            </a:r>
            <a:br>
              <a:rPr lang="en-US" sz="2400" b="1" dirty="0">
                <a:solidFill>
                  <a:srgbClr val="000000"/>
                </a:solidFill>
                <a:latin typeface="Courier New" panose="02070309020205020404" pitchFamily="49" charset="0"/>
              </a:rPr>
            </a:br>
            <a:r>
              <a:rPr lang="en-US" sz="2400" b="1" dirty="0">
                <a:solidFill>
                  <a:srgbClr val="000000"/>
                </a:solidFill>
                <a:latin typeface="Courier New" panose="02070309020205020404" pitchFamily="49" charset="0"/>
              </a:rPr>
              <a:t>}</a:t>
            </a:r>
            <a:endParaRPr lang="en-US" sz="2800" b="1" dirty="0">
              <a:solidFill>
                <a:srgbClr val="000000"/>
              </a:solidFill>
              <a:latin typeface="Courier New" panose="02070309020205020404" pitchFamily="49" charset="0"/>
            </a:endParaRPr>
          </a:p>
        </p:txBody>
      </p:sp>
      <p:sp>
        <p:nvSpPr>
          <p:cNvPr id="2" name="TextBox 1">
            <a:extLst>
              <a:ext uri="{FF2B5EF4-FFF2-40B4-BE49-F238E27FC236}">
                <a16:creationId xmlns:a16="http://schemas.microsoft.com/office/drawing/2014/main" id="{417B5989-8C90-CB5D-D201-35531C5158DE}"/>
              </a:ext>
            </a:extLst>
          </p:cNvPr>
          <p:cNvSpPr txBox="1"/>
          <p:nvPr/>
        </p:nvSpPr>
        <p:spPr>
          <a:xfrm>
            <a:off x="0" y="228600"/>
            <a:ext cx="9144000" cy="830997"/>
          </a:xfrm>
          <a:prstGeom prst="rect">
            <a:avLst/>
          </a:prstGeom>
          <a:noFill/>
        </p:spPr>
        <p:txBody>
          <a:bodyPr wrap="square" rtlCol="0">
            <a:spAutoFit/>
          </a:bodyPr>
          <a:lstStyle/>
          <a:p>
            <a:r>
              <a:rPr lang="en-US" sz="2400" dirty="0">
                <a:solidFill>
                  <a:srgbClr val="0000FF"/>
                </a:solidFill>
                <a:latin typeface="Courier New" panose="02070309020205020404" pitchFamily="49" charset="0"/>
              </a:rPr>
              <a:t>public final class </a:t>
            </a:r>
            <a:r>
              <a:rPr lang="en-US" sz="2400" b="1" dirty="0" err="1">
                <a:solidFill>
                  <a:srgbClr val="0000FF"/>
                </a:solidFill>
                <a:latin typeface="Courier New" panose="02070309020205020404" pitchFamily="49" charset="0"/>
              </a:rPr>
              <a:t>ChronoLocalDate</a:t>
            </a:r>
            <a:br>
              <a:rPr lang="en-US" sz="2400" dirty="0">
                <a:solidFill>
                  <a:srgbClr val="0000FF"/>
                </a:solidFill>
                <a:latin typeface="Courier New" panose="02070309020205020404" pitchFamily="49" charset="0"/>
              </a:rPr>
            </a:br>
            <a:r>
              <a:rPr lang="en-US" sz="2400" dirty="0">
                <a:solidFill>
                  <a:srgbClr val="0000FF"/>
                </a:solidFill>
                <a:latin typeface="Courier New" panose="02070309020205020404" pitchFamily="49" charset="0"/>
              </a:rPr>
              <a:t>           implements </a:t>
            </a:r>
            <a:r>
              <a:rPr lang="en-US" sz="2400" b="1" dirty="0">
                <a:solidFill>
                  <a:srgbClr val="0000FF"/>
                </a:solidFill>
                <a:latin typeface="Courier New" panose="02070309020205020404" pitchFamily="49" charset="0"/>
              </a:rPr>
              <a:t>Comparable&lt;</a:t>
            </a:r>
            <a:r>
              <a:rPr lang="en-US" sz="2400" b="1" dirty="0" err="1">
                <a:solidFill>
                  <a:srgbClr val="0000FF"/>
                </a:solidFill>
                <a:latin typeface="Courier New" panose="02070309020205020404" pitchFamily="49" charset="0"/>
              </a:rPr>
              <a:t>ChronoLocalDate</a:t>
            </a:r>
            <a:r>
              <a:rPr lang="en-US" sz="2400" b="1" dirty="0">
                <a:solidFill>
                  <a:srgbClr val="0000FF"/>
                </a:solidFill>
                <a:latin typeface="Courier New" panose="02070309020205020404" pitchFamily="49" charset="0"/>
              </a:rPr>
              <a:t>&gt;</a:t>
            </a:r>
            <a:endParaRPr lang="en-US" sz="4000" b="1" dirty="0">
              <a:solidFill>
                <a:srgbClr val="0000FF"/>
              </a:solidFill>
            </a:endParaRPr>
          </a:p>
        </p:txBody>
      </p:sp>
    </p:spTree>
    <p:extLst>
      <p:ext uri="{BB962C8B-B14F-4D97-AF65-F5344CB8AC3E}">
        <p14:creationId xmlns:p14="http://schemas.microsoft.com/office/powerpoint/2010/main" val="36070011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18824C4C-9DF1-4CCB-A984-8ECB8472EFDE}"/>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92163" name="Text Box 3">
            <a:extLst>
              <a:ext uri="{FF2B5EF4-FFF2-40B4-BE49-F238E27FC236}">
                <a16:creationId xmlns:a16="http://schemas.microsoft.com/office/drawing/2014/main" id="{83978960-231D-4EC2-B632-7CFD642C67A0}"/>
              </a:ext>
            </a:extLst>
          </p:cNvPr>
          <p:cNvSpPr txBox="1">
            <a:spLocks noChangeArrowheads="1"/>
          </p:cNvSpPr>
          <p:nvPr/>
        </p:nvSpPr>
        <p:spPr bwMode="auto">
          <a:xfrm>
            <a:off x="304800" y="228600"/>
            <a:ext cx="7015447"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dirty="0">
                <a:latin typeface="Arial" panose="020B0604020202020204" pitchFamily="34" charset="0"/>
              </a:rPr>
              <a:t>Comparable x = 54;</a:t>
            </a:r>
          </a:p>
          <a:p>
            <a:pPr eaLnBrk="0" hangingPunct="0"/>
            <a:r>
              <a:rPr lang="en-US" altLang="en-US" sz="4000" b="1" dirty="0">
                <a:latin typeface="Arial" panose="020B0604020202020204" pitchFamily="34" charset="0"/>
              </a:rPr>
              <a:t>Comparable y = 67;</a:t>
            </a:r>
          </a:p>
          <a:p>
            <a:pPr eaLnBrk="0" hangingPunct="0"/>
            <a:r>
              <a:rPr lang="en-US" altLang="en-US" sz="4000" b="1" dirty="0" err="1">
                <a:latin typeface="Arial" panose="020B0604020202020204" pitchFamily="34" charset="0"/>
              </a:rPr>
              <a:t>out.println</a:t>
            </a:r>
            <a:r>
              <a:rPr lang="en-US" altLang="en-US" sz="4000" b="1" dirty="0">
                <a:latin typeface="Arial" panose="020B0604020202020204" pitchFamily="34" charset="0"/>
              </a:rPr>
              <a:t>(</a:t>
            </a:r>
            <a:r>
              <a:rPr lang="en-US" altLang="en-US" sz="4000" b="1" dirty="0" err="1">
                <a:latin typeface="Arial" panose="020B0604020202020204" pitchFamily="34" charset="0"/>
              </a:rPr>
              <a:t>x.compareTo</a:t>
            </a:r>
            <a:r>
              <a:rPr lang="en-US" altLang="en-US" sz="4000" b="1" dirty="0">
                <a:latin typeface="Arial" panose="020B0604020202020204" pitchFamily="34" charset="0"/>
              </a:rPr>
              <a:t>(y));</a:t>
            </a:r>
          </a:p>
          <a:p>
            <a:pPr eaLnBrk="0" hangingPunct="0"/>
            <a:r>
              <a:rPr lang="en-US" altLang="en-US" sz="4000" b="1" dirty="0">
                <a:latin typeface="Arial" panose="020B0604020202020204" pitchFamily="34" charset="0"/>
              </a:rPr>
              <a:t>x = 9.32;</a:t>
            </a:r>
          </a:p>
          <a:p>
            <a:pPr eaLnBrk="0" hangingPunct="0"/>
            <a:r>
              <a:rPr lang="en-US" altLang="en-US" sz="4000" b="1" dirty="0">
                <a:latin typeface="Arial" panose="020B0604020202020204" pitchFamily="34" charset="0"/>
              </a:rPr>
              <a:t>y = 7.85;</a:t>
            </a:r>
          </a:p>
          <a:p>
            <a:pPr eaLnBrk="0" hangingPunct="0"/>
            <a:r>
              <a:rPr lang="en-US" altLang="en-US" sz="4000" b="1" dirty="0" err="1">
                <a:latin typeface="Arial" panose="020B0604020202020204" pitchFamily="34" charset="0"/>
              </a:rPr>
              <a:t>out.println</a:t>
            </a:r>
            <a:r>
              <a:rPr lang="en-US" altLang="en-US" sz="4000" b="1" dirty="0">
                <a:latin typeface="Arial" panose="020B0604020202020204" pitchFamily="34" charset="0"/>
              </a:rPr>
              <a:t>(</a:t>
            </a:r>
            <a:r>
              <a:rPr lang="en-US" altLang="en-US" sz="4000" b="1" dirty="0" err="1">
                <a:latin typeface="Arial" panose="020B0604020202020204" pitchFamily="34" charset="0"/>
              </a:rPr>
              <a:t>x.compareTo</a:t>
            </a:r>
            <a:r>
              <a:rPr lang="en-US" altLang="en-US" sz="4000" b="1" dirty="0">
                <a:latin typeface="Arial" panose="020B0604020202020204" pitchFamily="34" charset="0"/>
              </a:rPr>
              <a:t>(y));</a:t>
            </a:r>
          </a:p>
          <a:p>
            <a:pPr eaLnBrk="0" hangingPunct="0"/>
            <a:r>
              <a:rPr lang="en-US" altLang="en-US" sz="4000" b="1" dirty="0">
                <a:latin typeface="Arial" panose="020B0604020202020204" pitchFamily="34" charset="0"/>
              </a:rPr>
              <a:t>x = “an”;</a:t>
            </a:r>
          </a:p>
          <a:p>
            <a:pPr eaLnBrk="0" hangingPunct="0"/>
            <a:r>
              <a:rPr lang="en-US" altLang="en-US" sz="4000" b="1" dirty="0">
                <a:latin typeface="Arial" panose="020B0604020202020204" pitchFamily="34" charset="0"/>
              </a:rPr>
              <a:t>y = “antler”;</a:t>
            </a:r>
          </a:p>
          <a:p>
            <a:pPr eaLnBrk="0" hangingPunct="0"/>
            <a:r>
              <a:rPr lang="en-US" altLang="en-US" sz="4000" b="1" dirty="0" err="1">
                <a:latin typeface="Arial" panose="020B0604020202020204" pitchFamily="34" charset="0"/>
              </a:rPr>
              <a:t>out.println</a:t>
            </a:r>
            <a:r>
              <a:rPr lang="en-US" altLang="en-US" sz="4000" b="1" dirty="0">
                <a:latin typeface="Arial" panose="020B0604020202020204" pitchFamily="34" charset="0"/>
              </a:rPr>
              <a:t>(</a:t>
            </a:r>
            <a:r>
              <a:rPr lang="en-US" altLang="en-US" sz="4000" b="1" dirty="0" err="1">
                <a:latin typeface="Arial" panose="020B0604020202020204" pitchFamily="34" charset="0"/>
              </a:rPr>
              <a:t>x.compareTo</a:t>
            </a:r>
            <a:r>
              <a:rPr lang="en-US" altLang="en-US" sz="4000" b="1" dirty="0">
                <a:latin typeface="Arial" panose="020B0604020202020204" pitchFamily="34" charset="0"/>
              </a:rPr>
              <a:t>(y));</a:t>
            </a:r>
          </a:p>
          <a:p>
            <a:pPr eaLnBrk="0" hangingPunct="0"/>
            <a:endParaRPr lang="en-US" altLang="en-US" sz="4000" b="1" dirty="0">
              <a:latin typeface="Arial" panose="020B0604020202020204" pitchFamily="34" charset="0"/>
            </a:endParaRPr>
          </a:p>
        </p:txBody>
      </p:sp>
      <p:sp>
        <p:nvSpPr>
          <p:cNvPr id="92164" name="Text Box 4">
            <a:extLst>
              <a:ext uri="{FF2B5EF4-FFF2-40B4-BE49-F238E27FC236}">
                <a16:creationId xmlns:a16="http://schemas.microsoft.com/office/drawing/2014/main" id="{2C442C2A-93FC-42AE-B846-71BAA064F5B8}"/>
              </a:ext>
            </a:extLst>
          </p:cNvPr>
          <p:cNvSpPr txBox="1">
            <a:spLocks noChangeArrowheads="1"/>
          </p:cNvSpPr>
          <p:nvPr/>
        </p:nvSpPr>
        <p:spPr bwMode="auto">
          <a:xfrm>
            <a:off x="7218218" y="3810000"/>
            <a:ext cx="1905000" cy="2800767"/>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3200" b="1" u="sng" dirty="0">
                <a:solidFill>
                  <a:srgbClr val="FF0000"/>
                </a:solidFill>
              </a:rPr>
              <a:t>OUTPUT</a:t>
            </a:r>
          </a:p>
          <a:p>
            <a:pPr algn="ctr" eaLnBrk="0" hangingPunct="0">
              <a:spcBef>
                <a:spcPct val="50000"/>
              </a:spcBef>
            </a:pPr>
            <a:r>
              <a:rPr lang="en-US" altLang="en-US" sz="3200" b="1" dirty="0"/>
              <a:t>-1</a:t>
            </a:r>
          </a:p>
          <a:p>
            <a:pPr algn="ctr" eaLnBrk="0" hangingPunct="0">
              <a:spcBef>
                <a:spcPct val="50000"/>
              </a:spcBef>
            </a:pPr>
            <a:r>
              <a:rPr lang="en-US" altLang="en-US" sz="3200" b="1" dirty="0"/>
              <a:t>1</a:t>
            </a:r>
          </a:p>
          <a:p>
            <a:pPr algn="ctr" eaLnBrk="0" hangingPunct="0">
              <a:spcBef>
                <a:spcPct val="50000"/>
              </a:spcBef>
            </a:pPr>
            <a:r>
              <a:rPr lang="en-US" altLang="en-US" sz="3200" b="1" dirty="0"/>
              <a:t>-4</a:t>
            </a:r>
          </a:p>
        </p:txBody>
      </p:sp>
    </p:spTree>
    <p:extLst>
      <p:ext uri="{BB962C8B-B14F-4D97-AF65-F5344CB8AC3E}">
        <p14:creationId xmlns:p14="http://schemas.microsoft.com/office/powerpoint/2010/main" val="24455457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35525166-6E3F-49D9-A59F-D7F041E046B8}"/>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224258" name="Text Box 2">
            <a:extLst>
              <a:ext uri="{FF2B5EF4-FFF2-40B4-BE49-F238E27FC236}">
                <a16:creationId xmlns:a16="http://schemas.microsoft.com/office/drawing/2014/main" id="{6C2BAE69-8F48-4D5B-B30A-5143B848FD06}"/>
              </a:ext>
            </a:extLst>
          </p:cNvPr>
          <p:cNvSpPr txBox="1">
            <a:spLocks noChangeArrowheads="1"/>
          </p:cNvSpPr>
          <p:nvPr/>
        </p:nvSpPr>
        <p:spPr bwMode="auto">
          <a:xfrm>
            <a:off x="914400" y="1676400"/>
            <a:ext cx="7500938"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dirty="0">
                <a:latin typeface="Arial" panose="020B0604020202020204" pitchFamily="34" charset="0"/>
              </a:rPr>
              <a:t>Comparable x = </a:t>
            </a:r>
          </a:p>
          <a:p>
            <a:pPr eaLnBrk="0" hangingPunct="0"/>
            <a:r>
              <a:rPr lang="en-US" altLang="en-US" sz="4000" b="1" dirty="0">
                <a:latin typeface="Arial" panose="020B0604020202020204" pitchFamily="34" charset="0"/>
              </a:rPr>
              <a:t>			</a:t>
            </a:r>
            <a:r>
              <a:rPr lang="en-US" altLang="en-US" sz="4000" b="1" dirty="0">
                <a:solidFill>
                  <a:srgbClr val="C00000"/>
                </a:solidFill>
                <a:latin typeface="Arial" panose="020B0604020202020204" pitchFamily="34" charset="0"/>
              </a:rPr>
              <a:t>new Comparable();</a:t>
            </a:r>
          </a:p>
          <a:p>
            <a:pPr eaLnBrk="0" hangingPunct="0"/>
            <a:endParaRPr lang="en-US" altLang="en-US" sz="4000" b="1" dirty="0">
              <a:latin typeface="Arial" panose="020B0604020202020204" pitchFamily="34" charset="0"/>
            </a:endParaRPr>
          </a:p>
          <a:p>
            <a:pPr eaLnBrk="0" hangingPunct="0"/>
            <a:r>
              <a:rPr lang="en-US" altLang="en-US" sz="4000" b="1" dirty="0" err="1">
                <a:latin typeface="Arial" panose="020B0604020202020204" pitchFamily="34" charset="0"/>
              </a:rPr>
              <a:t>out.println</a:t>
            </a:r>
            <a:r>
              <a:rPr lang="en-US" altLang="en-US" sz="4000" b="1" dirty="0">
                <a:latin typeface="Arial" panose="020B0604020202020204" pitchFamily="34" charset="0"/>
              </a:rPr>
              <a:t>(x);</a:t>
            </a:r>
          </a:p>
          <a:p>
            <a:pPr eaLnBrk="0" hangingPunct="0"/>
            <a:endParaRPr lang="en-US" altLang="en-US" sz="4000" b="1" dirty="0">
              <a:latin typeface="Arial" panose="020B0604020202020204" pitchFamily="34" charset="0"/>
            </a:endParaRPr>
          </a:p>
          <a:p>
            <a:pPr eaLnBrk="0" hangingPunct="0"/>
            <a:r>
              <a:rPr lang="en-US" altLang="en-US" sz="4000" b="1" dirty="0">
                <a:solidFill>
                  <a:srgbClr val="FF0000"/>
                </a:solidFill>
                <a:latin typeface="Arial" panose="020B0604020202020204" pitchFamily="34" charset="0"/>
              </a:rPr>
              <a:t>Is this okay??</a:t>
            </a:r>
          </a:p>
        </p:txBody>
      </p:sp>
      <p:sp>
        <p:nvSpPr>
          <p:cNvPr id="224259" name="WordArt 3">
            <a:extLst>
              <a:ext uri="{FF2B5EF4-FFF2-40B4-BE49-F238E27FC236}">
                <a16:creationId xmlns:a16="http://schemas.microsoft.com/office/drawing/2014/main" id="{717A6352-738C-469F-B3E1-85CBA8106B59}"/>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224260" name="Text Box 4">
            <a:extLst>
              <a:ext uri="{FF2B5EF4-FFF2-40B4-BE49-F238E27FC236}">
                <a16:creationId xmlns:a16="http://schemas.microsoft.com/office/drawing/2014/main" id="{35FABAE8-E51C-448F-BB79-6DEBA6FEAD67}"/>
              </a:ext>
            </a:extLst>
          </p:cNvPr>
          <p:cNvSpPr txBox="1">
            <a:spLocks noChangeArrowheads="1"/>
          </p:cNvSpPr>
          <p:nvPr/>
        </p:nvSpPr>
        <p:spPr bwMode="auto">
          <a:xfrm>
            <a:off x="5334000" y="3581400"/>
            <a:ext cx="3276600" cy="1811338"/>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sz="3200" b="1" u="sng">
                <a:solidFill>
                  <a:srgbClr val="FF0000"/>
                </a:solidFill>
              </a:rPr>
              <a:t>OUTPUT</a:t>
            </a:r>
          </a:p>
          <a:p>
            <a:pPr eaLnBrk="0" hangingPunct="0">
              <a:spcBef>
                <a:spcPct val="50000"/>
              </a:spcBef>
            </a:pPr>
            <a:r>
              <a:rPr lang="en-US" altLang="en-US" sz="3200" b="1"/>
              <a:t>no output</a:t>
            </a:r>
            <a:br>
              <a:rPr lang="en-US" altLang="en-US" sz="3200" b="1"/>
            </a:br>
            <a:r>
              <a:rPr lang="en-US" altLang="en-US" sz="3200" b="1"/>
              <a:t>compile error</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a:extLst>
              <a:ext uri="{FF2B5EF4-FFF2-40B4-BE49-F238E27FC236}">
                <a16:creationId xmlns:a16="http://schemas.microsoft.com/office/drawing/2014/main" id="{07209BC6-046C-4764-83F3-FF34DBA46E8A}"/>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222210" name="WordArt 2">
            <a:extLst>
              <a:ext uri="{FF2B5EF4-FFF2-40B4-BE49-F238E27FC236}">
                <a16:creationId xmlns:a16="http://schemas.microsoft.com/office/drawing/2014/main" id="{FB574E02-45F3-4324-A773-DEA1C3D5F610}"/>
              </a:ext>
            </a:extLst>
          </p:cNvPr>
          <p:cNvSpPr>
            <a:spLocks noChangeArrowheads="1" noChangeShapeType="1" noTextEdit="1"/>
          </p:cNvSpPr>
          <p:nvPr/>
        </p:nvSpPr>
        <p:spPr bwMode="auto">
          <a:xfrm>
            <a:off x="914400" y="457200"/>
            <a:ext cx="73914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Why use an interface?</a:t>
            </a:r>
          </a:p>
        </p:txBody>
      </p:sp>
      <p:sp>
        <p:nvSpPr>
          <p:cNvPr id="222211" name="Text Box 3">
            <a:extLst>
              <a:ext uri="{FF2B5EF4-FFF2-40B4-BE49-F238E27FC236}">
                <a16:creationId xmlns:a16="http://schemas.microsoft.com/office/drawing/2014/main" id="{2492AA4F-8DFC-4F48-A5E0-A53353E88AD6}"/>
              </a:ext>
            </a:extLst>
          </p:cNvPr>
          <p:cNvSpPr txBox="1">
            <a:spLocks noChangeArrowheads="1"/>
          </p:cNvSpPr>
          <p:nvPr/>
        </p:nvSpPr>
        <p:spPr bwMode="auto">
          <a:xfrm>
            <a:off x="990600" y="1935163"/>
            <a:ext cx="6043613" cy="204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b="1"/>
              <a:t>public interface Comparable </a:t>
            </a:r>
          </a:p>
          <a:p>
            <a:r>
              <a:rPr lang="en-US" altLang="en-US" sz="3200" b="1"/>
              <a:t>{</a:t>
            </a:r>
          </a:p>
          <a:p>
            <a:r>
              <a:rPr lang="en-US" altLang="en-US" sz="3200" b="1"/>
              <a:t>   int compareTo(Object o);</a:t>
            </a:r>
          </a:p>
          <a:p>
            <a:r>
              <a:rPr lang="en-US" altLang="en-US" sz="3200" b="1"/>
              <a:t>}</a:t>
            </a:r>
          </a:p>
        </p:txBody>
      </p:sp>
      <p:sp>
        <p:nvSpPr>
          <p:cNvPr id="222214" name="Text Box 6">
            <a:extLst>
              <a:ext uri="{FF2B5EF4-FFF2-40B4-BE49-F238E27FC236}">
                <a16:creationId xmlns:a16="http://schemas.microsoft.com/office/drawing/2014/main" id="{86B1B60F-BEB8-4B88-A14E-60E363C5B663}"/>
              </a:ext>
            </a:extLst>
          </p:cNvPr>
          <p:cNvSpPr txBox="1">
            <a:spLocks noChangeArrowheads="1"/>
          </p:cNvSpPr>
          <p:nvPr/>
        </p:nvSpPr>
        <p:spPr bwMode="auto">
          <a:xfrm>
            <a:off x="1066800" y="4495800"/>
            <a:ext cx="6019800" cy="1382713"/>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1">
                <a:solidFill>
                  <a:schemeClr val="accent2"/>
                </a:solidFill>
              </a:rPr>
              <a:t>No instance variables!</a:t>
            </a:r>
          </a:p>
          <a:p>
            <a:r>
              <a:rPr lang="en-US" altLang="en-US" sz="2800" b="1">
                <a:solidFill>
                  <a:schemeClr val="accent2"/>
                </a:solidFill>
              </a:rPr>
              <a:t>No constructors!</a:t>
            </a:r>
          </a:p>
          <a:p>
            <a:r>
              <a:rPr lang="en-US" altLang="en-US" sz="2800" b="1">
                <a:solidFill>
                  <a:schemeClr val="accent2"/>
                </a:solidFill>
              </a:rPr>
              <a:t>No method implementations!</a:t>
            </a:r>
          </a:p>
        </p:txBody>
      </p:sp>
      <p:sp>
        <p:nvSpPr>
          <p:cNvPr id="222215" name="Text Box 7">
            <a:extLst>
              <a:ext uri="{FF2B5EF4-FFF2-40B4-BE49-F238E27FC236}">
                <a16:creationId xmlns:a16="http://schemas.microsoft.com/office/drawing/2014/main" id="{96F56FFA-7CA7-411D-9545-D9FD282BFEE4}"/>
              </a:ext>
            </a:extLst>
          </p:cNvPr>
          <p:cNvSpPr txBox="1">
            <a:spLocks noChangeArrowheads="1"/>
          </p:cNvSpPr>
          <p:nvPr/>
        </p:nvSpPr>
        <p:spPr bwMode="auto">
          <a:xfrm>
            <a:off x="7162800" y="2895600"/>
            <a:ext cx="1524000" cy="957263"/>
          </a:xfrm>
          <a:prstGeom prst="rect">
            <a:avLst/>
          </a:prstGeom>
          <a:noFill/>
          <a:ln w="9525">
            <a:solidFill>
              <a:srgbClr val="00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rgbClr val="00CC00"/>
                </a:solidFill>
              </a:rPr>
              <a:t>ABSTRACT</a:t>
            </a:r>
          </a:p>
          <a:p>
            <a:pPr>
              <a:spcBef>
                <a:spcPct val="50000"/>
              </a:spcBef>
            </a:pPr>
            <a:r>
              <a:rPr lang="en-US" altLang="en-US" sz="1600" b="1">
                <a:solidFill>
                  <a:srgbClr val="00CC00"/>
                </a:solidFill>
              </a:rPr>
              <a:t>Lots of unknowns!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C4DECBD-72E7-4809-9BF8-6ED8E16B2CDE}"/>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57698" name="WordArt 2">
            <a:extLst>
              <a:ext uri="{FF2B5EF4-FFF2-40B4-BE49-F238E27FC236}">
                <a16:creationId xmlns:a16="http://schemas.microsoft.com/office/drawing/2014/main" id="{4D3F57CD-59EB-414B-BD20-D2EF32604BBE}"/>
              </a:ext>
            </a:extLst>
          </p:cNvPr>
          <p:cNvSpPr>
            <a:spLocks noChangeArrowheads="1" noChangeShapeType="1" noTextEdit="1"/>
          </p:cNvSpPr>
          <p:nvPr/>
        </p:nvSpPr>
        <p:spPr bwMode="auto">
          <a:xfrm>
            <a:off x="685800" y="1066800"/>
            <a:ext cx="7620000" cy="457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Making the </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abstract</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concrete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6A2F49E6-A62D-47AE-8115-5DEFF4BF6218}"/>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91490" name="WordArt 2">
            <a:extLst>
              <a:ext uri="{FF2B5EF4-FFF2-40B4-BE49-F238E27FC236}">
                <a16:creationId xmlns:a16="http://schemas.microsoft.com/office/drawing/2014/main" id="{D3CCA487-32C2-4219-81AC-00E4CB0B781E}"/>
              </a:ext>
            </a:extLst>
          </p:cNvPr>
          <p:cNvSpPr>
            <a:spLocks noChangeArrowheads="1" noChangeShapeType="1" noTextEdit="1"/>
          </p:cNvSpPr>
          <p:nvPr/>
        </p:nvSpPr>
        <p:spPr bwMode="auto">
          <a:xfrm>
            <a:off x="1066800" y="457200"/>
            <a:ext cx="67056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What is an interface?</a:t>
            </a:r>
          </a:p>
        </p:txBody>
      </p:sp>
      <p:sp>
        <p:nvSpPr>
          <p:cNvPr id="191491" name="Text Box 3">
            <a:extLst>
              <a:ext uri="{FF2B5EF4-FFF2-40B4-BE49-F238E27FC236}">
                <a16:creationId xmlns:a16="http://schemas.microsoft.com/office/drawing/2014/main" id="{F7EF4248-344A-4A96-8B25-CC25DC8CF959}"/>
              </a:ext>
            </a:extLst>
          </p:cNvPr>
          <p:cNvSpPr txBox="1">
            <a:spLocks noChangeArrowheads="1"/>
          </p:cNvSpPr>
          <p:nvPr/>
        </p:nvSpPr>
        <p:spPr bwMode="auto">
          <a:xfrm>
            <a:off x="990600" y="1935163"/>
            <a:ext cx="6043613" cy="204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b="1"/>
              <a:t>public interface Comparable </a:t>
            </a:r>
          </a:p>
          <a:p>
            <a:r>
              <a:rPr lang="en-US" altLang="en-US" sz="3200" b="1"/>
              <a:t>{</a:t>
            </a:r>
          </a:p>
          <a:p>
            <a:r>
              <a:rPr lang="en-US" altLang="en-US" sz="3200" b="1"/>
              <a:t>   int compareTo(Object o);</a:t>
            </a:r>
          </a:p>
          <a:p>
            <a:r>
              <a:rPr lang="en-US" altLang="en-US" sz="3200" b="1"/>
              <a:t>}</a:t>
            </a:r>
          </a:p>
        </p:txBody>
      </p:sp>
      <p:sp>
        <p:nvSpPr>
          <p:cNvPr id="191492" name="Text Box 4">
            <a:extLst>
              <a:ext uri="{FF2B5EF4-FFF2-40B4-BE49-F238E27FC236}">
                <a16:creationId xmlns:a16="http://schemas.microsoft.com/office/drawing/2014/main" id="{688D2B27-F441-4B79-B916-381D9C4D0C7B}"/>
              </a:ext>
            </a:extLst>
          </p:cNvPr>
          <p:cNvSpPr txBox="1">
            <a:spLocks noChangeArrowheads="1"/>
          </p:cNvSpPr>
          <p:nvPr/>
        </p:nvSpPr>
        <p:spPr bwMode="auto">
          <a:xfrm>
            <a:off x="762000" y="4343400"/>
            <a:ext cx="7772400" cy="1808163"/>
          </a:xfrm>
          <a:prstGeom prst="rect">
            <a:avLst/>
          </a:prstGeom>
          <a:noFill/>
          <a:ln w="9525">
            <a:solidFill>
              <a:srgbClr val="00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b="1">
                <a:solidFill>
                  <a:srgbClr val="00CC00"/>
                </a:solidFill>
              </a:rPr>
              <a:t>abstract  -  an idea of what to do</a:t>
            </a:r>
          </a:p>
          <a:p>
            <a:pPr>
              <a:spcBef>
                <a:spcPct val="50000"/>
              </a:spcBef>
            </a:pPr>
            <a:r>
              <a:rPr lang="en-US" altLang="en-US" sz="3200" b="1">
                <a:solidFill>
                  <a:srgbClr val="00CC00"/>
                </a:solidFill>
              </a:rPr>
              <a:t>concrete  - having enough 					information to actually do it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a:extLst>
              <a:ext uri="{FF2B5EF4-FFF2-40B4-BE49-F238E27FC236}">
                <a16:creationId xmlns:a16="http://schemas.microsoft.com/office/drawing/2014/main" id="{02E2BB8A-5C31-4051-A306-31024EE01F44}"/>
              </a:ext>
            </a:extLst>
          </p:cNvPr>
          <p:cNvSpPr>
            <a:spLocks noChangeArrowheads="1"/>
          </p:cNvSpPr>
          <p:nvPr/>
        </p:nvSpPr>
        <p:spPr bwMode="auto">
          <a:xfrm>
            <a:off x="0" y="27590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tLang="en-US" sz="2400">
              <a:latin typeface="Times New Roman" panose="02020603050405020304" pitchFamily="18" charset="0"/>
            </a:endParaRPr>
          </a:p>
        </p:txBody>
      </p:sp>
      <p:sp>
        <p:nvSpPr>
          <p:cNvPr id="147459" name="Rectangle 3">
            <a:extLst>
              <a:ext uri="{FF2B5EF4-FFF2-40B4-BE49-F238E27FC236}">
                <a16:creationId xmlns:a16="http://schemas.microsoft.com/office/drawing/2014/main" id="{EAC479CB-B70B-4F6F-9F82-32A2F60A10CA}"/>
              </a:ext>
            </a:extLst>
          </p:cNvPr>
          <p:cNvSpPr>
            <a:spLocks noChangeArrowheads="1"/>
          </p:cNvSpPr>
          <p:nvPr/>
        </p:nvSpPr>
        <p:spPr bwMode="auto">
          <a:xfrm>
            <a:off x="0" y="3825875"/>
            <a:ext cx="279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en-US" sz="1200">
                <a:cs typeface="Times New Roman" panose="02020603050405020304" pitchFamily="18" charset="0"/>
              </a:rPr>
              <a:t>  </a:t>
            </a:r>
            <a:endParaRPr lang="en-US" altLang="en-US" sz="2400">
              <a:latin typeface="Times New Roman" panose="02020603050405020304" pitchFamily="18" charset="0"/>
            </a:endParaRPr>
          </a:p>
        </p:txBody>
      </p:sp>
      <p:sp>
        <p:nvSpPr>
          <p:cNvPr id="147460" name="Text Box 4">
            <a:extLst>
              <a:ext uri="{FF2B5EF4-FFF2-40B4-BE49-F238E27FC236}">
                <a16:creationId xmlns:a16="http://schemas.microsoft.com/office/drawing/2014/main" id="{1D5DA6EF-D843-423B-8239-5A64CB7442EB}"/>
              </a:ext>
            </a:extLst>
          </p:cNvPr>
          <p:cNvSpPr txBox="1">
            <a:spLocks noChangeArrowheads="1"/>
          </p:cNvSpPr>
          <p:nvPr/>
        </p:nvSpPr>
        <p:spPr bwMode="auto">
          <a:xfrm>
            <a:off x="1066800" y="2209800"/>
            <a:ext cx="1841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2800"/>
          </a:p>
          <a:p>
            <a:endParaRPr lang="en-US" altLang="en-US" sz="2800"/>
          </a:p>
        </p:txBody>
      </p:sp>
      <p:sp>
        <p:nvSpPr>
          <p:cNvPr id="147461" name="Text Box 5">
            <a:extLst>
              <a:ext uri="{FF2B5EF4-FFF2-40B4-BE49-F238E27FC236}">
                <a16:creationId xmlns:a16="http://schemas.microsoft.com/office/drawing/2014/main" id="{F39F359D-E0D6-4182-B333-553551D28254}"/>
              </a:ext>
            </a:extLst>
          </p:cNvPr>
          <p:cNvSpPr txBox="1">
            <a:spLocks noChangeArrowheads="1"/>
          </p:cNvSpPr>
          <p:nvPr/>
        </p:nvSpPr>
        <p:spPr bwMode="auto">
          <a:xfrm>
            <a:off x="1219200" y="990600"/>
            <a:ext cx="7772400" cy="59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000" b="1" dirty="0"/>
              <a:t>public class Creature </a:t>
            </a:r>
            <a:r>
              <a:rPr lang="en-US" altLang="en-US" sz="2000" b="1" dirty="0">
                <a:solidFill>
                  <a:schemeClr val="accent2"/>
                </a:solidFill>
              </a:rPr>
              <a:t>implements</a:t>
            </a:r>
            <a:r>
              <a:rPr lang="en-US" altLang="en-US" sz="2000" b="1" dirty="0"/>
              <a:t> </a:t>
            </a:r>
            <a:r>
              <a:rPr lang="en-US" altLang="en-US" sz="2000" b="1" dirty="0">
                <a:solidFill>
                  <a:srgbClr val="7030A0"/>
                </a:solidFill>
              </a:rPr>
              <a:t>Comparable&lt;Creature&gt;</a:t>
            </a:r>
          </a:p>
          <a:p>
            <a:r>
              <a:rPr lang="en-US" altLang="en-US" sz="2000" b="1" dirty="0"/>
              <a:t>{</a:t>
            </a:r>
          </a:p>
          <a:p>
            <a:r>
              <a:rPr lang="en-US" altLang="en-US" sz="2000" b="1" dirty="0"/>
              <a:t>   private int size;</a:t>
            </a:r>
          </a:p>
          <a:p>
            <a:endParaRPr lang="en-US" altLang="en-US" sz="2000" b="1" dirty="0"/>
          </a:p>
          <a:p>
            <a:r>
              <a:rPr lang="en-US" altLang="en-US" sz="2000" b="1" dirty="0"/>
              <a:t>   public Creature(int girth) { size=girth; }</a:t>
            </a:r>
          </a:p>
          <a:p>
            <a:endParaRPr lang="en-US" altLang="en-US" sz="2000" b="1" dirty="0"/>
          </a:p>
          <a:p>
            <a:r>
              <a:rPr lang="en-US" altLang="en-US" sz="2000" b="1" dirty="0"/>
              <a:t>   public int </a:t>
            </a:r>
            <a:r>
              <a:rPr lang="en-US" altLang="en-US" sz="2000" b="1" dirty="0" err="1">
                <a:solidFill>
                  <a:srgbClr val="7030A0"/>
                </a:solidFill>
              </a:rPr>
              <a:t>compareTo</a:t>
            </a:r>
            <a:r>
              <a:rPr lang="en-US" altLang="en-US" sz="2000" b="1" dirty="0"/>
              <a:t>(</a:t>
            </a:r>
            <a:r>
              <a:rPr lang="en-US" altLang="en-US" sz="2000" b="1" dirty="0">
                <a:solidFill>
                  <a:srgbClr val="7030A0"/>
                </a:solidFill>
              </a:rPr>
              <a:t>Creature other</a:t>
            </a:r>
            <a:r>
              <a:rPr lang="en-US" altLang="en-US" sz="2000" b="1" dirty="0"/>
              <a:t>) </a:t>
            </a:r>
          </a:p>
          <a:p>
            <a:r>
              <a:rPr lang="en-US" altLang="en-US" sz="2000" b="1" dirty="0"/>
              <a:t>   {</a:t>
            </a:r>
          </a:p>
          <a:p>
            <a:r>
              <a:rPr lang="en-US" altLang="en-US" sz="2000" b="1" dirty="0"/>
              <a:t>       if(size&gt;</a:t>
            </a:r>
            <a:r>
              <a:rPr lang="en-US" altLang="en-US" sz="2000" b="1" dirty="0" err="1"/>
              <a:t>other.size</a:t>
            </a:r>
            <a:r>
              <a:rPr lang="en-US" altLang="en-US" sz="2000" b="1" dirty="0"/>
              <a:t>)</a:t>
            </a:r>
          </a:p>
          <a:p>
            <a:r>
              <a:rPr lang="en-US" altLang="en-US" sz="2000" b="1" dirty="0"/>
              <a:t>           return 1;</a:t>
            </a:r>
          </a:p>
          <a:p>
            <a:r>
              <a:rPr lang="en-US" altLang="en-US" sz="2000" b="1" dirty="0"/>
              <a:t>       else if(size&lt;</a:t>
            </a:r>
            <a:r>
              <a:rPr lang="en-US" altLang="en-US" sz="2000" b="1" dirty="0" err="1"/>
              <a:t>other.size</a:t>
            </a:r>
            <a:r>
              <a:rPr lang="en-US" altLang="en-US" sz="2000" b="1" dirty="0"/>
              <a:t>) </a:t>
            </a:r>
          </a:p>
          <a:p>
            <a:r>
              <a:rPr lang="en-US" altLang="en-US" sz="2000" b="1" dirty="0"/>
              <a:t>           return -1;</a:t>
            </a:r>
          </a:p>
          <a:p>
            <a:r>
              <a:rPr lang="en-US" altLang="en-US" sz="2000" b="1" dirty="0"/>
              <a:t>       return 0; </a:t>
            </a:r>
          </a:p>
          <a:p>
            <a:r>
              <a:rPr lang="en-US" altLang="en-US" sz="2000" b="1" dirty="0"/>
              <a:t>   }</a:t>
            </a:r>
          </a:p>
          <a:p>
            <a:endParaRPr lang="en-US" altLang="en-US" sz="2000" b="1" dirty="0"/>
          </a:p>
          <a:p>
            <a:r>
              <a:rPr lang="en-US" altLang="en-US" sz="2000" b="1" dirty="0"/>
              <a:t>   public String </a:t>
            </a:r>
            <a:r>
              <a:rPr lang="en-US" altLang="en-US" sz="2000" b="1" dirty="0" err="1"/>
              <a:t>toString</a:t>
            </a:r>
            <a:r>
              <a:rPr lang="en-US" altLang="en-US" sz="2000" b="1" dirty="0"/>
              <a:t>() { </a:t>
            </a:r>
            <a:br>
              <a:rPr lang="en-US" altLang="en-US" sz="2000" b="1" dirty="0"/>
            </a:br>
            <a:r>
              <a:rPr lang="en-US" altLang="en-US" sz="2000" b="1" dirty="0"/>
              <a:t>       return "" + size; </a:t>
            </a:r>
          </a:p>
          <a:p>
            <a:r>
              <a:rPr lang="en-US" altLang="en-US" sz="2000" b="1" dirty="0"/>
              <a:t>   }</a:t>
            </a:r>
          </a:p>
          <a:p>
            <a:r>
              <a:rPr lang="en-US" altLang="en-US" sz="2000" b="1" dirty="0"/>
              <a:t>}</a:t>
            </a:r>
          </a:p>
        </p:txBody>
      </p:sp>
      <p:sp>
        <p:nvSpPr>
          <p:cNvPr id="147462" name="WordArt 6">
            <a:extLst>
              <a:ext uri="{FF2B5EF4-FFF2-40B4-BE49-F238E27FC236}">
                <a16:creationId xmlns:a16="http://schemas.microsoft.com/office/drawing/2014/main" id="{4F16AB76-EA13-433F-8152-AE9A338F6EF6}"/>
              </a:ext>
            </a:extLst>
          </p:cNvPr>
          <p:cNvSpPr>
            <a:spLocks noChangeArrowheads="1" noChangeShapeType="1" noTextEdit="1"/>
          </p:cNvSpPr>
          <p:nvPr/>
        </p:nvSpPr>
        <p:spPr bwMode="auto">
          <a:xfrm>
            <a:off x="1371600" y="304800"/>
            <a:ext cx="6400800" cy="5334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Writing compareTo()</a:t>
            </a:r>
          </a:p>
        </p:txBody>
      </p:sp>
      <p:sp>
        <p:nvSpPr>
          <p:cNvPr id="147465" name="Text Box 9">
            <a:extLst>
              <a:ext uri="{FF2B5EF4-FFF2-40B4-BE49-F238E27FC236}">
                <a16:creationId xmlns:a16="http://schemas.microsoft.com/office/drawing/2014/main" id="{A2EE2AE4-2CCB-405E-B508-59D1BD8ACC7C}"/>
              </a:ext>
            </a:extLst>
          </p:cNvPr>
          <p:cNvSpPr txBox="1">
            <a:spLocks noChangeArrowheads="1"/>
          </p:cNvSpPr>
          <p:nvPr/>
        </p:nvSpPr>
        <p:spPr bwMode="auto">
          <a:xfrm>
            <a:off x="5943600" y="4038600"/>
            <a:ext cx="2971800" cy="1563688"/>
          </a:xfrm>
          <a:prstGeom prst="rect">
            <a:avLst/>
          </a:prstGeom>
          <a:noFill/>
          <a:ln w="9525">
            <a:solidFill>
              <a:srgbClr val="00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b="1">
                <a:solidFill>
                  <a:srgbClr val="00CC00"/>
                </a:solidFill>
              </a:rPr>
              <a:t>The abstract</a:t>
            </a:r>
            <a:br>
              <a:rPr lang="en-US" altLang="en-US" sz="3200" b="1">
                <a:solidFill>
                  <a:srgbClr val="00CC00"/>
                </a:solidFill>
              </a:rPr>
            </a:br>
            <a:r>
              <a:rPr lang="en-US" altLang="en-US" sz="3200" b="1">
                <a:solidFill>
                  <a:srgbClr val="00CC00"/>
                </a:solidFill>
              </a:rPr>
              <a:t>becomes</a:t>
            </a:r>
            <a:br>
              <a:rPr lang="en-US" altLang="en-US" sz="3200" b="1">
                <a:solidFill>
                  <a:srgbClr val="00CC00"/>
                </a:solidFill>
              </a:rPr>
            </a:br>
            <a:r>
              <a:rPr lang="en-US" altLang="en-US" sz="3200" b="1">
                <a:solidFill>
                  <a:srgbClr val="00CC00"/>
                </a:solidFill>
              </a:rPr>
              <a:t>concrete.</a:t>
            </a:r>
          </a:p>
        </p:txBody>
      </p:sp>
    </p:spTree>
    <p:extLst>
      <p:ext uri="{BB962C8B-B14F-4D97-AF65-F5344CB8AC3E}">
        <p14:creationId xmlns:p14="http://schemas.microsoft.com/office/powerpoint/2010/main" val="18047763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a:extLst>
              <a:ext uri="{FF2B5EF4-FFF2-40B4-BE49-F238E27FC236}">
                <a16:creationId xmlns:a16="http://schemas.microsoft.com/office/drawing/2014/main" id="{02E2BB8A-5C31-4051-A306-31024EE01F44}"/>
              </a:ext>
            </a:extLst>
          </p:cNvPr>
          <p:cNvSpPr>
            <a:spLocks noChangeArrowheads="1"/>
          </p:cNvSpPr>
          <p:nvPr/>
        </p:nvSpPr>
        <p:spPr bwMode="auto">
          <a:xfrm>
            <a:off x="0" y="27590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tLang="en-US" sz="2400">
              <a:latin typeface="Times New Roman" panose="02020603050405020304" pitchFamily="18" charset="0"/>
            </a:endParaRPr>
          </a:p>
        </p:txBody>
      </p:sp>
      <p:sp>
        <p:nvSpPr>
          <p:cNvPr id="147459" name="Rectangle 3">
            <a:extLst>
              <a:ext uri="{FF2B5EF4-FFF2-40B4-BE49-F238E27FC236}">
                <a16:creationId xmlns:a16="http://schemas.microsoft.com/office/drawing/2014/main" id="{EAC479CB-B70B-4F6F-9F82-32A2F60A10CA}"/>
              </a:ext>
            </a:extLst>
          </p:cNvPr>
          <p:cNvSpPr>
            <a:spLocks noChangeArrowheads="1"/>
          </p:cNvSpPr>
          <p:nvPr/>
        </p:nvSpPr>
        <p:spPr bwMode="auto">
          <a:xfrm>
            <a:off x="0" y="3825875"/>
            <a:ext cx="279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en-US" sz="1200">
                <a:cs typeface="Times New Roman" panose="02020603050405020304" pitchFamily="18" charset="0"/>
              </a:rPr>
              <a:t>  </a:t>
            </a:r>
            <a:endParaRPr lang="en-US" altLang="en-US" sz="2400">
              <a:latin typeface="Times New Roman" panose="02020603050405020304" pitchFamily="18" charset="0"/>
            </a:endParaRPr>
          </a:p>
        </p:txBody>
      </p:sp>
      <p:sp>
        <p:nvSpPr>
          <p:cNvPr id="147460" name="Text Box 4">
            <a:extLst>
              <a:ext uri="{FF2B5EF4-FFF2-40B4-BE49-F238E27FC236}">
                <a16:creationId xmlns:a16="http://schemas.microsoft.com/office/drawing/2014/main" id="{1D5DA6EF-D843-423B-8239-5A64CB7442EB}"/>
              </a:ext>
            </a:extLst>
          </p:cNvPr>
          <p:cNvSpPr txBox="1">
            <a:spLocks noChangeArrowheads="1"/>
          </p:cNvSpPr>
          <p:nvPr/>
        </p:nvSpPr>
        <p:spPr bwMode="auto">
          <a:xfrm>
            <a:off x="1066800" y="2209800"/>
            <a:ext cx="1841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2800"/>
          </a:p>
          <a:p>
            <a:endParaRPr lang="en-US" altLang="en-US" sz="2800"/>
          </a:p>
        </p:txBody>
      </p:sp>
      <p:sp>
        <p:nvSpPr>
          <p:cNvPr id="147461" name="Text Box 5">
            <a:extLst>
              <a:ext uri="{FF2B5EF4-FFF2-40B4-BE49-F238E27FC236}">
                <a16:creationId xmlns:a16="http://schemas.microsoft.com/office/drawing/2014/main" id="{F39F359D-E0D6-4182-B333-553551D28254}"/>
              </a:ext>
            </a:extLst>
          </p:cNvPr>
          <p:cNvSpPr txBox="1">
            <a:spLocks noChangeArrowheads="1"/>
          </p:cNvSpPr>
          <p:nvPr/>
        </p:nvSpPr>
        <p:spPr bwMode="auto">
          <a:xfrm>
            <a:off x="1219200" y="990600"/>
            <a:ext cx="777240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000" b="1" dirty="0"/>
              <a:t>public class Creature </a:t>
            </a:r>
            <a:r>
              <a:rPr lang="en-US" altLang="en-US" sz="2000" b="1" dirty="0">
                <a:solidFill>
                  <a:schemeClr val="accent2"/>
                </a:solidFill>
              </a:rPr>
              <a:t>implements</a:t>
            </a:r>
            <a:r>
              <a:rPr lang="en-US" altLang="en-US" sz="2000" b="1" dirty="0"/>
              <a:t> </a:t>
            </a:r>
            <a:r>
              <a:rPr lang="en-US" altLang="en-US" sz="2000" b="1" dirty="0">
                <a:solidFill>
                  <a:srgbClr val="7030A0"/>
                </a:solidFill>
              </a:rPr>
              <a:t>Comparable&lt;Creature&gt;</a:t>
            </a:r>
          </a:p>
          <a:p>
            <a:r>
              <a:rPr lang="en-US" altLang="en-US" sz="2000" b="1" dirty="0"/>
              <a:t>{</a:t>
            </a:r>
          </a:p>
          <a:p>
            <a:r>
              <a:rPr lang="en-US" altLang="en-US" sz="2000" b="1" dirty="0"/>
              <a:t>   private int size;</a:t>
            </a:r>
          </a:p>
          <a:p>
            <a:endParaRPr lang="en-US" altLang="en-US" sz="2000" b="1" dirty="0"/>
          </a:p>
          <a:p>
            <a:r>
              <a:rPr lang="en-US" altLang="en-US" sz="2000" b="1" dirty="0"/>
              <a:t>   public Creature(int girth) { size=girth; }</a:t>
            </a:r>
          </a:p>
          <a:p>
            <a:endParaRPr lang="en-US" altLang="en-US" sz="2000" b="1" dirty="0"/>
          </a:p>
          <a:p>
            <a:r>
              <a:rPr lang="en-US" altLang="en-US" sz="2000" b="1" dirty="0"/>
              <a:t>   public int </a:t>
            </a:r>
            <a:r>
              <a:rPr lang="en-US" altLang="en-US" sz="2000" b="1" dirty="0" err="1">
                <a:solidFill>
                  <a:srgbClr val="7030A0"/>
                </a:solidFill>
              </a:rPr>
              <a:t>compareTo</a:t>
            </a:r>
            <a:r>
              <a:rPr lang="en-US" altLang="en-US" sz="2000" b="1" dirty="0"/>
              <a:t>(</a:t>
            </a:r>
            <a:r>
              <a:rPr lang="en-US" altLang="en-US" sz="2000" b="1" dirty="0">
                <a:solidFill>
                  <a:srgbClr val="7030A0"/>
                </a:solidFill>
              </a:rPr>
              <a:t>Creature other</a:t>
            </a:r>
            <a:r>
              <a:rPr lang="en-US" altLang="en-US" sz="2000" b="1" dirty="0"/>
              <a:t>) </a:t>
            </a:r>
          </a:p>
          <a:p>
            <a:r>
              <a:rPr lang="en-US" altLang="en-US" sz="2000" b="1" dirty="0"/>
              <a:t>   {</a:t>
            </a:r>
          </a:p>
          <a:p>
            <a:r>
              <a:rPr lang="en-US" altLang="en-US" sz="2000" b="1" dirty="0"/>
              <a:t>       return </a:t>
            </a:r>
            <a:r>
              <a:rPr lang="en-US" altLang="en-US" sz="2000" b="1" dirty="0" err="1"/>
              <a:t>this.size</a:t>
            </a:r>
            <a:r>
              <a:rPr lang="en-US" altLang="en-US" sz="2000" b="1" dirty="0"/>
              <a:t> - </a:t>
            </a:r>
            <a:r>
              <a:rPr lang="en-US" altLang="en-US" sz="2000" b="1" dirty="0" err="1"/>
              <a:t>other.size</a:t>
            </a:r>
            <a:r>
              <a:rPr lang="en-US" altLang="en-US" sz="2000" b="1" dirty="0"/>
              <a:t>; </a:t>
            </a:r>
          </a:p>
          <a:p>
            <a:r>
              <a:rPr lang="en-US" altLang="en-US" sz="2000" b="1" dirty="0"/>
              <a:t>   }</a:t>
            </a:r>
          </a:p>
          <a:p>
            <a:endParaRPr lang="en-US" altLang="en-US" sz="2000" b="1" dirty="0"/>
          </a:p>
          <a:p>
            <a:r>
              <a:rPr lang="en-US" altLang="en-US" sz="2000" b="1" dirty="0"/>
              <a:t>   public String </a:t>
            </a:r>
            <a:r>
              <a:rPr lang="en-US" altLang="en-US" sz="2000" b="1" dirty="0" err="1"/>
              <a:t>toString</a:t>
            </a:r>
            <a:r>
              <a:rPr lang="en-US" altLang="en-US" sz="2000" b="1" dirty="0"/>
              <a:t>() { </a:t>
            </a:r>
            <a:br>
              <a:rPr lang="en-US" altLang="en-US" sz="2000" b="1" dirty="0"/>
            </a:br>
            <a:r>
              <a:rPr lang="en-US" altLang="en-US" sz="2000" b="1" dirty="0"/>
              <a:t>       return "" + size; </a:t>
            </a:r>
          </a:p>
          <a:p>
            <a:r>
              <a:rPr lang="en-US" altLang="en-US" sz="2000" b="1" dirty="0"/>
              <a:t>   }</a:t>
            </a:r>
          </a:p>
          <a:p>
            <a:r>
              <a:rPr lang="en-US" altLang="en-US" sz="2000" b="1" dirty="0"/>
              <a:t>}</a:t>
            </a:r>
          </a:p>
        </p:txBody>
      </p:sp>
      <p:sp>
        <p:nvSpPr>
          <p:cNvPr id="147462" name="WordArt 6">
            <a:extLst>
              <a:ext uri="{FF2B5EF4-FFF2-40B4-BE49-F238E27FC236}">
                <a16:creationId xmlns:a16="http://schemas.microsoft.com/office/drawing/2014/main" id="{4F16AB76-EA13-433F-8152-AE9A338F6EF6}"/>
              </a:ext>
            </a:extLst>
          </p:cNvPr>
          <p:cNvSpPr>
            <a:spLocks noChangeArrowheads="1" noChangeShapeType="1" noTextEdit="1"/>
          </p:cNvSpPr>
          <p:nvPr/>
        </p:nvSpPr>
        <p:spPr bwMode="auto">
          <a:xfrm>
            <a:off x="1371600" y="304800"/>
            <a:ext cx="6400800" cy="5334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Writing compareTo()</a:t>
            </a:r>
          </a:p>
        </p:txBody>
      </p:sp>
      <p:sp>
        <p:nvSpPr>
          <p:cNvPr id="147465" name="Text Box 9">
            <a:extLst>
              <a:ext uri="{FF2B5EF4-FFF2-40B4-BE49-F238E27FC236}">
                <a16:creationId xmlns:a16="http://schemas.microsoft.com/office/drawing/2014/main" id="{A2EE2AE4-2CCB-405E-B508-59D1BD8ACC7C}"/>
              </a:ext>
            </a:extLst>
          </p:cNvPr>
          <p:cNvSpPr txBox="1">
            <a:spLocks noChangeArrowheads="1"/>
          </p:cNvSpPr>
          <p:nvPr/>
        </p:nvSpPr>
        <p:spPr bwMode="auto">
          <a:xfrm>
            <a:off x="5943600" y="4038600"/>
            <a:ext cx="2971800" cy="1563688"/>
          </a:xfrm>
          <a:prstGeom prst="rect">
            <a:avLst/>
          </a:prstGeom>
          <a:noFill/>
          <a:ln w="9525">
            <a:solidFill>
              <a:srgbClr val="00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b="1">
                <a:solidFill>
                  <a:srgbClr val="00CC00"/>
                </a:solidFill>
              </a:rPr>
              <a:t>The abstract</a:t>
            </a:r>
            <a:br>
              <a:rPr lang="en-US" altLang="en-US" sz="3200" b="1">
                <a:solidFill>
                  <a:srgbClr val="00CC00"/>
                </a:solidFill>
              </a:rPr>
            </a:br>
            <a:r>
              <a:rPr lang="en-US" altLang="en-US" sz="3200" b="1">
                <a:solidFill>
                  <a:srgbClr val="00CC00"/>
                </a:solidFill>
              </a:rPr>
              <a:t>becomes</a:t>
            </a:r>
            <a:br>
              <a:rPr lang="en-US" altLang="en-US" sz="3200" b="1">
                <a:solidFill>
                  <a:srgbClr val="00CC00"/>
                </a:solidFill>
              </a:rPr>
            </a:br>
            <a:r>
              <a:rPr lang="en-US" altLang="en-US" sz="3200" b="1">
                <a:solidFill>
                  <a:srgbClr val="00CC00"/>
                </a:solidFill>
              </a:rPr>
              <a:t>concrete.</a:t>
            </a:r>
          </a:p>
        </p:txBody>
      </p:sp>
    </p:spTree>
    <p:extLst>
      <p:ext uri="{BB962C8B-B14F-4D97-AF65-F5344CB8AC3E}">
        <p14:creationId xmlns:p14="http://schemas.microsoft.com/office/powerpoint/2010/main" val="2463036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a:extLst>
              <a:ext uri="{FF2B5EF4-FFF2-40B4-BE49-F238E27FC236}">
                <a16:creationId xmlns:a16="http://schemas.microsoft.com/office/drawing/2014/main" id="{02E2BB8A-5C31-4051-A306-31024EE01F44}"/>
              </a:ext>
            </a:extLst>
          </p:cNvPr>
          <p:cNvSpPr>
            <a:spLocks noChangeArrowheads="1"/>
          </p:cNvSpPr>
          <p:nvPr/>
        </p:nvSpPr>
        <p:spPr bwMode="auto">
          <a:xfrm>
            <a:off x="0" y="27590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tLang="en-US" sz="2400">
              <a:latin typeface="Times New Roman" panose="02020603050405020304" pitchFamily="18" charset="0"/>
            </a:endParaRPr>
          </a:p>
        </p:txBody>
      </p:sp>
      <p:sp>
        <p:nvSpPr>
          <p:cNvPr id="147459" name="Rectangle 3">
            <a:extLst>
              <a:ext uri="{FF2B5EF4-FFF2-40B4-BE49-F238E27FC236}">
                <a16:creationId xmlns:a16="http://schemas.microsoft.com/office/drawing/2014/main" id="{EAC479CB-B70B-4F6F-9F82-32A2F60A10CA}"/>
              </a:ext>
            </a:extLst>
          </p:cNvPr>
          <p:cNvSpPr>
            <a:spLocks noChangeArrowheads="1"/>
          </p:cNvSpPr>
          <p:nvPr/>
        </p:nvSpPr>
        <p:spPr bwMode="auto">
          <a:xfrm>
            <a:off x="0" y="3825875"/>
            <a:ext cx="279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en-US" sz="1200">
                <a:cs typeface="Times New Roman" panose="02020603050405020304" pitchFamily="18" charset="0"/>
              </a:rPr>
              <a:t>  </a:t>
            </a:r>
            <a:endParaRPr lang="en-US" altLang="en-US" sz="2400">
              <a:latin typeface="Times New Roman" panose="02020603050405020304" pitchFamily="18" charset="0"/>
            </a:endParaRPr>
          </a:p>
        </p:txBody>
      </p:sp>
      <p:sp>
        <p:nvSpPr>
          <p:cNvPr id="147460" name="Text Box 4">
            <a:extLst>
              <a:ext uri="{FF2B5EF4-FFF2-40B4-BE49-F238E27FC236}">
                <a16:creationId xmlns:a16="http://schemas.microsoft.com/office/drawing/2014/main" id="{1D5DA6EF-D843-423B-8239-5A64CB7442EB}"/>
              </a:ext>
            </a:extLst>
          </p:cNvPr>
          <p:cNvSpPr txBox="1">
            <a:spLocks noChangeArrowheads="1"/>
          </p:cNvSpPr>
          <p:nvPr/>
        </p:nvSpPr>
        <p:spPr bwMode="auto">
          <a:xfrm>
            <a:off x="1066800" y="2209800"/>
            <a:ext cx="1841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ltLang="en-US" sz="2800"/>
          </a:p>
          <a:p>
            <a:endParaRPr lang="en-US" altLang="en-US" sz="2800"/>
          </a:p>
        </p:txBody>
      </p:sp>
      <p:sp>
        <p:nvSpPr>
          <p:cNvPr id="147461" name="Text Box 5">
            <a:extLst>
              <a:ext uri="{FF2B5EF4-FFF2-40B4-BE49-F238E27FC236}">
                <a16:creationId xmlns:a16="http://schemas.microsoft.com/office/drawing/2014/main" id="{F39F359D-E0D6-4182-B333-553551D28254}"/>
              </a:ext>
            </a:extLst>
          </p:cNvPr>
          <p:cNvSpPr txBox="1">
            <a:spLocks noChangeArrowheads="1"/>
          </p:cNvSpPr>
          <p:nvPr/>
        </p:nvSpPr>
        <p:spPr bwMode="auto">
          <a:xfrm>
            <a:off x="1219200" y="990600"/>
            <a:ext cx="6011863" cy="557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dirty="0"/>
              <a:t>public class Creature </a:t>
            </a:r>
            <a:r>
              <a:rPr lang="en-US" altLang="en-US" sz="2000" b="1" dirty="0">
                <a:solidFill>
                  <a:schemeClr val="accent2"/>
                </a:solidFill>
              </a:rPr>
              <a:t>implements</a:t>
            </a:r>
            <a:r>
              <a:rPr lang="en-US" altLang="en-US" sz="2000" b="1" dirty="0"/>
              <a:t> Comparable</a:t>
            </a:r>
          </a:p>
          <a:p>
            <a:r>
              <a:rPr lang="en-US" altLang="en-US" sz="2000" b="1" dirty="0"/>
              <a:t>{</a:t>
            </a:r>
          </a:p>
          <a:p>
            <a:r>
              <a:rPr lang="en-US" altLang="en-US" sz="2000" b="1" dirty="0"/>
              <a:t>  private int size;</a:t>
            </a:r>
          </a:p>
          <a:p>
            <a:endParaRPr lang="en-US" altLang="en-US" sz="2000" b="1" dirty="0"/>
          </a:p>
          <a:p>
            <a:r>
              <a:rPr lang="en-US" altLang="en-US" sz="2000" b="1" dirty="0"/>
              <a:t>  public Creature(int girth) { size=girth; }</a:t>
            </a:r>
          </a:p>
          <a:p>
            <a:endParaRPr lang="en-US" altLang="en-US" sz="2000" b="1" dirty="0"/>
          </a:p>
          <a:p>
            <a:r>
              <a:rPr lang="en-US" altLang="en-US" sz="2000" b="1" dirty="0"/>
              <a:t>  public int </a:t>
            </a:r>
            <a:r>
              <a:rPr lang="en-US" altLang="en-US" sz="2000" b="1" dirty="0" err="1">
                <a:solidFill>
                  <a:srgbClr val="7030A0"/>
                </a:solidFill>
              </a:rPr>
              <a:t>compareTo</a:t>
            </a:r>
            <a:r>
              <a:rPr lang="en-US" altLang="en-US" sz="2000" b="1" dirty="0"/>
              <a:t>(</a:t>
            </a:r>
            <a:r>
              <a:rPr lang="en-US" altLang="en-US" sz="2000" b="1" dirty="0">
                <a:solidFill>
                  <a:srgbClr val="7030A0"/>
                </a:solidFill>
              </a:rPr>
              <a:t>Object</a:t>
            </a:r>
            <a:r>
              <a:rPr lang="en-US" altLang="en-US" sz="2000" b="1" dirty="0"/>
              <a:t> </a:t>
            </a:r>
            <a:r>
              <a:rPr lang="en-US" altLang="en-US" sz="2000" b="1" dirty="0">
                <a:solidFill>
                  <a:srgbClr val="7030A0"/>
                </a:solidFill>
              </a:rPr>
              <a:t>obj</a:t>
            </a:r>
            <a:r>
              <a:rPr lang="en-US" altLang="en-US" sz="2000" b="1" dirty="0"/>
              <a:t>) </a:t>
            </a:r>
          </a:p>
          <a:p>
            <a:r>
              <a:rPr lang="en-US" altLang="en-US" sz="2000" b="1" dirty="0"/>
              <a:t>  {</a:t>
            </a:r>
          </a:p>
          <a:p>
            <a:r>
              <a:rPr lang="en-US" altLang="en-US" sz="2000" b="1" dirty="0">
                <a:solidFill>
                  <a:srgbClr val="7030A0"/>
                </a:solidFill>
              </a:rPr>
              <a:t>     Creature other = (Creature)obj;</a:t>
            </a:r>
          </a:p>
          <a:p>
            <a:r>
              <a:rPr lang="en-US" altLang="en-US" sz="2000" b="1" dirty="0"/>
              <a:t>     if(size&gt;</a:t>
            </a:r>
            <a:r>
              <a:rPr lang="en-US" altLang="en-US" sz="2000" b="1" dirty="0" err="1"/>
              <a:t>other.size</a:t>
            </a:r>
            <a:r>
              <a:rPr lang="en-US" altLang="en-US" sz="2000" b="1" dirty="0"/>
              <a:t>)</a:t>
            </a:r>
          </a:p>
          <a:p>
            <a:r>
              <a:rPr lang="en-US" altLang="en-US" sz="2000" b="1" dirty="0"/>
              <a:t>       return 1;</a:t>
            </a:r>
          </a:p>
          <a:p>
            <a:r>
              <a:rPr lang="en-US" altLang="en-US" sz="2000" b="1" dirty="0"/>
              <a:t>     else if(size&lt;</a:t>
            </a:r>
            <a:r>
              <a:rPr lang="en-US" altLang="en-US" sz="2000" b="1" dirty="0" err="1"/>
              <a:t>other.size</a:t>
            </a:r>
            <a:r>
              <a:rPr lang="en-US" altLang="en-US" sz="2000" b="1" dirty="0"/>
              <a:t>) </a:t>
            </a:r>
          </a:p>
          <a:p>
            <a:r>
              <a:rPr lang="en-US" altLang="en-US" sz="2000" b="1" dirty="0"/>
              <a:t>       return -1;</a:t>
            </a:r>
          </a:p>
          <a:p>
            <a:r>
              <a:rPr lang="en-US" altLang="en-US" sz="2000" b="1" dirty="0"/>
              <a:t>     return 0; </a:t>
            </a:r>
          </a:p>
          <a:p>
            <a:r>
              <a:rPr lang="en-US" altLang="en-US" sz="2000" b="1" dirty="0"/>
              <a:t>  }</a:t>
            </a:r>
          </a:p>
          <a:p>
            <a:endParaRPr lang="en-US" altLang="en-US" sz="2000" b="1" dirty="0"/>
          </a:p>
          <a:p>
            <a:r>
              <a:rPr lang="en-US" altLang="en-US" sz="2000" b="1" dirty="0"/>
              <a:t>  public String </a:t>
            </a:r>
            <a:r>
              <a:rPr lang="en-US" altLang="en-US" sz="2000" b="1" dirty="0" err="1"/>
              <a:t>toString</a:t>
            </a:r>
            <a:r>
              <a:rPr lang="en-US" altLang="en-US" sz="2000" b="1" dirty="0"/>
              <a:t>() { return "" + size; }</a:t>
            </a:r>
          </a:p>
          <a:p>
            <a:r>
              <a:rPr lang="en-US" altLang="en-US" sz="2000" b="1" dirty="0"/>
              <a:t>}</a:t>
            </a:r>
          </a:p>
        </p:txBody>
      </p:sp>
      <p:sp>
        <p:nvSpPr>
          <p:cNvPr id="147462" name="WordArt 6">
            <a:extLst>
              <a:ext uri="{FF2B5EF4-FFF2-40B4-BE49-F238E27FC236}">
                <a16:creationId xmlns:a16="http://schemas.microsoft.com/office/drawing/2014/main" id="{4F16AB76-EA13-433F-8152-AE9A338F6EF6}"/>
              </a:ext>
            </a:extLst>
          </p:cNvPr>
          <p:cNvSpPr>
            <a:spLocks noChangeArrowheads="1" noChangeShapeType="1" noTextEdit="1"/>
          </p:cNvSpPr>
          <p:nvPr/>
        </p:nvSpPr>
        <p:spPr bwMode="auto">
          <a:xfrm>
            <a:off x="1371600" y="304800"/>
            <a:ext cx="6400800" cy="5334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Writing compareTo()</a:t>
            </a:r>
          </a:p>
        </p:txBody>
      </p:sp>
      <p:sp>
        <p:nvSpPr>
          <p:cNvPr id="147465" name="Text Box 9">
            <a:extLst>
              <a:ext uri="{FF2B5EF4-FFF2-40B4-BE49-F238E27FC236}">
                <a16:creationId xmlns:a16="http://schemas.microsoft.com/office/drawing/2014/main" id="{A2EE2AE4-2CCB-405E-B508-59D1BD8ACC7C}"/>
              </a:ext>
            </a:extLst>
          </p:cNvPr>
          <p:cNvSpPr txBox="1">
            <a:spLocks noChangeArrowheads="1"/>
          </p:cNvSpPr>
          <p:nvPr/>
        </p:nvSpPr>
        <p:spPr bwMode="auto">
          <a:xfrm>
            <a:off x="5943600" y="4038600"/>
            <a:ext cx="2971800" cy="1563688"/>
          </a:xfrm>
          <a:prstGeom prst="rect">
            <a:avLst/>
          </a:prstGeom>
          <a:noFill/>
          <a:ln w="9525">
            <a:solidFill>
              <a:srgbClr val="00CC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b="1">
                <a:solidFill>
                  <a:srgbClr val="00CC00"/>
                </a:solidFill>
              </a:rPr>
              <a:t>The abstract</a:t>
            </a:r>
            <a:br>
              <a:rPr lang="en-US" altLang="en-US" sz="3200" b="1">
                <a:solidFill>
                  <a:srgbClr val="00CC00"/>
                </a:solidFill>
              </a:rPr>
            </a:br>
            <a:r>
              <a:rPr lang="en-US" altLang="en-US" sz="3200" b="1">
                <a:solidFill>
                  <a:srgbClr val="00CC00"/>
                </a:solidFill>
              </a:rPr>
              <a:t>becomes</a:t>
            </a:r>
            <a:br>
              <a:rPr lang="en-US" altLang="en-US" sz="3200" b="1">
                <a:solidFill>
                  <a:srgbClr val="00CC00"/>
                </a:solidFill>
              </a:rPr>
            </a:br>
            <a:r>
              <a:rPr lang="en-US" altLang="en-US" sz="3200" b="1">
                <a:solidFill>
                  <a:srgbClr val="00CC00"/>
                </a:solidFill>
              </a:rPr>
              <a:t>concrete.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BBA91459-8D66-4912-90AD-18C0F3530564}"/>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236546" name="WordArt 2">
            <a:extLst>
              <a:ext uri="{FF2B5EF4-FFF2-40B4-BE49-F238E27FC236}">
                <a16:creationId xmlns:a16="http://schemas.microsoft.com/office/drawing/2014/main" id="{D3537516-E7FE-48C7-966D-4CA4C700C28F}"/>
              </a:ext>
            </a:extLst>
          </p:cNvPr>
          <p:cNvSpPr>
            <a:spLocks noChangeArrowheads="1" noChangeShapeType="1" noTextEdit="1"/>
          </p:cNvSpPr>
          <p:nvPr/>
        </p:nvSpPr>
        <p:spPr bwMode="auto">
          <a:xfrm>
            <a:off x="685800" y="1066800"/>
            <a:ext cx="7620000" cy="457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How Java </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uses</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Comparable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C5A0D7D0-B81B-4AAE-91CE-F77662A47929}"/>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95586" name="WordArt 2">
            <a:extLst>
              <a:ext uri="{FF2B5EF4-FFF2-40B4-BE49-F238E27FC236}">
                <a16:creationId xmlns:a16="http://schemas.microsoft.com/office/drawing/2014/main" id="{9EE1B703-58AA-4DED-BCD1-C8D452601558}"/>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Why use an interface?</a:t>
            </a:r>
          </a:p>
        </p:txBody>
      </p:sp>
      <p:sp>
        <p:nvSpPr>
          <p:cNvPr id="195587" name="Text Box 3">
            <a:extLst>
              <a:ext uri="{FF2B5EF4-FFF2-40B4-BE49-F238E27FC236}">
                <a16:creationId xmlns:a16="http://schemas.microsoft.com/office/drawing/2014/main" id="{1065A657-5C91-44F3-AE1B-C8863712EB12}"/>
              </a:ext>
            </a:extLst>
          </p:cNvPr>
          <p:cNvSpPr txBox="1">
            <a:spLocks noChangeArrowheads="1"/>
          </p:cNvSpPr>
          <p:nvPr/>
        </p:nvSpPr>
        <p:spPr bwMode="auto">
          <a:xfrm>
            <a:off x="685800" y="2057400"/>
            <a:ext cx="7891463" cy="314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a:latin typeface="Arial" panose="020B0604020202020204" pitchFamily="34" charset="0"/>
              </a:rPr>
              <a:t>If an entire hierarchy of classes</a:t>
            </a:r>
          </a:p>
          <a:p>
            <a:pPr eaLnBrk="0" hangingPunct="0"/>
            <a:r>
              <a:rPr lang="en-US" altLang="en-US" sz="4000" b="1">
                <a:latin typeface="Arial" panose="020B0604020202020204" pitchFamily="34" charset="0"/>
              </a:rPr>
              <a:t>implements the same interface,</a:t>
            </a:r>
          </a:p>
          <a:p>
            <a:pPr eaLnBrk="0" hangingPunct="0"/>
            <a:r>
              <a:rPr lang="en-US" altLang="en-US" sz="4000" b="1">
                <a:latin typeface="Arial" panose="020B0604020202020204" pitchFamily="34" charset="0"/>
              </a:rPr>
              <a:t>you can write very generic code</a:t>
            </a:r>
          </a:p>
          <a:p>
            <a:pPr eaLnBrk="0" hangingPunct="0"/>
            <a:r>
              <a:rPr lang="en-US" altLang="en-US" sz="4000" b="1">
                <a:latin typeface="Arial" panose="020B0604020202020204" pitchFamily="34" charset="0"/>
              </a:rPr>
              <a:t>to manipulate any of those</a:t>
            </a:r>
          </a:p>
          <a:p>
            <a:pPr eaLnBrk="0" hangingPunct="0"/>
            <a:r>
              <a:rPr lang="en-US" altLang="en-US" sz="4000" b="1">
                <a:latin typeface="Arial" panose="020B0604020202020204" pitchFamily="34" charset="0"/>
              </a:rPr>
              <a:t>classes.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57AC62C6-FBC4-4B99-84AD-EBAA9B276135}"/>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97634" name="Text Box 2">
            <a:extLst>
              <a:ext uri="{FF2B5EF4-FFF2-40B4-BE49-F238E27FC236}">
                <a16:creationId xmlns:a16="http://schemas.microsoft.com/office/drawing/2014/main" id="{98E175CA-0716-470F-8B53-E6FB36EAE781}"/>
              </a:ext>
            </a:extLst>
          </p:cNvPr>
          <p:cNvSpPr txBox="1">
            <a:spLocks noChangeArrowheads="1"/>
          </p:cNvSpPr>
          <p:nvPr/>
        </p:nvSpPr>
        <p:spPr bwMode="auto">
          <a:xfrm>
            <a:off x="838200" y="1981200"/>
            <a:ext cx="7583488" cy="435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a:latin typeface="Arial" panose="020B0604020202020204" pitchFamily="34" charset="0"/>
              </a:rPr>
              <a:t>Comparable[] list =  </a:t>
            </a:r>
          </a:p>
          <a:p>
            <a:pPr eaLnBrk="0" hangingPunct="0"/>
            <a:r>
              <a:rPr lang="en-US" altLang="en-US" sz="4000" b="1">
                <a:latin typeface="Arial" panose="020B0604020202020204" pitchFamily="34" charset="0"/>
              </a:rPr>
              <a:t>                new Comparable[25];</a:t>
            </a:r>
          </a:p>
          <a:p>
            <a:pPr eaLnBrk="0" hangingPunct="0"/>
            <a:br>
              <a:rPr lang="en-US" altLang="en-US" sz="4000" b="1">
                <a:latin typeface="Arial" panose="020B0604020202020204" pitchFamily="34" charset="0"/>
              </a:rPr>
            </a:br>
            <a:r>
              <a:rPr lang="en-US" altLang="en-US" sz="4000" b="1">
                <a:solidFill>
                  <a:srgbClr val="00CC00"/>
                </a:solidFill>
                <a:latin typeface="Arial" panose="020B0604020202020204" pitchFamily="34" charset="0"/>
              </a:rPr>
              <a:t>//load with Comparables</a:t>
            </a:r>
          </a:p>
          <a:p>
            <a:pPr eaLnBrk="0" hangingPunct="0"/>
            <a:endParaRPr lang="en-US" altLang="en-US" sz="4000" b="1">
              <a:latin typeface="Arial" panose="020B0604020202020204" pitchFamily="34" charset="0"/>
            </a:endParaRPr>
          </a:p>
          <a:p>
            <a:pPr eaLnBrk="0" hangingPunct="0"/>
            <a:r>
              <a:rPr lang="en-US" altLang="en-US" sz="4000" b="1">
                <a:latin typeface="Arial" panose="020B0604020202020204" pitchFamily="34" charset="0"/>
              </a:rPr>
              <a:t>Arrays.sort(list);</a:t>
            </a:r>
          </a:p>
          <a:p>
            <a:pPr eaLnBrk="0" hangingPunct="0"/>
            <a:r>
              <a:rPr lang="en-US" altLang="en-US" sz="4000" b="1">
                <a:latin typeface="Arial" panose="020B0604020202020204" pitchFamily="34" charset="0"/>
              </a:rPr>
              <a:t>  </a:t>
            </a:r>
          </a:p>
        </p:txBody>
      </p:sp>
      <p:sp>
        <p:nvSpPr>
          <p:cNvPr id="197635" name="WordArt 3">
            <a:extLst>
              <a:ext uri="{FF2B5EF4-FFF2-40B4-BE49-F238E27FC236}">
                <a16:creationId xmlns:a16="http://schemas.microsoft.com/office/drawing/2014/main" id="{CF71DD14-833F-4B4A-AD2D-C2026809B69A}"/>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FB853852-81B6-422A-970F-22C21EE05378}"/>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99682" name="Text Box 2">
            <a:extLst>
              <a:ext uri="{FF2B5EF4-FFF2-40B4-BE49-F238E27FC236}">
                <a16:creationId xmlns:a16="http://schemas.microsoft.com/office/drawing/2014/main" id="{E9B23B09-72C0-4B2D-B638-53CC1EE9F154}"/>
              </a:ext>
            </a:extLst>
          </p:cNvPr>
          <p:cNvSpPr txBox="1">
            <a:spLocks noChangeArrowheads="1"/>
          </p:cNvSpPr>
          <p:nvPr/>
        </p:nvSpPr>
        <p:spPr bwMode="auto">
          <a:xfrm>
            <a:off x="914400" y="2209800"/>
            <a:ext cx="7410450" cy="253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a:latin typeface="Arial" panose="020B0604020202020204" pitchFamily="34" charset="0"/>
              </a:rPr>
              <a:t>Arrays.sort() will use the </a:t>
            </a:r>
          </a:p>
          <a:p>
            <a:pPr eaLnBrk="0" hangingPunct="0"/>
            <a:r>
              <a:rPr lang="en-US" altLang="en-US" sz="4000" b="1">
                <a:latin typeface="Arial" panose="020B0604020202020204" pitchFamily="34" charset="0"/>
              </a:rPr>
              <a:t>compareTo() method of each</a:t>
            </a:r>
          </a:p>
          <a:p>
            <a:pPr eaLnBrk="0" hangingPunct="0"/>
            <a:r>
              <a:rPr lang="en-US" altLang="en-US" sz="4000" b="1">
                <a:latin typeface="Arial" panose="020B0604020202020204" pitchFamily="34" charset="0"/>
              </a:rPr>
              <a:t>object when sorting the array.</a:t>
            </a:r>
          </a:p>
          <a:p>
            <a:pPr eaLnBrk="0" hangingPunct="0"/>
            <a:r>
              <a:rPr lang="en-US" altLang="en-US" sz="4000" b="1">
                <a:latin typeface="Arial" panose="020B0604020202020204" pitchFamily="34" charset="0"/>
              </a:rPr>
              <a:t>  </a:t>
            </a:r>
          </a:p>
        </p:txBody>
      </p:sp>
      <p:sp>
        <p:nvSpPr>
          <p:cNvPr id="199683" name="WordArt 3">
            <a:extLst>
              <a:ext uri="{FF2B5EF4-FFF2-40B4-BE49-F238E27FC236}">
                <a16:creationId xmlns:a16="http://schemas.microsoft.com/office/drawing/2014/main" id="{AF16313F-CE23-4B6B-A886-AD89885AA806}"/>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3" name="WordArt 3">
            <a:extLst>
              <a:ext uri="{FF2B5EF4-FFF2-40B4-BE49-F238E27FC236}">
                <a16:creationId xmlns:a16="http://schemas.microsoft.com/office/drawing/2014/main" id="{AF16313F-CE23-4B6B-A886-AD89885AA806}"/>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dirty="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Arrays Sort Method</a:t>
            </a:r>
          </a:p>
        </p:txBody>
      </p:sp>
      <p:sp>
        <p:nvSpPr>
          <p:cNvPr id="4" name="Rectangle 3">
            <a:extLst>
              <a:ext uri="{FF2B5EF4-FFF2-40B4-BE49-F238E27FC236}">
                <a16:creationId xmlns:a16="http://schemas.microsoft.com/office/drawing/2014/main" id="{6CF1003F-5D96-4E2E-A6D4-A26F28D34AC2}"/>
              </a:ext>
            </a:extLst>
          </p:cNvPr>
          <p:cNvSpPr>
            <a:spLocks noChangeArrowheads="1"/>
          </p:cNvSpPr>
          <p:nvPr/>
        </p:nvSpPr>
        <p:spPr bwMode="auto">
          <a:xfrm>
            <a:off x="685800" y="1905000"/>
            <a:ext cx="819150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rgbClr val="353833"/>
                </a:solidFill>
                <a:effectLst/>
                <a:latin typeface="Arial Unicode MS"/>
              </a:rPr>
              <a:t>public static void sort(</a:t>
            </a:r>
            <a:r>
              <a:rPr kumimoji="0" lang="en-US" altLang="en-US" sz="3200" b="1" i="0" u="none" strike="noStrike" cap="none" normalizeH="0" baseline="0" dirty="0">
                <a:ln>
                  <a:noFill/>
                </a:ln>
                <a:solidFill>
                  <a:srgbClr val="4C6B87"/>
                </a:solidFill>
                <a:effectLst/>
                <a:latin typeface="Arial Unicode MS"/>
              </a:rPr>
              <a:t>Object</a:t>
            </a:r>
            <a:r>
              <a:rPr kumimoji="0" lang="en-US" altLang="en-US" sz="3200" b="1" i="0" u="none" strike="noStrike" cap="none" normalizeH="0" baseline="0" dirty="0">
                <a:ln>
                  <a:noFill/>
                </a:ln>
                <a:solidFill>
                  <a:srgbClr val="353833"/>
                </a:solidFill>
                <a:effectLst/>
                <a:latin typeface="Arial Unicode MS"/>
              </a:rPr>
              <a:t>[] a)</a:t>
            </a:r>
            <a:endParaRPr kumimoji="0" lang="en-US" altLang="en-US" sz="32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rgbClr val="353833"/>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353833"/>
                </a:solidFill>
                <a:effectLst/>
                <a:cs typeface="Arial" panose="020B0604020202020204" pitchFamily="34" charset="0"/>
              </a:rPr>
              <a:t>All elements in the array must implement the </a:t>
            </a:r>
            <a:r>
              <a:rPr kumimoji="0" lang="en-US" altLang="en-US" sz="3200" b="0" i="0" u="none" strike="noStrike" cap="none" normalizeH="0" baseline="0" dirty="0">
                <a:ln>
                  <a:noFill/>
                </a:ln>
                <a:solidFill>
                  <a:srgbClr val="4C6B87"/>
                </a:solidFill>
                <a:effectLst/>
                <a:latin typeface="Arial Unicode MS"/>
                <a:cs typeface="Arial" panose="020B0604020202020204" pitchFamily="34" charset="0"/>
              </a:rPr>
              <a:t>Comparable</a:t>
            </a:r>
            <a:r>
              <a:rPr kumimoji="0" lang="en-US" altLang="en-US" sz="3200" b="0" i="0" u="none" strike="noStrike" cap="none" normalizeH="0" baseline="0" dirty="0">
                <a:ln>
                  <a:noFill/>
                </a:ln>
                <a:solidFill>
                  <a:srgbClr val="353833"/>
                </a:solidFill>
                <a:effectLst/>
                <a:cs typeface="Arial" panose="020B0604020202020204" pitchFamily="34" charset="0"/>
              </a:rPr>
              <a:t> interface. Furthermore, all elements in the array must be </a:t>
            </a:r>
            <a:r>
              <a:rPr kumimoji="0" lang="en-US" altLang="en-US" sz="3200" b="0" i="1" u="none" strike="noStrike" cap="none" normalizeH="0" baseline="0" dirty="0">
                <a:ln>
                  <a:noFill/>
                </a:ln>
                <a:solidFill>
                  <a:srgbClr val="353833"/>
                </a:solidFill>
                <a:effectLst/>
                <a:cs typeface="Arial" panose="020B0604020202020204" pitchFamily="34" charset="0"/>
              </a:rPr>
              <a:t>mutually comparable</a:t>
            </a:r>
            <a:r>
              <a:rPr kumimoji="0" lang="en-US" altLang="en-US" sz="3200" b="0" i="0" u="none" strike="noStrike" cap="none" normalizeH="0" baseline="0" dirty="0">
                <a:ln>
                  <a:noFill/>
                </a:ln>
                <a:solidFill>
                  <a:srgbClr val="353833"/>
                </a:solidFill>
                <a:effectLst/>
                <a:cs typeface="Arial" panose="020B0604020202020204" pitchFamily="34" charset="0"/>
              </a:rPr>
              <a:t> (that is, </a:t>
            </a:r>
            <a:r>
              <a:rPr kumimoji="0" lang="en-US" altLang="en-US" sz="3200" b="0" i="0" u="none" strike="noStrike" cap="none" normalizeH="0" baseline="0" dirty="0">
                <a:ln>
                  <a:noFill/>
                </a:ln>
                <a:solidFill>
                  <a:srgbClr val="353833"/>
                </a:solidFill>
                <a:effectLst/>
                <a:latin typeface="Arial Unicode MS"/>
                <a:cs typeface="Arial" panose="020B0604020202020204" pitchFamily="34" charset="0"/>
              </a:rPr>
              <a:t>e1.compareTo(e2)</a:t>
            </a:r>
            <a:r>
              <a:rPr kumimoji="0" lang="en-US" altLang="en-US" sz="3200" b="0" i="0" u="none" strike="noStrike" cap="none" normalizeH="0" baseline="0" dirty="0">
                <a:ln>
                  <a:noFill/>
                </a:ln>
                <a:solidFill>
                  <a:srgbClr val="353833"/>
                </a:solidFill>
                <a:effectLst/>
                <a:cs typeface="Arial" panose="020B0604020202020204" pitchFamily="34" charset="0"/>
              </a:rPr>
              <a:t> must not throw a </a:t>
            </a:r>
            <a:r>
              <a:rPr kumimoji="0" lang="en-US" altLang="en-US" sz="3200" b="0" i="0" u="none" strike="noStrike" cap="none" normalizeH="0" baseline="0" dirty="0" err="1">
                <a:ln>
                  <a:noFill/>
                </a:ln>
                <a:solidFill>
                  <a:srgbClr val="353833"/>
                </a:solidFill>
                <a:effectLst/>
                <a:latin typeface="Arial Unicode MS"/>
                <a:cs typeface="Arial" panose="020B0604020202020204" pitchFamily="34" charset="0"/>
              </a:rPr>
              <a:t>ClassCastException</a:t>
            </a:r>
            <a:r>
              <a:rPr kumimoji="0" lang="en-US" altLang="en-US" sz="3200" b="0" i="0" u="none" strike="noStrike" cap="none" normalizeH="0" baseline="0" dirty="0">
                <a:ln>
                  <a:noFill/>
                </a:ln>
                <a:solidFill>
                  <a:srgbClr val="353833"/>
                </a:solidFill>
                <a:effectLst/>
                <a:cs typeface="Arial" panose="020B0604020202020204" pitchFamily="34" charset="0"/>
              </a:rPr>
              <a:t> for any elements </a:t>
            </a:r>
            <a:r>
              <a:rPr kumimoji="0" lang="en-US" altLang="en-US" sz="3200" b="0" i="0" u="none" strike="noStrike" cap="none" normalizeH="0" baseline="0" dirty="0">
                <a:ln>
                  <a:noFill/>
                </a:ln>
                <a:solidFill>
                  <a:srgbClr val="353833"/>
                </a:solidFill>
                <a:effectLst/>
                <a:latin typeface="Arial Unicode MS"/>
                <a:cs typeface="Arial" panose="020B0604020202020204" pitchFamily="34" charset="0"/>
              </a:rPr>
              <a:t>e1</a:t>
            </a:r>
            <a:r>
              <a:rPr kumimoji="0" lang="en-US" altLang="en-US" sz="3200" b="0" i="0" u="none" strike="noStrike" cap="none" normalizeH="0" baseline="0" dirty="0">
                <a:ln>
                  <a:noFill/>
                </a:ln>
                <a:solidFill>
                  <a:srgbClr val="353833"/>
                </a:solidFill>
                <a:effectLst/>
                <a:cs typeface="Arial" panose="020B0604020202020204" pitchFamily="34" charset="0"/>
              </a:rPr>
              <a:t> and </a:t>
            </a:r>
            <a:r>
              <a:rPr kumimoji="0" lang="en-US" altLang="en-US" sz="3200" b="0" i="0" u="none" strike="noStrike" cap="none" normalizeH="0" baseline="0" dirty="0">
                <a:ln>
                  <a:noFill/>
                </a:ln>
                <a:solidFill>
                  <a:srgbClr val="353833"/>
                </a:solidFill>
                <a:effectLst/>
                <a:latin typeface="Arial Unicode MS"/>
                <a:cs typeface="Arial" panose="020B0604020202020204" pitchFamily="34" charset="0"/>
              </a:rPr>
              <a:t>e2</a:t>
            </a:r>
            <a:r>
              <a:rPr kumimoji="0" lang="en-US" altLang="en-US" sz="3200" b="0" i="0" u="none" strike="noStrike" cap="none" normalizeH="0" baseline="0" dirty="0">
                <a:ln>
                  <a:noFill/>
                </a:ln>
                <a:solidFill>
                  <a:srgbClr val="353833"/>
                </a:solidFill>
                <a:effectLst/>
                <a:cs typeface="Arial" panose="020B0604020202020204" pitchFamily="34" charset="0"/>
              </a:rPr>
              <a:t> in the array).</a:t>
            </a:r>
            <a:endParaRPr kumimoji="0" lang="en-US" altLang="en-US" sz="3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0570038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ooter Placeholder 3">
            <a:extLst>
              <a:ext uri="{FF2B5EF4-FFF2-40B4-BE49-F238E27FC236}">
                <a16:creationId xmlns:a16="http://schemas.microsoft.com/office/drawing/2014/main" id="{30B2D25D-7F09-4B71-9FC2-2F8A6CB78161}"/>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201730" name="Text Box 2">
            <a:extLst>
              <a:ext uri="{FF2B5EF4-FFF2-40B4-BE49-F238E27FC236}">
                <a16:creationId xmlns:a16="http://schemas.microsoft.com/office/drawing/2014/main" id="{2257B8E7-0FDE-4367-BB67-E172AF0F7FCE}"/>
              </a:ext>
            </a:extLst>
          </p:cNvPr>
          <p:cNvSpPr txBox="1">
            <a:spLocks noChangeArrowheads="1"/>
          </p:cNvSpPr>
          <p:nvPr/>
        </p:nvSpPr>
        <p:spPr bwMode="auto">
          <a:xfrm>
            <a:off x="457200" y="1828800"/>
            <a:ext cx="6737350" cy="326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b="1"/>
              <a:t>Comparable[] list =  {3,8,7,6,5,4,9};</a:t>
            </a:r>
          </a:p>
          <a:p>
            <a:r>
              <a:rPr lang="en-US" altLang="en-US" sz="2800" b="1"/>
              <a:t>Arrays.sort(list); </a:t>
            </a:r>
          </a:p>
          <a:p>
            <a:r>
              <a:rPr lang="en-US" altLang="en-US" sz="2800" b="1"/>
              <a:t>for(Comparable num : list)</a:t>
            </a:r>
          </a:p>
          <a:p>
            <a:r>
              <a:rPr lang="en-US" altLang="en-US" sz="2800" b="1"/>
              <a:t>{</a:t>
            </a:r>
          </a:p>
          <a:p>
            <a:r>
              <a:rPr lang="en-US" altLang="en-US" sz="2800" b="1"/>
              <a:t>   out.println(num);</a:t>
            </a:r>
          </a:p>
          <a:p>
            <a:r>
              <a:rPr lang="en-US" altLang="en-US" sz="2800" b="1"/>
              <a:t>}</a:t>
            </a:r>
            <a:endParaRPr lang="en-US" altLang="en-US" sz="4000" b="1">
              <a:latin typeface="Arial" panose="020B0604020202020204" pitchFamily="34" charset="0"/>
            </a:endParaRPr>
          </a:p>
          <a:p>
            <a:pPr eaLnBrk="0" hangingPunct="0"/>
            <a:r>
              <a:rPr lang="en-US" altLang="en-US" sz="4000" b="1">
                <a:latin typeface="Arial" panose="020B0604020202020204" pitchFamily="34" charset="0"/>
              </a:rPr>
              <a:t>  </a:t>
            </a:r>
          </a:p>
        </p:txBody>
      </p:sp>
      <p:sp>
        <p:nvSpPr>
          <p:cNvPr id="201731" name="WordArt 3">
            <a:extLst>
              <a:ext uri="{FF2B5EF4-FFF2-40B4-BE49-F238E27FC236}">
                <a16:creationId xmlns:a16="http://schemas.microsoft.com/office/drawing/2014/main" id="{8BDC4445-C802-4456-895F-22EE247377FF}"/>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201732" name="Text Box 4">
            <a:extLst>
              <a:ext uri="{FF2B5EF4-FFF2-40B4-BE49-F238E27FC236}">
                <a16:creationId xmlns:a16="http://schemas.microsoft.com/office/drawing/2014/main" id="{78F73C01-C483-4CED-9139-0EF2A9C780A6}"/>
              </a:ext>
            </a:extLst>
          </p:cNvPr>
          <p:cNvSpPr txBox="1">
            <a:spLocks noChangeArrowheads="1"/>
          </p:cNvSpPr>
          <p:nvPr/>
        </p:nvSpPr>
        <p:spPr bwMode="auto">
          <a:xfrm>
            <a:off x="7010400" y="2438400"/>
            <a:ext cx="1905000" cy="400367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0" hangingPunct="0">
              <a:spcBef>
                <a:spcPct val="50000"/>
              </a:spcBef>
            </a:pPr>
            <a:r>
              <a:rPr lang="en-US" altLang="en-US" sz="3200" b="1" u="sng">
                <a:solidFill>
                  <a:srgbClr val="FF0000"/>
                </a:solidFill>
              </a:rPr>
              <a:t>OUTPUT</a:t>
            </a:r>
            <a:r>
              <a:rPr lang="en-US" altLang="en-US" sz="3200" b="1"/>
              <a:t>3</a:t>
            </a:r>
            <a:br>
              <a:rPr lang="en-US" altLang="en-US" sz="3200" b="1"/>
            </a:br>
            <a:r>
              <a:rPr lang="en-US" altLang="en-US" sz="3200" b="1"/>
              <a:t>4</a:t>
            </a:r>
            <a:br>
              <a:rPr lang="en-US" altLang="en-US" sz="3200" b="1"/>
            </a:br>
            <a:r>
              <a:rPr lang="en-US" altLang="en-US" sz="3200" b="1"/>
              <a:t>5</a:t>
            </a:r>
            <a:br>
              <a:rPr lang="en-US" altLang="en-US" sz="3200" b="1"/>
            </a:br>
            <a:r>
              <a:rPr lang="en-US" altLang="en-US" sz="3200" b="1"/>
              <a:t>6</a:t>
            </a:r>
            <a:br>
              <a:rPr lang="en-US" altLang="en-US" sz="3200" b="1"/>
            </a:br>
            <a:r>
              <a:rPr lang="en-US" altLang="en-US" sz="3200" b="1"/>
              <a:t>7</a:t>
            </a:r>
            <a:br>
              <a:rPr lang="en-US" altLang="en-US" sz="3200" b="1"/>
            </a:br>
            <a:r>
              <a:rPr lang="en-US" altLang="en-US" sz="3200" b="1"/>
              <a:t>8</a:t>
            </a:r>
            <a:br>
              <a:rPr lang="en-US" altLang="en-US" sz="3200" b="1"/>
            </a:br>
            <a:r>
              <a:rPr lang="en-US" altLang="en-US" sz="3200" b="1"/>
              <a:t>9</a:t>
            </a:r>
          </a:p>
        </p:txBody>
      </p:sp>
      <p:sp>
        <p:nvSpPr>
          <p:cNvPr id="201733" name="Text Box 5">
            <a:extLst>
              <a:ext uri="{FF2B5EF4-FFF2-40B4-BE49-F238E27FC236}">
                <a16:creationId xmlns:a16="http://schemas.microsoft.com/office/drawing/2014/main" id="{18AB2F1F-3BBA-4161-BF7E-699AC48FDE0F}"/>
              </a:ext>
            </a:extLst>
          </p:cNvPr>
          <p:cNvSpPr txBox="1">
            <a:spLocks noChangeArrowheads="1"/>
          </p:cNvSpPr>
          <p:nvPr/>
        </p:nvSpPr>
        <p:spPr bwMode="auto">
          <a:xfrm>
            <a:off x="914400" y="5410200"/>
            <a:ext cx="7302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b="1"/>
              <a:t>list</a:t>
            </a:r>
          </a:p>
        </p:txBody>
      </p:sp>
      <p:graphicFrame>
        <p:nvGraphicFramePr>
          <p:cNvPr id="201734" name="Group 6">
            <a:extLst>
              <a:ext uri="{FF2B5EF4-FFF2-40B4-BE49-F238E27FC236}">
                <a16:creationId xmlns:a16="http://schemas.microsoft.com/office/drawing/2014/main" id="{8C297C56-545B-4600-A8CE-93FB1BABA9C1}"/>
              </a:ext>
            </a:extLst>
          </p:cNvPr>
          <p:cNvGraphicFramePr>
            <a:graphicFrameLocks noGrp="1"/>
          </p:cNvGraphicFramePr>
          <p:nvPr/>
        </p:nvGraphicFramePr>
        <p:xfrm>
          <a:off x="1844675" y="5334000"/>
          <a:ext cx="4746625" cy="584200"/>
        </p:xfrm>
        <a:graphic>
          <a:graphicData uri="http://schemas.openxmlformats.org/drawingml/2006/table">
            <a:tbl>
              <a:tblPr/>
              <a:tblGrid>
                <a:gridCol w="677863">
                  <a:extLst>
                    <a:ext uri="{9D8B030D-6E8A-4147-A177-3AD203B41FA5}">
                      <a16:colId xmlns:a16="http://schemas.microsoft.com/office/drawing/2014/main" val="1627496313"/>
                    </a:ext>
                  </a:extLst>
                </a:gridCol>
                <a:gridCol w="677862">
                  <a:extLst>
                    <a:ext uri="{9D8B030D-6E8A-4147-A177-3AD203B41FA5}">
                      <a16:colId xmlns:a16="http://schemas.microsoft.com/office/drawing/2014/main" val="2288862127"/>
                    </a:ext>
                  </a:extLst>
                </a:gridCol>
                <a:gridCol w="679450">
                  <a:extLst>
                    <a:ext uri="{9D8B030D-6E8A-4147-A177-3AD203B41FA5}">
                      <a16:colId xmlns:a16="http://schemas.microsoft.com/office/drawing/2014/main" val="3998344260"/>
                    </a:ext>
                  </a:extLst>
                </a:gridCol>
                <a:gridCol w="677863">
                  <a:extLst>
                    <a:ext uri="{9D8B030D-6E8A-4147-A177-3AD203B41FA5}">
                      <a16:colId xmlns:a16="http://schemas.microsoft.com/office/drawing/2014/main" val="3476853004"/>
                    </a:ext>
                  </a:extLst>
                </a:gridCol>
                <a:gridCol w="677862">
                  <a:extLst>
                    <a:ext uri="{9D8B030D-6E8A-4147-A177-3AD203B41FA5}">
                      <a16:colId xmlns:a16="http://schemas.microsoft.com/office/drawing/2014/main" val="2279769698"/>
                    </a:ext>
                  </a:extLst>
                </a:gridCol>
                <a:gridCol w="677863">
                  <a:extLst>
                    <a:ext uri="{9D8B030D-6E8A-4147-A177-3AD203B41FA5}">
                      <a16:colId xmlns:a16="http://schemas.microsoft.com/office/drawing/2014/main" val="3926591413"/>
                    </a:ext>
                  </a:extLst>
                </a:gridCol>
                <a:gridCol w="677862">
                  <a:extLst>
                    <a:ext uri="{9D8B030D-6E8A-4147-A177-3AD203B41FA5}">
                      <a16:colId xmlns:a16="http://schemas.microsoft.com/office/drawing/2014/main" val="1588844522"/>
                    </a:ext>
                  </a:extLst>
                </a:gridCol>
              </a:tblGrid>
              <a:tr h="584200">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3</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4</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5</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6</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7</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8</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800" b="1" i="0" u="none" strike="noStrike" cap="none" normalizeH="0" baseline="0">
                          <a:ln>
                            <a:noFill/>
                          </a:ln>
                          <a:solidFill>
                            <a:schemeClr val="tx1"/>
                          </a:solidFill>
                          <a:effectLst/>
                          <a:latin typeface="Tahoma" panose="020B0604030504040204" pitchFamily="34" charset="0"/>
                        </a:rPr>
                        <a:t>9</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solidFill>
                      <a:srgbClr val="FFFFCC">
                        <a:alpha val="50000"/>
                      </a:srgbClr>
                    </a:solidFill>
                  </a:tcPr>
                </a:tc>
                <a:extLst>
                  <a:ext uri="{0D108BD9-81ED-4DB2-BD59-A6C34878D82A}">
                    <a16:rowId xmlns:a16="http://schemas.microsoft.com/office/drawing/2014/main" val="3159508089"/>
                  </a:ext>
                </a:extLst>
              </a:tr>
            </a:tbl>
          </a:graphicData>
        </a:graphic>
      </p:graphicFrame>
      <p:sp>
        <p:nvSpPr>
          <p:cNvPr id="201752" name="Text Box 24">
            <a:extLst>
              <a:ext uri="{FF2B5EF4-FFF2-40B4-BE49-F238E27FC236}">
                <a16:creationId xmlns:a16="http://schemas.microsoft.com/office/drawing/2014/main" id="{98E581FD-40D3-4AB7-BD68-778C9D6A85FE}"/>
              </a:ext>
            </a:extLst>
          </p:cNvPr>
          <p:cNvSpPr txBox="1">
            <a:spLocks noChangeArrowheads="1"/>
          </p:cNvSpPr>
          <p:nvPr/>
        </p:nvSpPr>
        <p:spPr bwMode="auto">
          <a:xfrm>
            <a:off x="1981200" y="4648200"/>
            <a:ext cx="4572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1"/>
              <a:t>0    1     2    3    4     5    6</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3" name="WordArt 3">
            <a:extLst>
              <a:ext uri="{FF2B5EF4-FFF2-40B4-BE49-F238E27FC236}">
                <a16:creationId xmlns:a16="http://schemas.microsoft.com/office/drawing/2014/main" id="{AF16313F-CE23-4B6B-A886-AD89885AA806}"/>
              </a:ext>
            </a:extLst>
          </p:cNvPr>
          <p:cNvSpPr>
            <a:spLocks noChangeArrowheads="1" noChangeShapeType="1" noTextEdit="1"/>
          </p:cNvSpPr>
          <p:nvPr/>
        </p:nvSpPr>
        <p:spPr bwMode="auto">
          <a:xfrm>
            <a:off x="990600" y="457200"/>
            <a:ext cx="7162800" cy="838200"/>
          </a:xfrm>
          <a:prstGeom prst="rect">
            <a:avLst/>
          </a:prstGeom>
        </p:spPr>
        <p:txBody>
          <a:bodyPr wrap="none" fromWordArt="1">
            <a:prstTxWarp prst="textPlain">
              <a:avLst>
                <a:gd name="adj" fmla="val 50000"/>
              </a:avLst>
            </a:prstTxWarp>
          </a:bodyPr>
          <a:lstStyle/>
          <a:p>
            <a:pPr algn="ctr"/>
            <a:r>
              <a:rPr lang="en-US" sz="3600" kern="10" dirty="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Collections Sort Method</a:t>
            </a:r>
          </a:p>
        </p:txBody>
      </p:sp>
      <p:sp>
        <p:nvSpPr>
          <p:cNvPr id="2" name="Rectangle 1">
            <a:extLst>
              <a:ext uri="{FF2B5EF4-FFF2-40B4-BE49-F238E27FC236}">
                <a16:creationId xmlns:a16="http://schemas.microsoft.com/office/drawing/2014/main" id="{21572E46-9E15-45E8-AA68-064C81561592}"/>
              </a:ext>
            </a:extLst>
          </p:cNvPr>
          <p:cNvSpPr>
            <a:spLocks noChangeArrowheads="1"/>
          </p:cNvSpPr>
          <p:nvPr/>
        </p:nvSpPr>
        <p:spPr bwMode="auto">
          <a:xfrm>
            <a:off x="0" y="1792816"/>
            <a:ext cx="914400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000" b="0" i="0" u="none" strike="noStrike" cap="none" normalizeH="0" baseline="0" dirty="0">
                <a:ln>
                  <a:noFill/>
                </a:ln>
                <a:solidFill>
                  <a:srgbClr val="353833"/>
                </a:solidFill>
                <a:effectLst/>
                <a:latin typeface="Arial Unicode MS"/>
              </a:rPr>
              <a:t>public static &lt;T extends </a:t>
            </a:r>
            <a:r>
              <a:rPr kumimoji="0" lang="en-US" altLang="en-US" sz="3000" b="0" i="0" u="none" strike="noStrike" cap="none" normalizeH="0" baseline="0" dirty="0">
                <a:ln>
                  <a:noFill/>
                </a:ln>
                <a:solidFill>
                  <a:srgbClr val="4C6B87"/>
                </a:solidFill>
                <a:effectLst/>
                <a:latin typeface="Arial Unicode MS"/>
              </a:rPr>
              <a:t>Comparable</a:t>
            </a:r>
            <a:r>
              <a:rPr kumimoji="0" lang="en-US" altLang="en-US" sz="3000" b="0" i="0" u="none" strike="noStrike" cap="none" normalizeH="0" baseline="0" dirty="0">
                <a:ln>
                  <a:noFill/>
                </a:ln>
                <a:solidFill>
                  <a:srgbClr val="353833"/>
                </a:solidFill>
                <a:effectLst/>
                <a:latin typeface="Arial Unicode MS"/>
              </a:rPr>
              <a:t>&lt;? super T&gt;&gt; </a:t>
            </a:r>
          </a:p>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3000" b="1" i="0" u="none" strike="noStrike" cap="none" normalizeH="0" baseline="0" dirty="0">
                <a:ln>
                  <a:noFill/>
                </a:ln>
                <a:solidFill>
                  <a:srgbClr val="353833"/>
                </a:solidFill>
                <a:effectLst/>
                <a:latin typeface="Arial Unicode MS"/>
              </a:rPr>
              <a:t>void sort(</a:t>
            </a:r>
            <a:r>
              <a:rPr kumimoji="0" lang="en-US" altLang="en-US" sz="3000" b="1" i="0" u="none" strike="noStrike" cap="none" normalizeH="0" baseline="0" dirty="0">
                <a:ln>
                  <a:noFill/>
                </a:ln>
                <a:solidFill>
                  <a:srgbClr val="4C6B87"/>
                </a:solidFill>
                <a:effectLst/>
                <a:latin typeface="Arial Unicode MS"/>
                <a:hlinkClick r:id="rId3" tooltip="interface in java.util"/>
              </a:rPr>
              <a:t>List</a:t>
            </a:r>
            <a:r>
              <a:rPr kumimoji="0" lang="en-US" altLang="en-US" sz="3000" b="1" i="0" u="none" strike="noStrike" cap="none" normalizeH="0" baseline="0" dirty="0">
                <a:ln>
                  <a:noFill/>
                </a:ln>
                <a:solidFill>
                  <a:srgbClr val="353833"/>
                </a:solidFill>
                <a:effectLst/>
                <a:latin typeface="Arial Unicode MS"/>
              </a:rPr>
              <a:t>&lt;T&gt; list)</a:t>
            </a:r>
            <a:br>
              <a:rPr kumimoji="0" lang="en-US" altLang="en-US" sz="3000" b="1" i="0" u="none" strike="noStrike" cap="none" normalizeH="0" baseline="0" dirty="0">
                <a:ln>
                  <a:noFill/>
                </a:ln>
                <a:solidFill>
                  <a:schemeClr val="tx1"/>
                </a:solidFill>
                <a:effectLst/>
              </a:rPr>
            </a:br>
            <a:endParaRPr kumimoji="0" lang="en-US" altLang="en-US" sz="3000" b="1"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1700ABFF-137F-42A5-88B7-E4A66B6832B6}"/>
              </a:ext>
            </a:extLst>
          </p:cNvPr>
          <p:cNvSpPr txBox="1"/>
          <p:nvPr/>
        </p:nvSpPr>
        <p:spPr>
          <a:xfrm>
            <a:off x="304800" y="3276600"/>
            <a:ext cx="8686800" cy="304698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353833"/>
                </a:solidFill>
                <a:effectLst/>
                <a:cs typeface="Arial" panose="020B0604020202020204" pitchFamily="34" charset="0"/>
              </a:rPr>
              <a:t>All elements in the array must implement the </a:t>
            </a:r>
            <a:r>
              <a:rPr kumimoji="0" lang="en-US" altLang="en-US" sz="3200" b="0" i="0" u="none" strike="noStrike" cap="none" normalizeH="0" baseline="0" dirty="0">
                <a:ln>
                  <a:noFill/>
                </a:ln>
                <a:solidFill>
                  <a:srgbClr val="4C6B87"/>
                </a:solidFill>
                <a:effectLst/>
                <a:latin typeface="Arial Unicode MS"/>
                <a:cs typeface="Arial" panose="020B0604020202020204" pitchFamily="34" charset="0"/>
              </a:rPr>
              <a:t>Comparable</a:t>
            </a:r>
            <a:r>
              <a:rPr kumimoji="0" lang="en-US" altLang="en-US" sz="3200" b="0" i="0" u="none" strike="noStrike" cap="none" normalizeH="0" baseline="0" dirty="0">
                <a:ln>
                  <a:noFill/>
                </a:ln>
                <a:solidFill>
                  <a:srgbClr val="353833"/>
                </a:solidFill>
                <a:effectLst/>
                <a:cs typeface="Arial" panose="020B0604020202020204" pitchFamily="34" charset="0"/>
              </a:rPr>
              <a:t> interface. Furthermore, all elements in the array must be </a:t>
            </a:r>
            <a:r>
              <a:rPr kumimoji="0" lang="en-US" altLang="en-US" sz="3200" b="0" i="1" u="none" strike="noStrike" cap="none" normalizeH="0" baseline="0" dirty="0">
                <a:ln>
                  <a:noFill/>
                </a:ln>
                <a:solidFill>
                  <a:srgbClr val="353833"/>
                </a:solidFill>
                <a:effectLst/>
                <a:cs typeface="Arial" panose="020B0604020202020204" pitchFamily="34" charset="0"/>
              </a:rPr>
              <a:t>mutually comparable</a:t>
            </a:r>
            <a:r>
              <a:rPr kumimoji="0" lang="en-US" altLang="en-US" sz="3200" b="0" i="0" u="none" strike="noStrike" cap="none" normalizeH="0" baseline="0" dirty="0">
                <a:ln>
                  <a:noFill/>
                </a:ln>
                <a:solidFill>
                  <a:srgbClr val="353833"/>
                </a:solidFill>
                <a:effectLst/>
                <a:cs typeface="Arial" panose="020B0604020202020204" pitchFamily="34" charset="0"/>
              </a:rPr>
              <a:t> (that is, </a:t>
            </a:r>
            <a:r>
              <a:rPr kumimoji="0" lang="en-US" altLang="en-US" sz="3200" b="0" i="0" u="none" strike="noStrike" cap="none" normalizeH="0" baseline="0" dirty="0">
                <a:ln>
                  <a:noFill/>
                </a:ln>
                <a:solidFill>
                  <a:srgbClr val="353833"/>
                </a:solidFill>
                <a:effectLst/>
                <a:latin typeface="Arial Unicode MS"/>
                <a:cs typeface="Arial" panose="020B0604020202020204" pitchFamily="34" charset="0"/>
              </a:rPr>
              <a:t>e1.compareTo(e2)</a:t>
            </a:r>
            <a:r>
              <a:rPr kumimoji="0" lang="en-US" altLang="en-US" sz="3200" b="0" i="0" u="none" strike="noStrike" cap="none" normalizeH="0" baseline="0" dirty="0">
                <a:ln>
                  <a:noFill/>
                </a:ln>
                <a:solidFill>
                  <a:srgbClr val="353833"/>
                </a:solidFill>
                <a:effectLst/>
                <a:cs typeface="Arial" panose="020B0604020202020204" pitchFamily="34" charset="0"/>
              </a:rPr>
              <a:t> must not throw a </a:t>
            </a:r>
            <a:r>
              <a:rPr kumimoji="0" lang="en-US" altLang="en-US" sz="3200" b="0" i="0" u="none" strike="noStrike" cap="none" normalizeH="0" baseline="0" dirty="0" err="1">
                <a:ln>
                  <a:noFill/>
                </a:ln>
                <a:solidFill>
                  <a:srgbClr val="353833"/>
                </a:solidFill>
                <a:effectLst/>
                <a:latin typeface="Arial Unicode MS"/>
                <a:cs typeface="Arial" panose="020B0604020202020204" pitchFamily="34" charset="0"/>
              </a:rPr>
              <a:t>ClassCastException</a:t>
            </a:r>
            <a:r>
              <a:rPr kumimoji="0" lang="en-US" altLang="en-US" sz="3200" b="0" i="0" u="none" strike="noStrike" cap="none" normalizeH="0" baseline="0" dirty="0">
                <a:ln>
                  <a:noFill/>
                </a:ln>
                <a:solidFill>
                  <a:srgbClr val="353833"/>
                </a:solidFill>
                <a:effectLst/>
                <a:cs typeface="Arial" panose="020B0604020202020204" pitchFamily="34" charset="0"/>
              </a:rPr>
              <a:t> for any elements </a:t>
            </a:r>
            <a:r>
              <a:rPr kumimoji="0" lang="en-US" altLang="en-US" sz="3200" b="0" i="0" u="none" strike="noStrike" cap="none" normalizeH="0" baseline="0" dirty="0">
                <a:ln>
                  <a:noFill/>
                </a:ln>
                <a:solidFill>
                  <a:srgbClr val="353833"/>
                </a:solidFill>
                <a:effectLst/>
                <a:latin typeface="Arial Unicode MS"/>
                <a:cs typeface="Arial" panose="020B0604020202020204" pitchFamily="34" charset="0"/>
              </a:rPr>
              <a:t>e1</a:t>
            </a:r>
            <a:r>
              <a:rPr kumimoji="0" lang="en-US" altLang="en-US" sz="3200" b="0" i="0" u="none" strike="noStrike" cap="none" normalizeH="0" baseline="0" dirty="0">
                <a:ln>
                  <a:noFill/>
                </a:ln>
                <a:solidFill>
                  <a:srgbClr val="353833"/>
                </a:solidFill>
                <a:effectLst/>
                <a:cs typeface="Arial" panose="020B0604020202020204" pitchFamily="34" charset="0"/>
              </a:rPr>
              <a:t> and </a:t>
            </a:r>
            <a:r>
              <a:rPr kumimoji="0" lang="en-US" altLang="en-US" sz="3200" b="0" i="0" u="none" strike="noStrike" cap="none" normalizeH="0" baseline="0" dirty="0">
                <a:ln>
                  <a:noFill/>
                </a:ln>
                <a:solidFill>
                  <a:srgbClr val="353833"/>
                </a:solidFill>
                <a:effectLst/>
                <a:latin typeface="Arial Unicode MS"/>
                <a:cs typeface="Arial" panose="020B0604020202020204" pitchFamily="34" charset="0"/>
              </a:rPr>
              <a:t>e2</a:t>
            </a:r>
            <a:r>
              <a:rPr kumimoji="0" lang="en-US" altLang="en-US" sz="3200" b="0" i="0" u="none" strike="noStrike" cap="none" normalizeH="0" baseline="0" dirty="0">
                <a:ln>
                  <a:noFill/>
                </a:ln>
                <a:solidFill>
                  <a:srgbClr val="353833"/>
                </a:solidFill>
                <a:effectLst/>
                <a:cs typeface="Arial" panose="020B0604020202020204" pitchFamily="34" charset="0"/>
              </a:rPr>
              <a:t> in the array).</a:t>
            </a:r>
            <a:endParaRPr kumimoji="0" lang="en-US" altLang="en-US" sz="32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0570886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43503C15-569F-4ECE-97DE-A8170CD1E7EC}"/>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205826" name="Text Box 2">
            <a:extLst>
              <a:ext uri="{FF2B5EF4-FFF2-40B4-BE49-F238E27FC236}">
                <a16:creationId xmlns:a16="http://schemas.microsoft.com/office/drawing/2014/main" id="{A9B8DE13-B9FD-43C0-8468-7119CF526C3F}"/>
              </a:ext>
            </a:extLst>
          </p:cNvPr>
          <p:cNvSpPr txBox="1">
            <a:spLocks noChangeArrowheads="1"/>
          </p:cNvSpPr>
          <p:nvPr/>
        </p:nvSpPr>
        <p:spPr bwMode="auto">
          <a:xfrm>
            <a:off x="762000" y="1143000"/>
            <a:ext cx="6648450" cy="520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t>public void sort(Comparable[] stuff)</a:t>
            </a:r>
          </a:p>
          <a:p>
            <a:r>
              <a:rPr lang="en-US" altLang="en-US" sz="2400" b="1"/>
              <a:t>{</a:t>
            </a:r>
          </a:p>
          <a:p>
            <a:r>
              <a:rPr lang="en-US" altLang="en-US" sz="2400"/>
              <a:t>    </a:t>
            </a:r>
            <a:r>
              <a:rPr lang="en-US" altLang="en-US" sz="2400" b="1"/>
              <a:t>for(int i=0;i&lt;stuff.length-1;i++)</a:t>
            </a:r>
          </a:p>
          <a:p>
            <a:r>
              <a:rPr lang="en-US" altLang="en-US" sz="2400" b="1"/>
              <a:t>    {</a:t>
            </a:r>
          </a:p>
          <a:p>
            <a:r>
              <a:rPr lang="en-US" altLang="en-US" sz="2400" b="1"/>
              <a:t>      int spot=i; </a:t>
            </a:r>
          </a:p>
          <a:p>
            <a:r>
              <a:rPr lang="en-US" altLang="en-US" sz="2400" b="1"/>
              <a:t>      for(int j=i;j&lt;stuff.length;j++){</a:t>
            </a:r>
          </a:p>
          <a:p>
            <a:r>
              <a:rPr lang="en-US" altLang="en-US" sz="2400" b="1"/>
              <a:t>        if(stuff[j].compareTo(stuff[spot])&gt;0)</a:t>
            </a:r>
          </a:p>
          <a:p>
            <a:r>
              <a:rPr lang="en-US" altLang="en-US" sz="2400" b="1"/>
              <a:t>          spot=j;</a:t>
            </a:r>
          </a:p>
          <a:p>
            <a:r>
              <a:rPr lang="en-US" altLang="en-US" sz="2400" b="1"/>
              <a:t>      }</a:t>
            </a:r>
          </a:p>
          <a:p>
            <a:r>
              <a:rPr lang="en-US" altLang="en-US" sz="2400" b="1"/>
              <a:t>      Comparable save=stuff[i];</a:t>
            </a:r>
          </a:p>
          <a:p>
            <a:r>
              <a:rPr lang="en-US" altLang="en-US" sz="2400" b="1"/>
              <a:t>      stuff[i]=stuff[spot];</a:t>
            </a:r>
          </a:p>
          <a:p>
            <a:r>
              <a:rPr lang="en-US" altLang="en-US" sz="2400" b="1"/>
              <a:t>      stuff[spot]=save;</a:t>
            </a:r>
          </a:p>
          <a:p>
            <a:r>
              <a:rPr lang="en-US" altLang="en-US" sz="2400" b="1"/>
              <a:t>    }</a:t>
            </a:r>
            <a:r>
              <a:rPr lang="en-US" altLang="en-US" sz="2400"/>
              <a:t> </a:t>
            </a:r>
            <a:endParaRPr lang="en-US" altLang="en-US" sz="2400" b="1"/>
          </a:p>
          <a:p>
            <a:r>
              <a:rPr lang="en-US" altLang="en-US" sz="2400" b="1"/>
              <a:t>}</a:t>
            </a:r>
          </a:p>
        </p:txBody>
      </p:sp>
      <p:sp>
        <p:nvSpPr>
          <p:cNvPr id="205827" name="WordArt 3">
            <a:extLst>
              <a:ext uri="{FF2B5EF4-FFF2-40B4-BE49-F238E27FC236}">
                <a16:creationId xmlns:a16="http://schemas.microsoft.com/office/drawing/2014/main" id="{096C3423-6894-4C45-BD26-7FEC3B7FDF57}"/>
              </a:ext>
            </a:extLst>
          </p:cNvPr>
          <p:cNvSpPr>
            <a:spLocks noChangeArrowheads="1" noChangeShapeType="1" noTextEdit="1"/>
          </p:cNvSpPr>
          <p:nvPr/>
        </p:nvSpPr>
        <p:spPr bwMode="auto">
          <a:xfrm>
            <a:off x="1524000" y="304800"/>
            <a:ext cx="6248400" cy="6858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205828" name="Text Box 4">
            <a:extLst>
              <a:ext uri="{FF2B5EF4-FFF2-40B4-BE49-F238E27FC236}">
                <a16:creationId xmlns:a16="http://schemas.microsoft.com/office/drawing/2014/main" id="{06448E1B-2804-40FD-99C7-C763841AD803}"/>
              </a:ext>
            </a:extLst>
          </p:cNvPr>
          <p:cNvSpPr txBox="1">
            <a:spLocks noChangeArrowheads="1"/>
          </p:cNvSpPr>
          <p:nvPr/>
        </p:nvSpPr>
        <p:spPr bwMode="auto">
          <a:xfrm>
            <a:off x="5791200" y="4191000"/>
            <a:ext cx="2971800" cy="1690688"/>
          </a:xfrm>
          <a:prstGeom prst="rect">
            <a:avLst/>
          </a:prstGeom>
          <a:noFill/>
          <a:ln w="9525">
            <a:solidFill>
              <a:srgbClr val="00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b="1">
                <a:solidFill>
                  <a:srgbClr val="008000"/>
                </a:solidFill>
              </a:rPr>
              <a:t>Why would this method be passed an array of Comparable?</a:t>
            </a:r>
          </a:p>
          <a:p>
            <a:pPr>
              <a:spcBef>
                <a:spcPct val="50000"/>
              </a:spcBef>
            </a:pPr>
            <a:r>
              <a:rPr lang="en-US" altLang="en-US" sz="1600" b="1">
                <a:solidFill>
                  <a:srgbClr val="008000"/>
                </a:solidFill>
              </a:rPr>
              <a:t>Does this demonstrate the power of interfaces and hierarchies?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87F6A6B-8567-4784-8D17-B7298D7F0A7C}"/>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55650" name="WordArt 2">
            <a:extLst>
              <a:ext uri="{FF2B5EF4-FFF2-40B4-BE49-F238E27FC236}">
                <a16:creationId xmlns:a16="http://schemas.microsoft.com/office/drawing/2014/main" id="{AEF1656E-0833-40CE-A37B-1E89555D3797}"/>
              </a:ext>
            </a:extLst>
          </p:cNvPr>
          <p:cNvSpPr>
            <a:spLocks noChangeArrowheads="1" noChangeShapeType="1" noTextEdit="1"/>
          </p:cNvSpPr>
          <p:nvPr/>
        </p:nvSpPr>
        <p:spPr bwMode="auto">
          <a:xfrm>
            <a:off x="685800" y="1981200"/>
            <a:ext cx="7620000" cy="2438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More</a:t>
            </a:r>
          </a:p>
          <a:p>
            <a:pPr algn="ctr"/>
            <a:r>
              <a:rPr lang="en-US" sz="3600" kern="10">
                <a:ln w="9525">
                  <a:solidFill>
                    <a:srgbClr val="FFFF00"/>
                  </a:solidFill>
                  <a:round/>
                  <a:headEnd/>
                  <a:tailEnd/>
                </a:ln>
                <a:solidFill>
                  <a:srgbClr val="0000FF"/>
                </a:solidFill>
                <a:effectLst>
                  <a:outerShdw dist="35921" dir="2700000" algn="ctr" rotWithShape="0">
                    <a:srgbClr val="C0C0C0"/>
                  </a:outerShdw>
                </a:effectLst>
                <a:latin typeface="Impact" panose="020B0806030902050204" pitchFamily="34" charset="0"/>
              </a:rPr>
              <a:t>Interfaces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815BE8BF-4AC1-474F-93B2-F9011E83173E}"/>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36194" name="Text Box 2">
            <a:extLst>
              <a:ext uri="{FF2B5EF4-FFF2-40B4-BE49-F238E27FC236}">
                <a16:creationId xmlns:a16="http://schemas.microsoft.com/office/drawing/2014/main" id="{CE97B07B-7B21-4BF3-AD5B-3B604CCA1066}"/>
              </a:ext>
            </a:extLst>
          </p:cNvPr>
          <p:cNvSpPr txBox="1">
            <a:spLocks noChangeArrowheads="1"/>
          </p:cNvSpPr>
          <p:nvPr/>
        </p:nvSpPr>
        <p:spPr bwMode="auto">
          <a:xfrm>
            <a:off x="1143000" y="1752600"/>
            <a:ext cx="6086475" cy="3930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b="1"/>
              <a:t>public interface Exampleable</a:t>
            </a:r>
          </a:p>
          <a:p>
            <a:pPr eaLnBrk="0" hangingPunct="0"/>
            <a:r>
              <a:rPr lang="en-US" altLang="en-US" sz="3200" b="1"/>
              <a:t>{</a:t>
            </a:r>
          </a:p>
          <a:p>
            <a:pPr eaLnBrk="0" hangingPunct="0"/>
            <a:r>
              <a:rPr lang="en-US" altLang="en-US" sz="3200" b="1"/>
              <a:t>   int writeIt(Object o);</a:t>
            </a:r>
          </a:p>
          <a:p>
            <a:pPr eaLnBrk="0" hangingPunct="0"/>
            <a:r>
              <a:rPr lang="en-US" altLang="en-US" sz="3200" b="1"/>
              <a:t>   int x = 123;</a:t>
            </a:r>
          </a:p>
          <a:p>
            <a:pPr eaLnBrk="0" hangingPunct="0"/>
            <a:r>
              <a:rPr lang="en-US" altLang="en-US" sz="3200" b="1"/>
              <a:t>}</a:t>
            </a:r>
          </a:p>
          <a:p>
            <a:pPr eaLnBrk="0" hangingPunct="0"/>
            <a:endParaRPr lang="en-US" altLang="en-US" sz="3200" b="1"/>
          </a:p>
          <a:p>
            <a:pPr eaLnBrk="0" hangingPunct="0"/>
            <a:endParaRPr lang="en-US" altLang="en-US" sz="3200" b="1"/>
          </a:p>
          <a:p>
            <a:endParaRPr lang="en-US" altLang="en-US" sz="2800" b="1">
              <a:latin typeface="Courier New" panose="02070309020205020404" pitchFamily="49" charset="0"/>
            </a:endParaRPr>
          </a:p>
        </p:txBody>
      </p:sp>
      <p:sp>
        <p:nvSpPr>
          <p:cNvPr id="136195" name="WordArt 3">
            <a:extLst>
              <a:ext uri="{FF2B5EF4-FFF2-40B4-BE49-F238E27FC236}">
                <a16:creationId xmlns:a16="http://schemas.microsoft.com/office/drawing/2014/main" id="{49B3AD4B-BC11-404F-9C09-B7231D2FB81A}"/>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136196" name="Text Box 4">
            <a:extLst>
              <a:ext uri="{FF2B5EF4-FFF2-40B4-BE49-F238E27FC236}">
                <a16:creationId xmlns:a16="http://schemas.microsoft.com/office/drawing/2014/main" id="{694C987D-8DE6-410C-9BDC-00E1142119CC}"/>
              </a:ext>
            </a:extLst>
          </p:cNvPr>
          <p:cNvSpPr txBox="1">
            <a:spLocks noChangeArrowheads="1"/>
          </p:cNvSpPr>
          <p:nvPr/>
        </p:nvSpPr>
        <p:spPr bwMode="auto">
          <a:xfrm>
            <a:off x="1295400" y="4724400"/>
            <a:ext cx="6019800" cy="95567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1">
                <a:solidFill>
                  <a:schemeClr val="accent2"/>
                </a:solidFill>
              </a:rPr>
              <a:t>Methods are public abstract!</a:t>
            </a:r>
          </a:p>
          <a:p>
            <a:r>
              <a:rPr lang="en-US" altLang="en-US" sz="2800" b="1">
                <a:solidFill>
                  <a:schemeClr val="accent2"/>
                </a:solidFill>
              </a:rPr>
              <a:t>Variables are public static final!</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C8178DD9-51D1-4E02-88DB-059769651706}"/>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177154" name="Text Box 2">
            <a:extLst>
              <a:ext uri="{FF2B5EF4-FFF2-40B4-BE49-F238E27FC236}">
                <a16:creationId xmlns:a16="http://schemas.microsoft.com/office/drawing/2014/main" id="{C6F77595-A486-4B0F-9984-253109F8F695}"/>
              </a:ext>
            </a:extLst>
          </p:cNvPr>
          <p:cNvSpPr txBox="1">
            <a:spLocks noChangeArrowheads="1"/>
          </p:cNvSpPr>
          <p:nvPr/>
        </p:nvSpPr>
        <p:spPr bwMode="auto">
          <a:xfrm>
            <a:off x="457200" y="1676400"/>
            <a:ext cx="8023225" cy="3930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b="1"/>
              <a:t>public interface Exampleable</a:t>
            </a:r>
          </a:p>
          <a:p>
            <a:pPr eaLnBrk="0" hangingPunct="0"/>
            <a:r>
              <a:rPr lang="en-US" altLang="en-US" sz="3200" b="1"/>
              <a:t>{</a:t>
            </a:r>
          </a:p>
          <a:p>
            <a:pPr eaLnBrk="0" hangingPunct="0"/>
            <a:r>
              <a:rPr lang="en-US" altLang="en-US" sz="3200" b="1"/>
              <a:t>   public abstract int writeIt(Object o);</a:t>
            </a:r>
          </a:p>
          <a:p>
            <a:pPr eaLnBrk="0" hangingPunct="0"/>
            <a:r>
              <a:rPr lang="en-US" altLang="en-US" sz="3200" b="1"/>
              <a:t>   public static final int x = 123;</a:t>
            </a:r>
          </a:p>
          <a:p>
            <a:pPr eaLnBrk="0" hangingPunct="0"/>
            <a:r>
              <a:rPr lang="en-US" altLang="en-US" sz="3200" b="1"/>
              <a:t>}</a:t>
            </a:r>
          </a:p>
          <a:p>
            <a:pPr eaLnBrk="0" hangingPunct="0"/>
            <a:endParaRPr lang="en-US" altLang="en-US" sz="3200" b="1"/>
          </a:p>
          <a:p>
            <a:pPr eaLnBrk="0" hangingPunct="0"/>
            <a:endParaRPr lang="en-US" altLang="en-US" sz="3200" b="1"/>
          </a:p>
          <a:p>
            <a:endParaRPr lang="en-US" altLang="en-US" sz="2800" b="1">
              <a:latin typeface="Courier New" panose="02070309020205020404" pitchFamily="49" charset="0"/>
            </a:endParaRPr>
          </a:p>
        </p:txBody>
      </p:sp>
      <p:sp>
        <p:nvSpPr>
          <p:cNvPr id="177155" name="WordArt 3">
            <a:extLst>
              <a:ext uri="{FF2B5EF4-FFF2-40B4-BE49-F238E27FC236}">
                <a16:creationId xmlns:a16="http://schemas.microsoft.com/office/drawing/2014/main" id="{BBB5FFA9-728D-4B17-9808-3AFCF5A2E4D3}"/>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177156" name="Text Box 4">
            <a:extLst>
              <a:ext uri="{FF2B5EF4-FFF2-40B4-BE49-F238E27FC236}">
                <a16:creationId xmlns:a16="http://schemas.microsoft.com/office/drawing/2014/main" id="{3943A509-E12B-460B-BAC1-CAD232F6B5C1}"/>
              </a:ext>
            </a:extLst>
          </p:cNvPr>
          <p:cNvSpPr txBox="1">
            <a:spLocks noChangeArrowheads="1"/>
          </p:cNvSpPr>
          <p:nvPr/>
        </p:nvSpPr>
        <p:spPr bwMode="auto">
          <a:xfrm>
            <a:off x="1295400" y="4724400"/>
            <a:ext cx="6019800" cy="95567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b="1">
                <a:solidFill>
                  <a:schemeClr val="accent2"/>
                </a:solidFill>
              </a:rPr>
              <a:t>Methods are public abstract!</a:t>
            </a:r>
          </a:p>
          <a:p>
            <a:r>
              <a:rPr lang="en-US" altLang="en-US" sz="2800" b="1">
                <a:solidFill>
                  <a:schemeClr val="accent2"/>
                </a:solidFill>
              </a:rPr>
              <a:t>Variables are public static final!</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C08BBB30-7DBC-4F72-AE85-4F6668B2588B}"/>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81922" name="Text Box 2">
            <a:extLst>
              <a:ext uri="{FF2B5EF4-FFF2-40B4-BE49-F238E27FC236}">
                <a16:creationId xmlns:a16="http://schemas.microsoft.com/office/drawing/2014/main" id="{83491A21-16ED-4BC8-B693-FA92A4E64C6C}"/>
              </a:ext>
            </a:extLst>
          </p:cNvPr>
          <p:cNvSpPr txBox="1">
            <a:spLocks noChangeArrowheads="1"/>
          </p:cNvSpPr>
          <p:nvPr/>
        </p:nvSpPr>
        <p:spPr bwMode="auto">
          <a:xfrm>
            <a:off x="304800" y="2057400"/>
            <a:ext cx="8839200" cy="344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sz="3600" b="1">
                <a:latin typeface="Arial" panose="020B0604020202020204" pitchFamily="34" charset="0"/>
              </a:rPr>
              <a:t>class A implements B {  }</a:t>
            </a:r>
          </a:p>
          <a:p>
            <a:pPr eaLnBrk="0" hangingPunct="0"/>
            <a:endParaRPr lang="en-US" altLang="en-US" sz="3600" b="1">
              <a:latin typeface="Arial" panose="020B0604020202020204" pitchFamily="34" charset="0"/>
            </a:endParaRPr>
          </a:p>
          <a:p>
            <a:pPr eaLnBrk="0" hangingPunct="0"/>
            <a:r>
              <a:rPr lang="en-US" altLang="en-US" sz="3600" b="1">
                <a:latin typeface="Arial" panose="020B0604020202020204" pitchFamily="34" charset="0"/>
              </a:rPr>
              <a:t>A class can implement multiple interfaces.</a:t>
            </a:r>
          </a:p>
          <a:p>
            <a:pPr eaLnBrk="0" hangingPunct="0"/>
            <a:endParaRPr lang="en-US" altLang="en-US" sz="3600" b="1">
              <a:latin typeface="Arial" panose="020B0604020202020204" pitchFamily="34" charset="0"/>
            </a:endParaRPr>
          </a:p>
          <a:p>
            <a:pPr eaLnBrk="0" hangingPunct="0"/>
            <a:r>
              <a:rPr lang="en-US" altLang="en-US" sz="4000" b="1">
                <a:latin typeface="Arial" panose="020B0604020202020204" pitchFamily="34" charset="0"/>
              </a:rPr>
              <a:t>class A implements B,C {  }  </a:t>
            </a:r>
            <a:r>
              <a:rPr lang="en-US" altLang="en-US" sz="4000" b="1">
                <a:solidFill>
                  <a:srgbClr val="008000"/>
                </a:solidFill>
                <a:latin typeface="Arial" panose="020B0604020202020204" pitchFamily="34" charset="0"/>
              </a:rPr>
              <a:t>//legal</a:t>
            </a:r>
            <a:endParaRPr lang="en-US" altLang="en-US" sz="3600" b="1">
              <a:solidFill>
                <a:srgbClr val="008000"/>
              </a:solidFill>
              <a:latin typeface="Arial" panose="020B0604020202020204" pitchFamily="34" charset="0"/>
            </a:endParaRPr>
          </a:p>
        </p:txBody>
      </p:sp>
      <p:sp>
        <p:nvSpPr>
          <p:cNvPr id="81924" name="WordArt 4">
            <a:extLst>
              <a:ext uri="{FF2B5EF4-FFF2-40B4-BE49-F238E27FC236}">
                <a16:creationId xmlns:a16="http://schemas.microsoft.com/office/drawing/2014/main" id="{56B271DB-7845-47F0-87F0-6A43D823D13B}"/>
              </a:ext>
            </a:extLst>
          </p:cNvPr>
          <p:cNvSpPr>
            <a:spLocks noChangeArrowheads="1" noChangeShapeType="1" noTextEdit="1"/>
          </p:cNvSpPr>
          <p:nvPr/>
        </p:nvSpPr>
        <p:spPr bwMode="auto">
          <a:xfrm>
            <a:off x="1447800" y="457200"/>
            <a:ext cx="6324600" cy="8382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a:extLst>
              <a:ext uri="{FF2B5EF4-FFF2-40B4-BE49-F238E27FC236}">
                <a16:creationId xmlns:a16="http://schemas.microsoft.com/office/drawing/2014/main" id="{EC377E6D-AAF2-4395-A3DE-6F393DDE05DF}"/>
              </a:ext>
            </a:extLst>
          </p:cNvPr>
          <p:cNvSpPr>
            <a:spLocks noGrp="1"/>
          </p:cNvSpPr>
          <p:nvPr>
            <p:ph type="ftr" sz="quarter" idx="12"/>
          </p:nvPr>
        </p:nvSpPr>
        <p:spPr/>
        <p:txBody>
          <a:bodyPr/>
          <a:lstStyle/>
          <a:p>
            <a:endParaRPr lang="en-US" altLang="en-US" b="1">
              <a:latin typeface="Times New Roman" panose="02020603050405020304" pitchFamily="18" charset="0"/>
            </a:endParaRPr>
          </a:p>
          <a:p>
            <a:endParaRPr lang="en-US" altLang="en-US"/>
          </a:p>
          <a:p>
            <a:endParaRPr lang="en-US" altLang="en-US" b="1"/>
          </a:p>
          <a:p>
            <a:r>
              <a:rPr lang="en-US" altLang="en-US" b="1"/>
              <a:t>© A+ Computer Science  -  www.apluscompsci.com</a:t>
            </a:r>
          </a:p>
        </p:txBody>
      </p:sp>
      <p:sp>
        <p:nvSpPr>
          <p:cNvPr id="95234" name="WordArt 2">
            <a:extLst>
              <a:ext uri="{FF2B5EF4-FFF2-40B4-BE49-F238E27FC236}">
                <a16:creationId xmlns:a16="http://schemas.microsoft.com/office/drawing/2014/main" id="{78BC4BCA-9D8E-4878-9C8B-EF4E8603810E}"/>
              </a:ext>
            </a:extLst>
          </p:cNvPr>
          <p:cNvSpPr>
            <a:spLocks noChangeArrowheads="1" noChangeShapeType="1" noTextEdit="1"/>
          </p:cNvSpPr>
          <p:nvPr/>
        </p:nvSpPr>
        <p:spPr bwMode="auto">
          <a:xfrm>
            <a:off x="1295400" y="381000"/>
            <a:ext cx="6248400" cy="7620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Arial Black" panose="020B0A04020102020204" pitchFamily="34" charset="0"/>
              </a:rPr>
              <a:t>Interfaces</a:t>
            </a:r>
          </a:p>
        </p:txBody>
      </p:sp>
      <p:sp>
        <p:nvSpPr>
          <p:cNvPr id="95235" name="Text Box 3">
            <a:extLst>
              <a:ext uri="{FF2B5EF4-FFF2-40B4-BE49-F238E27FC236}">
                <a16:creationId xmlns:a16="http://schemas.microsoft.com/office/drawing/2014/main" id="{7905249C-8A49-45BF-87BC-0FD98487666E}"/>
              </a:ext>
            </a:extLst>
          </p:cNvPr>
          <p:cNvSpPr txBox="1">
            <a:spLocks noChangeArrowheads="1"/>
          </p:cNvSpPr>
          <p:nvPr/>
        </p:nvSpPr>
        <p:spPr bwMode="auto">
          <a:xfrm>
            <a:off x="990600" y="1905000"/>
            <a:ext cx="7284366"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n-US" sz="4000" b="1" dirty="0">
                <a:latin typeface="Arial" panose="020B0604020202020204" pitchFamily="34" charset="0"/>
              </a:rPr>
              <a:t>All methods listed in</a:t>
            </a:r>
          </a:p>
          <a:p>
            <a:pPr eaLnBrk="0" hangingPunct="0"/>
            <a:r>
              <a:rPr lang="en-US" altLang="en-US" sz="4000" b="1" dirty="0">
                <a:latin typeface="Arial" panose="020B0604020202020204" pitchFamily="34" charset="0"/>
              </a:rPr>
              <a:t>an interface are abstract; as</a:t>
            </a:r>
          </a:p>
          <a:p>
            <a:pPr eaLnBrk="0" hangingPunct="0"/>
            <a:r>
              <a:rPr lang="en-US" altLang="en-US" sz="4000" b="1" dirty="0">
                <a:latin typeface="Arial" panose="020B0604020202020204" pitchFamily="34" charset="0"/>
              </a:rPr>
              <a:t>a result, you must implement</a:t>
            </a:r>
          </a:p>
          <a:p>
            <a:pPr eaLnBrk="0" hangingPunct="0"/>
            <a:r>
              <a:rPr lang="en-US" altLang="en-US" sz="4000" b="1" dirty="0">
                <a:latin typeface="Arial" panose="020B0604020202020204" pitchFamily="34" charset="0"/>
              </a:rPr>
              <a:t>every method.</a:t>
            </a:r>
          </a:p>
          <a:p>
            <a:pPr eaLnBrk="0" hangingPunct="0"/>
            <a:endParaRPr lang="en-US" altLang="en-US" sz="4000" b="1" dirty="0">
              <a:latin typeface="Arial" panose="020B0604020202020204" pitchFamily="3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1104900" y="533400"/>
            <a:ext cx="6858000" cy="858837"/>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1828800" y="1752600"/>
            <a:ext cx="5410200" cy="2667000"/>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457200" y="4495800"/>
            <a:ext cx="8153400" cy="1938992"/>
          </a:xfrm>
          <a:prstGeom prst="rect">
            <a:avLst/>
          </a:prstGeom>
          <a:noFill/>
        </p:spPr>
        <p:txBody>
          <a:bodyPr wrap="square">
            <a:spAutoFit/>
          </a:bodyPr>
          <a:lstStyle/>
          <a:p>
            <a:r>
              <a:rPr lang="en-US" sz="4000" dirty="0">
                <a:solidFill>
                  <a:srgbClr val="008000"/>
                </a:solidFill>
              </a:rPr>
              <a:t>Valid – both methods are implicitly public and abstract, and neither has code.</a:t>
            </a:r>
            <a:endParaRPr lang="en-US" sz="4000" dirty="0"/>
          </a:p>
        </p:txBody>
      </p:sp>
    </p:spTree>
    <p:extLst>
      <p:ext uri="{BB962C8B-B14F-4D97-AF65-F5344CB8AC3E}">
        <p14:creationId xmlns:p14="http://schemas.microsoft.com/office/powerpoint/2010/main" val="3285405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1104900" y="381000"/>
            <a:ext cx="6858000" cy="858837"/>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609600" y="1600200"/>
            <a:ext cx="7772400" cy="2667000"/>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public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abstract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623455" y="4191000"/>
            <a:ext cx="8153400" cy="2554545"/>
          </a:xfrm>
          <a:prstGeom prst="rect">
            <a:avLst/>
          </a:prstGeom>
          <a:noFill/>
        </p:spPr>
        <p:txBody>
          <a:bodyPr wrap="square">
            <a:spAutoFit/>
          </a:bodyPr>
          <a:lstStyle/>
          <a:p>
            <a:r>
              <a:rPr lang="en-US" sz="4000" dirty="0">
                <a:solidFill>
                  <a:srgbClr val="C00000"/>
                </a:solidFill>
              </a:rPr>
              <a:t>Invalid – </a:t>
            </a:r>
            <a:r>
              <a:rPr lang="en-US" sz="4000" dirty="0" err="1">
                <a:solidFill>
                  <a:srgbClr val="C00000"/>
                </a:solidFill>
              </a:rPr>
              <a:t>calcAnswer</a:t>
            </a:r>
            <a:r>
              <a:rPr lang="en-US" sz="4000" dirty="0">
                <a:solidFill>
                  <a:srgbClr val="C00000"/>
                </a:solidFill>
              </a:rPr>
              <a:t> is abstract, but has code. The {} count as implementation. They declare the method does nothing.</a:t>
            </a:r>
          </a:p>
        </p:txBody>
      </p:sp>
    </p:spTree>
    <p:extLst>
      <p:ext uri="{BB962C8B-B14F-4D97-AF65-F5344CB8AC3E}">
        <p14:creationId xmlns:p14="http://schemas.microsoft.com/office/powerpoint/2010/main" val="2516421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1104900" y="381000"/>
            <a:ext cx="6858000" cy="858837"/>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609600" y="1600200"/>
            <a:ext cx="7772400" cy="2667000"/>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public A();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abstract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609600" y="4572000"/>
            <a:ext cx="8153400" cy="1323439"/>
          </a:xfrm>
          <a:prstGeom prst="rect">
            <a:avLst/>
          </a:prstGeom>
          <a:noFill/>
        </p:spPr>
        <p:txBody>
          <a:bodyPr wrap="square">
            <a:spAutoFit/>
          </a:bodyPr>
          <a:lstStyle/>
          <a:p>
            <a:r>
              <a:rPr lang="en-US" sz="4000" dirty="0">
                <a:solidFill>
                  <a:srgbClr val="C00000"/>
                </a:solidFill>
              </a:rPr>
              <a:t>Invalid – Interfaces can’t have constructors.</a:t>
            </a:r>
          </a:p>
        </p:txBody>
      </p:sp>
    </p:spTree>
    <p:extLst>
      <p:ext uri="{BB962C8B-B14F-4D97-AF65-F5344CB8AC3E}">
        <p14:creationId xmlns:p14="http://schemas.microsoft.com/office/powerpoint/2010/main" val="3159959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1257300" y="533400"/>
            <a:ext cx="6858000" cy="858837"/>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381000" y="1752600"/>
            <a:ext cx="8382000" cy="2667000"/>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private</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t>
            </a:r>
            <a:r>
              <a:rPr lang="en-US" sz="3200" b="1" dirty="0">
                <a:latin typeface="Courier New" panose="02070309020205020404" pitchFamily="49" charset="0"/>
                <a:ea typeface="Times New Roman" panose="02020603050405020304" pitchFamily="18" charset="0"/>
              </a:rPr>
              <a:t>public static final int n = 5</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381000" y="4495800"/>
            <a:ext cx="8610600" cy="1938992"/>
          </a:xfrm>
          <a:prstGeom prst="rect">
            <a:avLst/>
          </a:prstGeom>
          <a:noFill/>
        </p:spPr>
        <p:txBody>
          <a:bodyPr wrap="square">
            <a:spAutoFit/>
          </a:bodyPr>
          <a:lstStyle/>
          <a:p>
            <a:r>
              <a:rPr lang="en-US" sz="4000" dirty="0">
                <a:solidFill>
                  <a:srgbClr val="C00000"/>
                </a:solidFill>
              </a:rPr>
              <a:t>Invalid – you can’t declare a member as private. The final variable was initialized, so that part is good.</a:t>
            </a:r>
          </a:p>
        </p:txBody>
      </p:sp>
    </p:spTree>
    <p:extLst>
      <p:ext uri="{BB962C8B-B14F-4D97-AF65-F5344CB8AC3E}">
        <p14:creationId xmlns:p14="http://schemas.microsoft.com/office/powerpoint/2010/main" val="218965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1104900" y="533400"/>
            <a:ext cx="6858000" cy="858837"/>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685800" y="1752600"/>
            <a:ext cx="7696200" cy="2667000"/>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abstract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t>
            </a:r>
            <a:r>
              <a:rPr lang="en-US" sz="3200" b="1" dirty="0">
                <a:latin typeface="Courier New" panose="02070309020205020404" pitchFamily="49" charset="0"/>
                <a:ea typeface="Times New Roman" panose="02020603050405020304" pitchFamily="18" charset="0"/>
              </a:rPr>
              <a:t>public static int n</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228600" y="4495800"/>
            <a:ext cx="8610600" cy="1323439"/>
          </a:xfrm>
          <a:prstGeom prst="rect">
            <a:avLst/>
          </a:prstGeom>
          <a:noFill/>
        </p:spPr>
        <p:txBody>
          <a:bodyPr wrap="square">
            <a:spAutoFit/>
          </a:bodyPr>
          <a:lstStyle/>
          <a:p>
            <a:r>
              <a:rPr lang="en-US" sz="4000" dirty="0">
                <a:solidFill>
                  <a:srgbClr val="C00000"/>
                </a:solidFill>
              </a:rPr>
              <a:t>Invalid – The final variable was not initialized. The method is fine.</a:t>
            </a:r>
          </a:p>
        </p:txBody>
      </p:sp>
    </p:spTree>
    <p:extLst>
      <p:ext uri="{BB962C8B-B14F-4D97-AF65-F5344CB8AC3E}">
        <p14:creationId xmlns:p14="http://schemas.microsoft.com/office/powerpoint/2010/main" val="769232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1085850" y="533400"/>
            <a:ext cx="6858000" cy="858837"/>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1619250" y="1752600"/>
            <a:ext cx="5791200" cy="2667000"/>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int </a:t>
            </a:r>
            <a:r>
              <a:rPr lang="en-US" sz="3200" b="1" dirty="0">
                <a:latin typeface="Courier New" panose="02070309020205020404" pitchFamily="49" charset="0"/>
                <a:ea typeface="Times New Roman" panose="02020603050405020304" pitchFamily="18" charset="0"/>
              </a:rPr>
              <a:t>n = 7</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723900" y="4495800"/>
            <a:ext cx="7581900" cy="1938992"/>
          </a:xfrm>
          <a:prstGeom prst="rect">
            <a:avLst/>
          </a:prstGeom>
          <a:noFill/>
        </p:spPr>
        <p:txBody>
          <a:bodyPr wrap="square">
            <a:spAutoFit/>
          </a:bodyPr>
          <a:lstStyle/>
          <a:p>
            <a:r>
              <a:rPr lang="en-US" sz="4000" dirty="0">
                <a:solidFill>
                  <a:srgbClr val="008000"/>
                </a:solidFill>
              </a:rPr>
              <a:t>Valid – The abstract method has no code and the final variable was initialized.</a:t>
            </a:r>
            <a:endParaRPr lang="en-US" sz="4000" dirty="0"/>
          </a:p>
        </p:txBody>
      </p:sp>
    </p:spTree>
    <p:extLst>
      <p:ext uri="{BB962C8B-B14F-4D97-AF65-F5344CB8AC3E}">
        <p14:creationId xmlns:p14="http://schemas.microsoft.com/office/powerpoint/2010/main" val="2301631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1085850" y="533400"/>
            <a:ext cx="6858000" cy="858837"/>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1085850" y="1752600"/>
            <a:ext cx="6858000" cy="2667000"/>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final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a:effectLst/>
                <a:latin typeface="Courier New" panose="02070309020205020404" pitchFamily="49" charset="0"/>
                <a:ea typeface="Times New Roman" panose="02020603050405020304" pitchFamily="18" charset="0"/>
              </a:rPr>
              <a:t>   int </a:t>
            </a:r>
            <a:r>
              <a:rPr lang="en-US" sz="3200" b="1" dirty="0">
                <a:latin typeface="Courier New" panose="02070309020205020404" pitchFamily="49" charset="0"/>
                <a:ea typeface="Times New Roman" panose="02020603050405020304" pitchFamily="18" charset="0"/>
              </a:rPr>
              <a:t>n = 7</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723900" y="4495800"/>
            <a:ext cx="7581900" cy="1323439"/>
          </a:xfrm>
          <a:prstGeom prst="rect">
            <a:avLst/>
          </a:prstGeom>
          <a:noFill/>
        </p:spPr>
        <p:txBody>
          <a:bodyPr wrap="square">
            <a:spAutoFit/>
          </a:bodyPr>
          <a:lstStyle/>
          <a:p>
            <a:r>
              <a:rPr lang="en-US" sz="4000" dirty="0">
                <a:solidFill>
                  <a:srgbClr val="FF0000"/>
                </a:solidFill>
              </a:rPr>
              <a:t>Invalid – abstract and final can’t be combined!</a:t>
            </a:r>
          </a:p>
        </p:txBody>
      </p:sp>
      <p:sp>
        <p:nvSpPr>
          <p:cNvPr id="8" name="TextBox 7">
            <a:extLst>
              <a:ext uri="{FF2B5EF4-FFF2-40B4-BE49-F238E27FC236}">
                <a16:creationId xmlns:a16="http://schemas.microsoft.com/office/drawing/2014/main" id="{7C64D6D1-F03B-AD2E-8761-11B8B5FB2F2B}"/>
              </a:ext>
            </a:extLst>
          </p:cNvPr>
          <p:cNvSpPr txBox="1"/>
          <p:nvPr/>
        </p:nvSpPr>
        <p:spPr>
          <a:xfrm>
            <a:off x="1828800" y="2730213"/>
            <a:ext cx="1554480" cy="584775"/>
          </a:xfrm>
          <a:prstGeom prst="rect">
            <a:avLst/>
          </a:prstGeom>
          <a:noFill/>
        </p:spPr>
        <p:txBody>
          <a:bodyPr wrap="square">
            <a:spAutoFit/>
          </a:bodyPr>
          <a:lstStyle/>
          <a:p>
            <a:r>
              <a:rPr kumimoji="0" lang="fr-FR" sz="3200" b="1" i="0" u="none" strike="noStrike" kern="1200" cap="none" spc="0" normalizeH="0" baseline="0" noProof="0" dirty="0">
                <a:ln>
                  <a:noFill/>
                </a:ln>
                <a:solidFill>
                  <a:srgbClr val="FF0000"/>
                </a:solidFill>
                <a:effectLst/>
                <a:uLnTx/>
                <a:uFillTx/>
                <a:latin typeface="Courier New" panose="02070309020205020404" pitchFamily="49" charset="0"/>
                <a:ea typeface="Times New Roman" panose="02020603050405020304" pitchFamily="18" charset="0"/>
                <a:cs typeface="+mn-cs"/>
              </a:rPr>
              <a:t>final</a:t>
            </a:r>
            <a:endParaRPr lang="en-US" dirty="0">
              <a:solidFill>
                <a:srgbClr val="FF0000"/>
              </a:solidFill>
            </a:endParaRPr>
          </a:p>
        </p:txBody>
      </p:sp>
    </p:spTree>
    <p:extLst>
      <p:ext uri="{BB962C8B-B14F-4D97-AF65-F5344CB8AC3E}">
        <p14:creationId xmlns:p14="http://schemas.microsoft.com/office/powerpoint/2010/main" val="200320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 calcmode="lin" valueType="num">
                                      <p:cBhvr>
                                        <p:cTn id="9" dur="500" fill="hold"/>
                                        <p:tgtEl>
                                          <p:spTgt spid="7"/>
                                        </p:tgtEl>
                                        <p:attrNameLst>
                                          <p:attrName>style.rotation</p:attrName>
                                        </p:attrNameLst>
                                      </p:cBhvr>
                                      <p:tavLst>
                                        <p:tav tm="0">
                                          <p:val>
                                            <p:fltVal val="90"/>
                                          </p:val>
                                        </p:tav>
                                        <p:tav tm="100000">
                                          <p:val>
                                            <p:fltVal val="0"/>
                                          </p:val>
                                        </p:tav>
                                      </p:tavLst>
                                    </p:anim>
                                    <p:animEffect transition="in" filter="fade">
                                      <p:cBhvr>
                                        <p:cTn id="10" dur="500"/>
                                        <p:tgtEl>
                                          <p:spTgt spid="7"/>
                                        </p:tgtEl>
                                      </p:cBhvr>
                                    </p:animEffec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5734050" y="423208"/>
            <a:ext cx="3162300" cy="1828800"/>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152400" y="423208"/>
            <a:ext cx="8991600" cy="4072592"/>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p>
          <a:p>
            <a:pPr marL="0" marR="0" algn="l">
              <a:spcBef>
                <a:spcPts val="0"/>
              </a:spcBef>
              <a:spcAft>
                <a:spcPts val="0"/>
              </a:spcAft>
            </a:pPr>
            <a:endParaRPr lang="en-US" sz="3200" b="1" dirty="0">
              <a:latin typeface="Courier New" panose="02070309020205020404" pitchFamily="49"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class Wild implements A {</a:t>
            </a:r>
          </a:p>
          <a:p>
            <a:pPr marL="0" marR="0" algn="l">
              <a:spcBef>
                <a:spcPts val="0"/>
              </a:spcBef>
              <a:spcAft>
                <a:spcPts val="0"/>
              </a:spcAft>
            </a:pPr>
            <a:r>
              <a:rPr lang="en-US" sz="3200" b="1" dirty="0">
                <a:latin typeface="Courier New" panose="02070309020205020404" pitchFamily="49" charset="0"/>
                <a:ea typeface="Times New Roman" panose="02020603050405020304" pitchFamily="18" charset="0"/>
              </a:rPr>
              <a:t>   int </a:t>
            </a:r>
            <a:r>
              <a:rPr lang="en-US" sz="3200" b="1" dirty="0" err="1">
                <a:latin typeface="Courier New" panose="02070309020205020404" pitchFamily="49" charset="0"/>
                <a:ea typeface="Times New Roman" panose="02020603050405020304" pitchFamily="18" charset="0"/>
              </a:rPr>
              <a:t>calcAnswer</a:t>
            </a:r>
            <a:r>
              <a:rPr lang="en-US" sz="3200" b="1" dirty="0">
                <a:latin typeface="Courier New" panose="02070309020205020404" pitchFamily="49" charset="0"/>
                <a:ea typeface="Times New Roman" panose="02020603050405020304" pitchFamily="18" charset="0"/>
              </a:rPr>
              <a:t>() { </a:t>
            </a:r>
            <a:r>
              <a:rPr lang="en-US" sz="3200" b="1" i="1" dirty="0">
                <a:latin typeface="Courier New" panose="02070309020205020404" pitchFamily="49" charset="0"/>
                <a:ea typeface="Times New Roman" panose="02020603050405020304" pitchFamily="18" charset="0"/>
              </a:rPr>
              <a:t>code </a:t>
            </a:r>
            <a:r>
              <a:rPr lang="en-US" sz="3200" b="1" dirty="0">
                <a:latin typeface="Courier New" panose="02070309020205020404" pitchFamily="49" charset="0"/>
                <a:ea typeface="Times New Roman" panose="02020603050405020304" pitchFamily="18" charset="0"/>
              </a:rPr>
              <a:t>}</a:t>
            </a: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public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 </a:t>
            </a:r>
            <a:r>
              <a:rPr lang="en-US" sz="3200" b="1" i="1" dirty="0">
                <a:effectLst/>
                <a:latin typeface="Courier New" panose="02070309020205020404" pitchFamily="49" charset="0"/>
                <a:ea typeface="Times New Roman" panose="02020603050405020304" pitchFamily="18" charset="0"/>
              </a:rPr>
              <a:t>code</a:t>
            </a:r>
            <a:r>
              <a:rPr lang="en-US" sz="3200" b="1" dirty="0">
                <a:effectLst/>
                <a:latin typeface="Courier New" panose="02070309020205020404" pitchFamily="49" charset="0"/>
                <a:ea typeface="Times New Roman" panose="02020603050405020304" pitchFamily="18" charset="0"/>
              </a:rPr>
              <a:t> }</a:t>
            </a:r>
          </a:p>
          <a:p>
            <a:pPr marL="0" marR="0" algn="l">
              <a:spcBef>
                <a:spcPts val="0"/>
              </a:spcBef>
              <a:spcAft>
                <a:spcPts val="0"/>
              </a:spcAft>
            </a:pPr>
            <a:r>
              <a:rPr lang="en-US" sz="3200" b="1" dirty="0">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762000" y="4614208"/>
            <a:ext cx="8026400" cy="1938992"/>
          </a:xfrm>
          <a:prstGeom prst="rect">
            <a:avLst/>
          </a:prstGeom>
          <a:noFill/>
        </p:spPr>
        <p:txBody>
          <a:bodyPr wrap="square">
            <a:spAutoFit/>
          </a:bodyPr>
          <a:lstStyle/>
          <a:p>
            <a:r>
              <a:rPr lang="en-US" sz="4000" dirty="0">
                <a:solidFill>
                  <a:schemeClr val="accent2">
                    <a:lumMod val="75000"/>
                  </a:schemeClr>
                </a:solidFill>
              </a:rPr>
              <a:t>What is the access level of the </a:t>
            </a:r>
            <a:r>
              <a:rPr lang="en-US" sz="4000" dirty="0" err="1">
                <a:solidFill>
                  <a:schemeClr val="accent2">
                    <a:lumMod val="75000"/>
                  </a:schemeClr>
                </a:solidFill>
              </a:rPr>
              <a:t>calcAnswer</a:t>
            </a:r>
            <a:r>
              <a:rPr lang="en-US" sz="4000" dirty="0">
                <a:solidFill>
                  <a:schemeClr val="accent2">
                    <a:lumMod val="75000"/>
                  </a:schemeClr>
                </a:solidFill>
              </a:rPr>
              <a:t> method in the interface? And in the class?</a:t>
            </a:r>
          </a:p>
        </p:txBody>
      </p:sp>
    </p:spTree>
    <p:extLst>
      <p:ext uri="{BB962C8B-B14F-4D97-AF65-F5344CB8AC3E}">
        <p14:creationId xmlns:p14="http://schemas.microsoft.com/office/powerpoint/2010/main" val="3660603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5734050" y="423208"/>
            <a:ext cx="3162300" cy="1828800"/>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152400" y="423208"/>
            <a:ext cx="8991600" cy="4072592"/>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p>
          <a:p>
            <a:pPr marL="0" marR="0" algn="l">
              <a:spcBef>
                <a:spcPts val="0"/>
              </a:spcBef>
              <a:spcAft>
                <a:spcPts val="0"/>
              </a:spcAft>
            </a:pPr>
            <a:endParaRPr lang="en-US" sz="3200" b="1" dirty="0">
              <a:latin typeface="Courier New" panose="02070309020205020404" pitchFamily="49"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class Wild implements A {</a:t>
            </a:r>
          </a:p>
          <a:p>
            <a:pPr marL="0" marR="0" algn="l">
              <a:spcBef>
                <a:spcPts val="0"/>
              </a:spcBef>
              <a:spcAft>
                <a:spcPts val="0"/>
              </a:spcAft>
            </a:pPr>
            <a:r>
              <a:rPr lang="en-US" sz="3200" b="1" dirty="0">
                <a:latin typeface="Courier New" panose="02070309020205020404" pitchFamily="49" charset="0"/>
                <a:ea typeface="Times New Roman" panose="02020603050405020304" pitchFamily="18" charset="0"/>
              </a:rPr>
              <a:t>   int </a:t>
            </a:r>
            <a:r>
              <a:rPr lang="en-US" sz="3200" b="1" dirty="0" err="1">
                <a:latin typeface="Courier New" panose="02070309020205020404" pitchFamily="49" charset="0"/>
                <a:ea typeface="Times New Roman" panose="02020603050405020304" pitchFamily="18" charset="0"/>
              </a:rPr>
              <a:t>calcAnswer</a:t>
            </a:r>
            <a:r>
              <a:rPr lang="en-US" sz="3200" b="1" dirty="0">
                <a:latin typeface="Courier New" panose="02070309020205020404" pitchFamily="49" charset="0"/>
                <a:ea typeface="Times New Roman" panose="02020603050405020304" pitchFamily="18" charset="0"/>
              </a:rPr>
              <a:t>() { </a:t>
            </a:r>
            <a:r>
              <a:rPr lang="en-US" sz="3200" b="1" i="1" dirty="0">
                <a:latin typeface="Courier New" panose="02070309020205020404" pitchFamily="49" charset="0"/>
                <a:ea typeface="Times New Roman" panose="02020603050405020304" pitchFamily="18" charset="0"/>
              </a:rPr>
              <a:t>code </a:t>
            </a:r>
            <a:r>
              <a:rPr lang="en-US" sz="3200" b="1" dirty="0">
                <a:latin typeface="Courier New" panose="02070309020205020404" pitchFamily="49" charset="0"/>
                <a:ea typeface="Times New Roman" panose="02020603050405020304" pitchFamily="18" charset="0"/>
              </a:rPr>
              <a:t>}</a:t>
            </a: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public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 </a:t>
            </a:r>
            <a:r>
              <a:rPr lang="en-US" sz="3200" b="1" i="1" dirty="0">
                <a:effectLst/>
                <a:latin typeface="Courier New" panose="02070309020205020404" pitchFamily="49" charset="0"/>
                <a:ea typeface="Times New Roman" panose="02020603050405020304" pitchFamily="18" charset="0"/>
              </a:rPr>
              <a:t>code</a:t>
            </a:r>
            <a:r>
              <a:rPr lang="en-US" sz="3200" b="1" dirty="0">
                <a:effectLst/>
                <a:latin typeface="Courier New" panose="02070309020205020404" pitchFamily="49" charset="0"/>
                <a:ea typeface="Times New Roman" panose="02020603050405020304" pitchFamily="18" charset="0"/>
              </a:rPr>
              <a:t> }</a:t>
            </a:r>
          </a:p>
          <a:p>
            <a:pPr marL="0" marR="0" algn="l">
              <a:spcBef>
                <a:spcPts val="0"/>
              </a:spcBef>
              <a:spcAft>
                <a:spcPts val="0"/>
              </a:spcAft>
            </a:pPr>
            <a:r>
              <a:rPr lang="en-US" sz="3200" b="1" dirty="0">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762000" y="4776768"/>
            <a:ext cx="8382000" cy="1323439"/>
          </a:xfrm>
          <a:prstGeom prst="rect">
            <a:avLst/>
          </a:prstGeom>
          <a:noFill/>
        </p:spPr>
        <p:txBody>
          <a:bodyPr wrap="square">
            <a:spAutoFit/>
          </a:bodyPr>
          <a:lstStyle/>
          <a:p>
            <a:r>
              <a:rPr lang="en-US" sz="4000" dirty="0">
                <a:solidFill>
                  <a:srgbClr val="C00000"/>
                </a:solidFill>
              </a:rPr>
              <a:t>Invalid – the class can’t make the access level more restrictive.</a:t>
            </a:r>
          </a:p>
        </p:txBody>
      </p:sp>
    </p:spTree>
    <p:extLst>
      <p:ext uri="{BB962C8B-B14F-4D97-AF65-F5344CB8AC3E}">
        <p14:creationId xmlns:p14="http://schemas.microsoft.com/office/powerpoint/2010/main" val="1171987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1EA1-09D6-71C4-7140-C9F024608BCA}"/>
              </a:ext>
            </a:extLst>
          </p:cNvPr>
          <p:cNvSpPr>
            <a:spLocks noGrp="1"/>
          </p:cNvSpPr>
          <p:nvPr>
            <p:ph type="ctrTitle"/>
          </p:nvPr>
        </p:nvSpPr>
        <p:spPr>
          <a:xfrm>
            <a:off x="5734050" y="423208"/>
            <a:ext cx="3162300" cy="1828800"/>
          </a:xfrm>
        </p:spPr>
        <p:txBody>
          <a:bodyPr/>
          <a:lstStyle/>
          <a:p>
            <a:r>
              <a:rPr lang="en-US" dirty="0">
                <a:solidFill>
                  <a:srgbClr val="008000"/>
                </a:solidFill>
              </a:rPr>
              <a:t>Valid</a:t>
            </a:r>
            <a:r>
              <a:rPr lang="en-US" dirty="0"/>
              <a:t> or </a:t>
            </a:r>
            <a:r>
              <a:rPr lang="en-US" dirty="0">
                <a:solidFill>
                  <a:srgbClr val="C00000"/>
                </a:solidFill>
              </a:rPr>
              <a:t>Invalid</a:t>
            </a:r>
            <a:r>
              <a:rPr lang="en-US" dirty="0"/>
              <a:t>?</a:t>
            </a:r>
          </a:p>
        </p:txBody>
      </p:sp>
      <p:sp>
        <p:nvSpPr>
          <p:cNvPr id="3" name="Subtitle 2">
            <a:extLst>
              <a:ext uri="{FF2B5EF4-FFF2-40B4-BE49-F238E27FC236}">
                <a16:creationId xmlns:a16="http://schemas.microsoft.com/office/drawing/2014/main" id="{633AAA4C-6A59-F701-99BF-AC021892A1DF}"/>
              </a:ext>
            </a:extLst>
          </p:cNvPr>
          <p:cNvSpPr>
            <a:spLocks noGrp="1"/>
          </p:cNvSpPr>
          <p:nvPr>
            <p:ph type="subTitle" idx="1"/>
          </p:nvPr>
        </p:nvSpPr>
        <p:spPr>
          <a:xfrm>
            <a:off x="152400" y="423208"/>
            <a:ext cx="8991600" cy="4072592"/>
          </a:xfrm>
        </p:spPr>
        <p:txBody>
          <a:bodyPr/>
          <a:lstStyle/>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public interface A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int</a:t>
            </a:r>
            <a:r>
              <a:rPr lang="fr-FR" sz="3200" b="1" dirty="0">
                <a:effectLst/>
                <a:latin typeface="Courier New" panose="02070309020205020404" pitchFamily="49" charset="0"/>
                <a:ea typeface="Times New Roman" panose="02020603050405020304" pitchFamily="18" charset="0"/>
              </a:rPr>
              <a:t> </a:t>
            </a:r>
            <a:r>
              <a:rPr lang="fr-FR" sz="3200" b="1" dirty="0" err="1">
                <a:effectLst/>
                <a:latin typeface="Courier New" panose="02070309020205020404" pitchFamily="49" charset="0"/>
                <a:ea typeface="Times New Roman" panose="02020603050405020304" pitchFamily="18" charset="0"/>
              </a:rPr>
              <a:t>calcAnswer</a:t>
            </a:r>
            <a:r>
              <a:rPr lang="fr-FR" sz="3200" b="1" dirty="0">
                <a:effectLst/>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a:t>
            </a:r>
            <a:endParaRPr lang="en-US" sz="3200" b="1" dirty="0">
              <a:effectLst/>
              <a:latin typeface="Times New Roman" panose="02020603050405020304" pitchFamily="18"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a:t>
            </a:r>
          </a:p>
          <a:p>
            <a:pPr marL="0" marR="0" algn="l">
              <a:spcBef>
                <a:spcPts val="0"/>
              </a:spcBef>
              <a:spcAft>
                <a:spcPts val="0"/>
              </a:spcAft>
            </a:pPr>
            <a:endParaRPr lang="en-US" sz="3200" b="1" dirty="0">
              <a:latin typeface="Courier New" panose="02070309020205020404" pitchFamily="49" charset="0"/>
              <a:ea typeface="Times New Roman" panose="02020603050405020304" pitchFamily="18" charset="0"/>
            </a:endParaRP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class Wild implements A {</a:t>
            </a:r>
          </a:p>
          <a:p>
            <a:pPr marL="0" marR="0" algn="l">
              <a:spcBef>
                <a:spcPts val="0"/>
              </a:spcBef>
              <a:spcAft>
                <a:spcPts val="0"/>
              </a:spcAft>
            </a:pPr>
            <a:r>
              <a:rPr lang="en-US" sz="3200" b="1" dirty="0">
                <a:latin typeface="Courier New" panose="02070309020205020404" pitchFamily="49" charset="0"/>
                <a:ea typeface="Times New Roman" panose="02020603050405020304" pitchFamily="18" charset="0"/>
              </a:rPr>
              <a:t>   public int calc() { </a:t>
            </a:r>
            <a:r>
              <a:rPr lang="en-US" sz="3200" b="1" i="1" dirty="0">
                <a:latin typeface="Courier New" panose="02070309020205020404" pitchFamily="49" charset="0"/>
                <a:ea typeface="Times New Roman" panose="02020603050405020304" pitchFamily="18" charset="0"/>
              </a:rPr>
              <a:t>code </a:t>
            </a:r>
            <a:r>
              <a:rPr lang="en-US" sz="3200" b="1" dirty="0">
                <a:latin typeface="Courier New" panose="02070309020205020404" pitchFamily="49" charset="0"/>
                <a:ea typeface="Times New Roman" panose="02020603050405020304" pitchFamily="18" charset="0"/>
              </a:rPr>
              <a:t>}</a:t>
            </a:r>
          </a:p>
          <a:p>
            <a:pPr marL="0" marR="0" algn="l">
              <a:spcBef>
                <a:spcPts val="0"/>
              </a:spcBef>
              <a:spcAft>
                <a:spcPts val="0"/>
              </a:spcAft>
            </a:pPr>
            <a:r>
              <a:rPr lang="en-US" sz="3200" b="1" dirty="0">
                <a:effectLst/>
                <a:latin typeface="Courier New" panose="02070309020205020404" pitchFamily="49" charset="0"/>
                <a:ea typeface="Times New Roman" panose="02020603050405020304" pitchFamily="18" charset="0"/>
              </a:rPr>
              <a:t>   public </a:t>
            </a:r>
            <a:r>
              <a:rPr lang="en-US" sz="3200" b="1" dirty="0" err="1">
                <a:effectLst/>
                <a:latin typeface="Courier New" panose="02070309020205020404" pitchFamily="49" charset="0"/>
                <a:ea typeface="Times New Roman" panose="02020603050405020304" pitchFamily="18" charset="0"/>
              </a:rPr>
              <a:t>boolean</a:t>
            </a:r>
            <a:r>
              <a:rPr lang="en-US" sz="3200" b="1" dirty="0">
                <a:effectLst/>
                <a:latin typeface="Courier New" panose="02070309020205020404" pitchFamily="49" charset="0"/>
                <a:ea typeface="Times New Roman" panose="02020603050405020304" pitchFamily="18" charset="0"/>
              </a:rPr>
              <a:t> </a:t>
            </a:r>
            <a:r>
              <a:rPr lang="en-US" sz="3200" b="1" dirty="0" err="1">
                <a:effectLst/>
                <a:latin typeface="Courier New" panose="02070309020205020404" pitchFamily="49" charset="0"/>
                <a:ea typeface="Times New Roman" panose="02020603050405020304" pitchFamily="18" charset="0"/>
              </a:rPr>
              <a:t>isWise</a:t>
            </a:r>
            <a:r>
              <a:rPr lang="en-US" sz="3200" b="1" dirty="0">
                <a:effectLst/>
                <a:latin typeface="Courier New" panose="02070309020205020404" pitchFamily="49" charset="0"/>
                <a:ea typeface="Times New Roman" panose="02020603050405020304" pitchFamily="18" charset="0"/>
              </a:rPr>
              <a:t>() { </a:t>
            </a:r>
            <a:r>
              <a:rPr lang="en-US" sz="3200" b="1" i="1" dirty="0">
                <a:effectLst/>
                <a:latin typeface="Courier New" panose="02070309020205020404" pitchFamily="49" charset="0"/>
                <a:ea typeface="Times New Roman" panose="02020603050405020304" pitchFamily="18" charset="0"/>
              </a:rPr>
              <a:t>code</a:t>
            </a:r>
            <a:r>
              <a:rPr lang="en-US" sz="3200" b="1" dirty="0">
                <a:effectLst/>
                <a:latin typeface="Courier New" panose="02070309020205020404" pitchFamily="49" charset="0"/>
                <a:ea typeface="Times New Roman" panose="02020603050405020304" pitchFamily="18" charset="0"/>
              </a:rPr>
              <a:t> }</a:t>
            </a:r>
          </a:p>
          <a:p>
            <a:pPr marL="0" marR="0" algn="l">
              <a:spcBef>
                <a:spcPts val="0"/>
              </a:spcBef>
              <a:spcAft>
                <a:spcPts val="0"/>
              </a:spcAft>
            </a:pPr>
            <a:r>
              <a:rPr lang="en-US" sz="3200" b="1" dirty="0">
                <a:latin typeface="Courier New" panose="02070309020205020404" pitchFamily="49"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B969C385-2491-A4BB-452D-7E71F31EFC69}"/>
              </a:ext>
            </a:extLst>
          </p:cNvPr>
          <p:cNvSpPr txBox="1"/>
          <p:nvPr/>
        </p:nvSpPr>
        <p:spPr>
          <a:xfrm>
            <a:off x="228600" y="4876800"/>
            <a:ext cx="8763000" cy="1323439"/>
          </a:xfrm>
          <a:prstGeom prst="rect">
            <a:avLst/>
          </a:prstGeom>
          <a:noFill/>
        </p:spPr>
        <p:txBody>
          <a:bodyPr wrap="square">
            <a:spAutoFit/>
          </a:bodyPr>
          <a:lstStyle/>
          <a:p>
            <a:pPr algn="ctr"/>
            <a:r>
              <a:rPr lang="en-US" sz="4000" dirty="0">
                <a:solidFill>
                  <a:srgbClr val="C00000"/>
                </a:solidFill>
              </a:rPr>
              <a:t>Invalid – the class failed to implement the </a:t>
            </a:r>
            <a:r>
              <a:rPr lang="en-US" sz="4000" b="1" dirty="0" err="1">
                <a:solidFill>
                  <a:srgbClr val="C00000"/>
                </a:solidFill>
              </a:rPr>
              <a:t>calcAnswer</a:t>
            </a:r>
            <a:r>
              <a:rPr lang="en-US" sz="4000" dirty="0">
                <a:solidFill>
                  <a:srgbClr val="C00000"/>
                </a:solidFill>
              </a:rPr>
              <a:t> method</a:t>
            </a:r>
          </a:p>
        </p:txBody>
      </p:sp>
      <p:sp>
        <p:nvSpPr>
          <p:cNvPr id="8" name="TextBox 7">
            <a:extLst>
              <a:ext uri="{FF2B5EF4-FFF2-40B4-BE49-F238E27FC236}">
                <a16:creationId xmlns:a16="http://schemas.microsoft.com/office/drawing/2014/main" id="{873AB964-17B4-32E7-8349-F3C3917602DE}"/>
              </a:ext>
            </a:extLst>
          </p:cNvPr>
          <p:cNvSpPr txBox="1"/>
          <p:nvPr/>
        </p:nvSpPr>
        <p:spPr>
          <a:xfrm>
            <a:off x="3576320" y="3342640"/>
            <a:ext cx="1704340" cy="584775"/>
          </a:xfrm>
          <a:prstGeom prst="rect">
            <a:avLst/>
          </a:prstGeom>
          <a:noFill/>
        </p:spPr>
        <p:txBody>
          <a:bodyPr wrap="square">
            <a:spAutoFit/>
          </a:bodyPr>
          <a:lstStyle/>
          <a:p>
            <a:r>
              <a:rPr kumimoji="0" lang="en-US" sz="3200" b="1" i="0" u="none" strike="noStrike" kern="1200" cap="none" spc="0" normalizeH="0" baseline="0" noProof="0" dirty="0">
                <a:ln>
                  <a:noFill/>
                </a:ln>
                <a:solidFill>
                  <a:srgbClr val="CC0000"/>
                </a:solidFill>
                <a:effectLst/>
                <a:uLnTx/>
                <a:uFillTx/>
                <a:latin typeface="Courier New" panose="02070309020205020404" pitchFamily="49" charset="0"/>
                <a:ea typeface="Times New Roman" panose="02020603050405020304" pitchFamily="18" charset="0"/>
                <a:cs typeface="+mn-cs"/>
              </a:rPr>
              <a:t>calc() </a:t>
            </a:r>
            <a:endParaRPr lang="en-US" dirty="0">
              <a:solidFill>
                <a:srgbClr val="CC0000"/>
              </a:solidFill>
            </a:endParaRPr>
          </a:p>
        </p:txBody>
      </p:sp>
    </p:spTree>
    <p:extLst>
      <p:ext uri="{BB962C8B-B14F-4D97-AF65-F5344CB8AC3E}">
        <p14:creationId xmlns:p14="http://schemas.microsoft.com/office/powerpoint/2010/main" val="2419420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1375</TotalTime>
  <Words>5575</Words>
  <Application>Microsoft Office PowerPoint</Application>
  <PresentationFormat>On-screen Show (4:3)</PresentationFormat>
  <Paragraphs>853</Paragraphs>
  <Slides>72</Slides>
  <Notes>58</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72</vt:i4>
      </vt:variant>
    </vt:vector>
  </HeadingPairs>
  <TitlesOfParts>
    <vt:vector size="85" baseType="lpstr">
      <vt:lpstr>Abadi</vt:lpstr>
      <vt:lpstr>Arial</vt:lpstr>
      <vt:lpstr>Arial Black</vt:lpstr>
      <vt:lpstr>Arial Unicode MS</vt:lpstr>
      <vt:lpstr>Consolas</vt:lpstr>
      <vt:lpstr>Courier New</vt:lpstr>
      <vt:lpstr>DejaVu Serif</vt:lpstr>
      <vt:lpstr>Helvetica</vt:lpstr>
      <vt:lpstr>Impact</vt:lpstr>
      <vt:lpstr>Inter</vt:lpstr>
      <vt:lpstr>Tahoma</vt:lpstr>
      <vt:lpstr>Times New Roman</vt:lpstr>
      <vt:lpstr>Default Design</vt:lpstr>
      <vt:lpstr>PowerPoint Presentation</vt:lpstr>
      <vt:lpstr>interface</vt:lpstr>
      <vt:lpstr>A Java Interface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Visibility Levels</vt:lpstr>
      <vt:lpstr>PowerPoint Presentation</vt:lpstr>
      <vt:lpstr>PowerPoint Presentation</vt:lpstr>
      <vt:lpstr>Variable defaults in a class</vt:lpstr>
      <vt:lpstr>Method defaults in a class</vt:lpstr>
      <vt:lpstr>Defaults in a class</vt:lpstr>
      <vt:lpstr>Defaults in an Interface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Valid or Invalid?</vt:lpstr>
      <vt:lpstr>Valid or Invalid?</vt:lpstr>
      <vt:lpstr>Valid or Invalid?</vt:lpstr>
      <vt:lpstr>Valid or Invalid?</vt:lpstr>
      <vt:lpstr>Valid or Invalid?</vt:lpstr>
      <vt:lpstr>Valid or Invalid?</vt:lpstr>
      <vt:lpstr>Valid or Invalid?</vt:lpstr>
      <vt:lpstr>Valid or Invalid?</vt:lpstr>
      <vt:lpstr>Valid or Invalid?</vt:lpstr>
      <vt:lpstr>Valid or Invalid?</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Interfaces</dc:title>
  <dc:subject>Interfaces</dc:subject>
  <dc:creator>A+ Computer Science</dc:creator>
  <cp:keywords>www.apluscompsci.com</cp:keywords>
  <dc:description>Interfaces_x000d_
©A+ Computer Science_x000d_
www.apluscompsci.com</dc:description>
  <cp:lastModifiedBy>Weldon Jasik</cp:lastModifiedBy>
  <cp:revision>271</cp:revision>
  <dcterms:created xsi:type="dcterms:W3CDTF">2002-06-22T16:18:29Z</dcterms:created>
  <dcterms:modified xsi:type="dcterms:W3CDTF">2025-09-25T12:56:13Z</dcterms:modified>
  <cp:category>www.apluscompsci.com</cp:category>
</cp:coreProperties>
</file>